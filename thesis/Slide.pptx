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bin" panose="020B0604020202020204" charset="-93"/>
      <p:regular r:id="rId19"/>
    </p:embeddedFont>
    <p:embeddedFont>
      <p:font typeface="Cabin Bold" panose="020B0604020202020204" charset="-93"/>
      <p:regular r:id="rId20"/>
    </p:embeddedFont>
    <p:embeddedFont>
      <p:font typeface="Muli Bold" panose="020B0604020202020204" charset="-93"/>
      <p:regular r:id="rId21"/>
    </p:embeddedFont>
    <p:embeddedFont>
      <p:font typeface="Muli Ultra-Bold" panose="020B0604020202020204" charset="-9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9" d="100"/>
          <a:sy n="69" d="100"/>
        </p:scale>
        <p:origin x="834"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D3153-8E35-4C91-8EE5-36CE7B581B60}" type="datetimeFigureOut">
              <a:rPr lang="en-US" smtClean="0"/>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CF78E-49A2-4F57-A466-0FBFF4DA2C4C}" type="slidenum">
              <a:rPr lang="en-US" smtClean="0"/>
              <a:t>‹#›</a:t>
            </a:fld>
            <a:endParaRPr lang="en-US"/>
          </a:p>
        </p:txBody>
      </p:sp>
    </p:spTree>
    <p:extLst>
      <p:ext uri="{BB962C8B-B14F-4D97-AF65-F5344CB8AC3E}">
        <p14:creationId xmlns:p14="http://schemas.microsoft.com/office/powerpoint/2010/main" val="370248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a:t>
            </a:fld>
            <a:endParaRPr lang="en-US"/>
          </a:p>
        </p:txBody>
      </p:sp>
    </p:spTree>
    <p:extLst>
      <p:ext uri="{BB962C8B-B14F-4D97-AF65-F5344CB8AC3E}">
        <p14:creationId xmlns:p14="http://schemas.microsoft.com/office/powerpoint/2010/main" val="1825711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Đầu</a:t>
            </a:r>
            <a:r>
              <a:rPr lang="en-US" dirty="0"/>
              <a:t> </a:t>
            </a:r>
            <a:r>
              <a:rPr lang="en-US" dirty="0" err="1"/>
              <a:t>tiên</a:t>
            </a:r>
            <a:r>
              <a:rPr lang="en-US" dirty="0"/>
              <a:t> </a:t>
            </a:r>
            <a:r>
              <a:rPr lang="en-US" dirty="0" err="1"/>
              <a:t>là</a:t>
            </a:r>
            <a:r>
              <a:rPr lang="en-US" dirty="0"/>
              <a:t> </a:t>
            </a:r>
            <a:r>
              <a:rPr lang="en-US" b="1" dirty="0" err="1"/>
              <a:t>lý</a:t>
            </a:r>
            <a:r>
              <a:rPr lang="en-US" b="1" dirty="0"/>
              <a:t> do </a:t>
            </a:r>
            <a:r>
              <a:rPr lang="en-US" b="1" dirty="0" err="1"/>
              <a:t>em</a:t>
            </a:r>
            <a:r>
              <a:rPr lang="en-US" b="1" dirty="0"/>
              <a:t> </a:t>
            </a:r>
            <a:r>
              <a:rPr lang="en-US" b="1" dirty="0" err="1"/>
              <a:t>chọn</a:t>
            </a:r>
            <a:r>
              <a:rPr lang="en-US" b="1" dirty="0"/>
              <a:t> </a:t>
            </a:r>
            <a:r>
              <a:rPr lang="en-US" b="1" dirty="0" err="1"/>
              <a:t>đề</a:t>
            </a:r>
            <a:r>
              <a:rPr lang="en-US" b="1" dirty="0"/>
              <a:t> </a:t>
            </a:r>
            <a:r>
              <a:rPr lang="en-US" b="1" dirty="0" err="1"/>
              <a:t>tài</a:t>
            </a:r>
            <a:r>
              <a:rPr lang="en-US" dirty="0"/>
              <a:t>.</a:t>
            </a:r>
          </a:p>
          <a:p>
            <a:r>
              <a:rPr lang="en-US" dirty="0"/>
              <a:t>Trong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đồ</a:t>
            </a:r>
            <a:r>
              <a:rPr lang="en-US" dirty="0"/>
              <a:t> </a:t>
            </a:r>
            <a:r>
              <a:rPr lang="en-US" dirty="0" err="1"/>
              <a:t>án</a:t>
            </a:r>
            <a:r>
              <a:rPr lang="en-US" dirty="0"/>
              <a:t>, </a:t>
            </a:r>
            <a:r>
              <a:rPr lang="en-US" dirty="0" err="1"/>
              <a:t>có</a:t>
            </a:r>
            <a:r>
              <a:rPr lang="en-US" dirty="0"/>
              <a:t> </a:t>
            </a:r>
            <a:r>
              <a:rPr lang="en-US" dirty="0" err="1"/>
              <a:t>rất</a:t>
            </a:r>
            <a:r>
              <a:rPr lang="en-US" dirty="0"/>
              <a:t> </a:t>
            </a:r>
            <a:r>
              <a:rPr lang="en-US" dirty="0" err="1"/>
              <a:t>nhiều</a:t>
            </a:r>
            <a:r>
              <a:rPr lang="en-US" dirty="0"/>
              <a:t> </a:t>
            </a:r>
            <a:r>
              <a:rPr lang="en-US" dirty="0" err="1"/>
              <a:t>công</a:t>
            </a:r>
            <a:r>
              <a:rPr lang="en-US" dirty="0"/>
              <a:t> </a:t>
            </a:r>
            <a:r>
              <a:rPr lang="en-US" dirty="0" err="1"/>
              <a:t>việc</a:t>
            </a:r>
            <a:r>
              <a:rPr lang="en-US" dirty="0"/>
              <a:t> </a:t>
            </a:r>
            <a:r>
              <a:rPr lang="en-US" dirty="0" err="1"/>
              <a:t>cần</a:t>
            </a:r>
            <a:r>
              <a:rPr lang="en-US" dirty="0"/>
              <a:t> </a:t>
            </a:r>
            <a:r>
              <a:rPr lang="en-US" dirty="0" err="1"/>
              <a:t>quản</a:t>
            </a:r>
            <a:r>
              <a:rPr lang="en-US" dirty="0"/>
              <a:t> </a:t>
            </a:r>
            <a:r>
              <a:rPr lang="en-US" dirty="0" err="1"/>
              <a:t>lý</a:t>
            </a:r>
            <a:r>
              <a:rPr lang="en-US" dirty="0"/>
              <a:t> </a:t>
            </a:r>
            <a:r>
              <a:rPr lang="en-US" dirty="0" err="1"/>
              <a:t>như</a:t>
            </a:r>
            <a:r>
              <a:rPr lang="en-US" dirty="0"/>
              <a:t> </a:t>
            </a:r>
            <a:r>
              <a:rPr lang="en-US" dirty="0" err="1"/>
              <a:t>đăng</a:t>
            </a:r>
            <a:r>
              <a:rPr lang="en-US" dirty="0"/>
              <a:t> </a:t>
            </a:r>
            <a:r>
              <a:rPr lang="en-US" dirty="0" err="1"/>
              <a:t>ký</a:t>
            </a:r>
            <a:r>
              <a:rPr lang="en-US" dirty="0"/>
              <a:t> </a:t>
            </a:r>
            <a:r>
              <a:rPr lang="en-US" dirty="0" err="1"/>
              <a:t>đề</a:t>
            </a:r>
            <a:r>
              <a:rPr lang="en-US" dirty="0"/>
              <a:t> </a:t>
            </a:r>
            <a:r>
              <a:rPr lang="en-US" dirty="0" err="1"/>
              <a:t>tài</a:t>
            </a:r>
            <a:r>
              <a:rPr lang="en-US" dirty="0"/>
              <a:t>, </a:t>
            </a:r>
            <a:r>
              <a:rPr lang="en-US" dirty="0" err="1"/>
              <a:t>thành</a:t>
            </a:r>
            <a:r>
              <a:rPr lang="en-US" dirty="0"/>
              <a:t> </a:t>
            </a:r>
            <a:r>
              <a:rPr lang="en-US" dirty="0" err="1"/>
              <a:t>lập</a:t>
            </a:r>
            <a:r>
              <a:rPr lang="en-US" dirty="0"/>
              <a:t> </a:t>
            </a:r>
            <a:r>
              <a:rPr lang="en-US" dirty="0" err="1"/>
              <a:t>nhóm</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nộp</a:t>
            </a:r>
            <a:r>
              <a:rPr lang="en-US" dirty="0"/>
              <a:t> </a:t>
            </a:r>
            <a:r>
              <a:rPr lang="en-US" dirty="0" err="1"/>
              <a:t>báo</a:t>
            </a:r>
            <a:r>
              <a:rPr lang="en-US" dirty="0"/>
              <a:t> </a:t>
            </a:r>
            <a:r>
              <a:rPr lang="en-US" dirty="0" err="1"/>
              <a:t>cáo</a:t>
            </a:r>
            <a:r>
              <a:rPr lang="en-US" dirty="0"/>
              <a:t> </a:t>
            </a:r>
            <a:r>
              <a:rPr lang="en-US" dirty="0" err="1"/>
              <a:t>và</a:t>
            </a:r>
            <a:r>
              <a:rPr lang="en-US" dirty="0"/>
              <a:t> </a:t>
            </a:r>
            <a:r>
              <a:rPr lang="en-US" dirty="0" err="1"/>
              <a:t>nộp</a:t>
            </a:r>
            <a:r>
              <a:rPr lang="en-US" dirty="0"/>
              <a:t> </a:t>
            </a:r>
            <a:r>
              <a:rPr lang="en-US" dirty="0" err="1"/>
              <a:t>sản</a:t>
            </a:r>
            <a:r>
              <a:rPr lang="en-US" dirty="0"/>
              <a:t> </a:t>
            </a:r>
            <a:r>
              <a:rPr lang="en-US" dirty="0" err="1"/>
              <a:t>phẩm</a:t>
            </a:r>
            <a:r>
              <a:rPr lang="en-US" dirty="0"/>
              <a:t> </a:t>
            </a:r>
            <a:r>
              <a:rPr lang="en-US" dirty="0" err="1"/>
              <a:t>cuối</a:t>
            </a:r>
            <a:r>
              <a:rPr lang="en-US" dirty="0"/>
              <a:t> </a:t>
            </a:r>
            <a:r>
              <a:rPr lang="en-US" dirty="0" err="1"/>
              <a:t>kỳ</a:t>
            </a:r>
            <a:r>
              <a:rPr lang="en-US" dirty="0"/>
              <a:t>.</a:t>
            </a:r>
          </a:p>
          <a:p>
            <a:r>
              <a:rPr lang="en-US" dirty="0" err="1"/>
              <a:t>Nếu</a:t>
            </a:r>
            <a:r>
              <a:rPr lang="en-US" dirty="0"/>
              <a:t> </a:t>
            </a:r>
            <a:r>
              <a:rPr lang="en-US" dirty="0" err="1"/>
              <a:t>thực</a:t>
            </a:r>
            <a:r>
              <a:rPr lang="en-US" dirty="0"/>
              <a:t> </a:t>
            </a:r>
            <a:r>
              <a:rPr lang="en-US" dirty="0" err="1"/>
              <a:t>hiện</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bằng</a:t>
            </a:r>
            <a:r>
              <a:rPr lang="en-US" dirty="0"/>
              <a:t> </a:t>
            </a:r>
            <a:r>
              <a:rPr lang="en-US" dirty="0" err="1"/>
              <a:t>các</a:t>
            </a:r>
            <a:r>
              <a:rPr lang="en-US" dirty="0"/>
              <a:t> </a:t>
            </a:r>
            <a:r>
              <a:rPr lang="en-US" dirty="0" err="1"/>
              <a:t>phương</a:t>
            </a:r>
            <a:r>
              <a:rPr lang="en-US" dirty="0"/>
              <a:t> </a:t>
            </a:r>
            <a:r>
              <a:rPr lang="en-US" dirty="0" err="1"/>
              <a:t>pháp</a:t>
            </a:r>
            <a:r>
              <a:rPr lang="en-US" dirty="0"/>
              <a:t> </a:t>
            </a:r>
            <a:r>
              <a:rPr lang="en-US" dirty="0" err="1"/>
              <a:t>thủ</a:t>
            </a:r>
            <a:r>
              <a:rPr lang="en-US" dirty="0"/>
              <a:t> </a:t>
            </a:r>
            <a:r>
              <a:rPr lang="en-US" dirty="0" err="1"/>
              <a:t>công</a:t>
            </a:r>
            <a:r>
              <a:rPr lang="en-US" dirty="0"/>
              <a:t> </a:t>
            </a:r>
            <a:r>
              <a:rPr lang="en-US" dirty="0" err="1"/>
              <a:t>thì</a:t>
            </a:r>
            <a:r>
              <a:rPr lang="en-US" dirty="0"/>
              <a:t> </a:t>
            </a:r>
            <a:r>
              <a:rPr lang="en-US" dirty="0" err="1"/>
              <a:t>lượng</a:t>
            </a:r>
            <a:r>
              <a:rPr lang="en-US" dirty="0"/>
              <a:t> </a:t>
            </a:r>
            <a:r>
              <a:rPr lang="en-US" dirty="0" err="1"/>
              <a:t>thông</a:t>
            </a:r>
            <a:r>
              <a:rPr lang="en-US" dirty="0"/>
              <a:t> tin </a:t>
            </a:r>
            <a:r>
              <a:rPr lang="en-US" dirty="0" err="1"/>
              <a:t>sẽ</a:t>
            </a:r>
            <a:r>
              <a:rPr lang="en-US" dirty="0"/>
              <a:t> </a:t>
            </a:r>
            <a:r>
              <a:rPr lang="en-US" dirty="0" err="1"/>
              <a:t>khá</a:t>
            </a:r>
            <a:r>
              <a:rPr lang="en-US" dirty="0"/>
              <a:t> </a:t>
            </a:r>
            <a:r>
              <a:rPr lang="en-US" dirty="0" err="1"/>
              <a:t>nhiều</a:t>
            </a:r>
            <a:r>
              <a:rPr lang="en-US" dirty="0"/>
              <a:t>, </a:t>
            </a:r>
            <a:r>
              <a:rPr lang="en-US" dirty="0" err="1"/>
              <a:t>dễ</a:t>
            </a:r>
            <a:r>
              <a:rPr lang="en-US" dirty="0"/>
              <a:t> </a:t>
            </a:r>
            <a:r>
              <a:rPr lang="en-US" dirty="0" err="1"/>
              <a:t>xảy</a:t>
            </a:r>
            <a:r>
              <a:rPr lang="en-US" dirty="0"/>
              <a:t> </a:t>
            </a:r>
            <a:r>
              <a:rPr lang="en-US" dirty="0" err="1"/>
              <a:t>ra</a:t>
            </a:r>
            <a:r>
              <a:rPr lang="en-US" dirty="0"/>
              <a:t> </a:t>
            </a:r>
            <a:r>
              <a:rPr lang="en-US" dirty="0" err="1"/>
              <a:t>tình</a:t>
            </a:r>
            <a:r>
              <a:rPr lang="en-US" dirty="0"/>
              <a:t> </a:t>
            </a:r>
            <a:r>
              <a:rPr lang="en-US" dirty="0" err="1"/>
              <a:t>trạng</a:t>
            </a:r>
            <a:r>
              <a:rPr lang="en-US" dirty="0"/>
              <a:t> </a:t>
            </a:r>
            <a:r>
              <a:rPr lang="en-US" dirty="0" err="1"/>
              <a:t>khó</a:t>
            </a:r>
            <a:r>
              <a:rPr lang="en-US" dirty="0"/>
              <a:t> </a:t>
            </a:r>
            <a:r>
              <a:rPr lang="en-US" dirty="0" err="1"/>
              <a:t>theo</a:t>
            </a:r>
            <a:r>
              <a:rPr lang="en-US" dirty="0"/>
              <a:t> </a:t>
            </a:r>
            <a:r>
              <a:rPr lang="en-US" dirty="0" err="1"/>
              <a:t>dõi</a:t>
            </a:r>
            <a:r>
              <a:rPr lang="en-US" dirty="0"/>
              <a:t> </a:t>
            </a:r>
            <a:r>
              <a:rPr lang="en-US" dirty="0" err="1"/>
              <a:t>dữ</a:t>
            </a:r>
            <a:r>
              <a:rPr lang="en-US" dirty="0"/>
              <a:t> </a:t>
            </a:r>
            <a:r>
              <a:rPr lang="en-US" dirty="0" err="1"/>
              <a:t>liệu</a:t>
            </a:r>
            <a:r>
              <a:rPr lang="en-US" dirty="0"/>
              <a:t> </a:t>
            </a:r>
            <a:r>
              <a:rPr lang="en-US" dirty="0" err="1"/>
              <a:t>hoặc</a:t>
            </a:r>
            <a:r>
              <a:rPr lang="en-US" dirty="0"/>
              <a:t> </a:t>
            </a:r>
            <a:r>
              <a:rPr lang="en-US" dirty="0" err="1"/>
              <a:t>không</a:t>
            </a:r>
            <a:r>
              <a:rPr lang="en-US" dirty="0"/>
              <a:t> </a:t>
            </a:r>
            <a:r>
              <a:rPr lang="en-US" dirty="0" err="1"/>
              <a:t>nắm</a:t>
            </a:r>
            <a:r>
              <a:rPr lang="en-US" dirty="0"/>
              <a:t> </a:t>
            </a:r>
            <a:r>
              <a:rPr lang="en-US" dirty="0" err="1"/>
              <a:t>được</a:t>
            </a:r>
            <a:r>
              <a:rPr lang="en-US" dirty="0"/>
              <a:t> </a:t>
            </a:r>
            <a:r>
              <a:rPr lang="en-US" dirty="0" err="1"/>
              <a:t>chính</a:t>
            </a:r>
            <a:r>
              <a:rPr lang="en-US" dirty="0"/>
              <a:t> </a:t>
            </a:r>
            <a:r>
              <a:rPr lang="en-US" dirty="0" err="1"/>
              <a:t>xác</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từng</a:t>
            </a:r>
            <a:r>
              <a:rPr lang="en-US" dirty="0"/>
              <a:t> </a:t>
            </a:r>
            <a:r>
              <a:rPr lang="en-US" dirty="0" err="1"/>
              <a:t>đồ</a:t>
            </a:r>
            <a:r>
              <a:rPr lang="en-US" dirty="0"/>
              <a:t> </a:t>
            </a:r>
            <a:r>
              <a:rPr lang="en-US" dirty="0" err="1"/>
              <a:t>án</a:t>
            </a:r>
            <a:r>
              <a:rPr lang="en-US" dirty="0"/>
              <a:t>.</a:t>
            </a:r>
          </a:p>
          <a:p>
            <a:r>
              <a:rPr lang="en-US" dirty="0" err="1"/>
              <a:t>Đối</a:t>
            </a:r>
            <a:r>
              <a:rPr lang="en-US" dirty="0"/>
              <a:t> </a:t>
            </a:r>
            <a:r>
              <a:rPr lang="en-US" dirty="0" err="1"/>
              <a:t>với</a:t>
            </a:r>
            <a:r>
              <a:rPr lang="en-US" dirty="0"/>
              <a:t> </a:t>
            </a:r>
            <a:r>
              <a:rPr lang="en-US" dirty="0" err="1"/>
              <a:t>sinh</a:t>
            </a:r>
            <a:r>
              <a:rPr lang="en-US" dirty="0"/>
              <a:t> </a:t>
            </a:r>
            <a:r>
              <a:rPr lang="en-US" dirty="0" err="1"/>
              <a:t>viên</a:t>
            </a:r>
            <a:r>
              <a:rPr lang="en-US" dirty="0"/>
              <a:t>, </a:t>
            </a:r>
            <a:r>
              <a:rPr lang="en-US" dirty="0" err="1"/>
              <a:t>nhu</a:t>
            </a:r>
            <a:r>
              <a:rPr lang="en-US" dirty="0"/>
              <a:t> </a:t>
            </a:r>
            <a:r>
              <a:rPr lang="en-US" dirty="0" err="1"/>
              <a:t>cầu</a:t>
            </a:r>
            <a:r>
              <a:rPr lang="en-US" dirty="0"/>
              <a:t> </a:t>
            </a:r>
            <a:r>
              <a:rPr lang="en-US" dirty="0" err="1"/>
              <a:t>đặt</a:t>
            </a:r>
            <a:r>
              <a:rPr lang="en-US" dirty="0"/>
              <a:t> </a:t>
            </a:r>
            <a:r>
              <a:rPr lang="en-US" dirty="0" err="1"/>
              <a:t>ra</a:t>
            </a:r>
            <a:r>
              <a:rPr lang="en-US" dirty="0"/>
              <a:t> </a:t>
            </a:r>
            <a:r>
              <a:rPr lang="en-US" dirty="0" err="1"/>
              <a:t>là</a:t>
            </a:r>
            <a:r>
              <a:rPr lang="en-US" dirty="0"/>
              <a:t> </a:t>
            </a:r>
            <a:r>
              <a:rPr lang="en-US" dirty="0" err="1"/>
              <a:t>cần</a:t>
            </a:r>
            <a:r>
              <a:rPr lang="en-US" dirty="0"/>
              <a:t> </a:t>
            </a:r>
            <a:r>
              <a:rPr lang="en-US" dirty="0" err="1"/>
              <a:t>có</a:t>
            </a:r>
            <a:r>
              <a:rPr lang="en-US" dirty="0"/>
              <a:t> </a:t>
            </a:r>
            <a:r>
              <a:rPr lang="en-US" dirty="0" err="1"/>
              <a:t>một</a:t>
            </a:r>
            <a:r>
              <a:rPr lang="en-US" dirty="0"/>
              <a:t> </a:t>
            </a:r>
            <a:r>
              <a:rPr lang="en-US" dirty="0" err="1"/>
              <a:t>nền</a:t>
            </a:r>
            <a:r>
              <a:rPr lang="en-US" dirty="0"/>
              <a:t> </a:t>
            </a:r>
            <a:r>
              <a:rPr lang="en-US" dirty="0" err="1"/>
              <a:t>tảng</a:t>
            </a:r>
            <a:r>
              <a:rPr lang="en-US" dirty="0"/>
              <a:t> </a:t>
            </a:r>
            <a:r>
              <a:rPr lang="en-US" dirty="0" err="1"/>
              <a:t>để</a:t>
            </a:r>
            <a:r>
              <a:rPr lang="en-US" dirty="0"/>
              <a:t> </a:t>
            </a:r>
            <a:r>
              <a:rPr lang="en-US" dirty="0" err="1"/>
              <a:t>có</a:t>
            </a:r>
            <a:r>
              <a:rPr lang="en-US" dirty="0"/>
              <a:t> </a:t>
            </a:r>
            <a:r>
              <a:rPr lang="en-US" dirty="0" err="1"/>
              <a:t>thể</a:t>
            </a:r>
            <a:r>
              <a:rPr lang="en-US" dirty="0"/>
              <a:t> </a:t>
            </a:r>
            <a:r>
              <a:rPr lang="en-US" dirty="0" err="1"/>
              <a:t>theo</a:t>
            </a:r>
            <a:r>
              <a:rPr lang="en-US" dirty="0"/>
              <a:t> </a:t>
            </a:r>
            <a:r>
              <a:rPr lang="en-US" dirty="0" err="1"/>
              <a:t>dõi</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đồ</a:t>
            </a:r>
            <a:r>
              <a:rPr lang="en-US" dirty="0"/>
              <a:t> </a:t>
            </a:r>
            <a:r>
              <a:rPr lang="en-US" dirty="0" err="1"/>
              <a:t>án</a:t>
            </a:r>
            <a:r>
              <a:rPr lang="en-US" dirty="0"/>
              <a:t> </a:t>
            </a:r>
            <a:r>
              <a:rPr lang="en-US" dirty="0" err="1"/>
              <a:t>một</a:t>
            </a:r>
            <a:r>
              <a:rPr lang="en-US" dirty="0"/>
              <a:t> </a:t>
            </a:r>
            <a:r>
              <a:rPr lang="en-US" dirty="0" err="1"/>
              <a:t>cách</a:t>
            </a:r>
            <a:r>
              <a:rPr lang="en-US" dirty="0"/>
              <a:t> </a:t>
            </a:r>
            <a:r>
              <a:rPr lang="en-US" dirty="0" err="1"/>
              <a:t>thuận</a:t>
            </a:r>
            <a:r>
              <a:rPr lang="en-US" dirty="0"/>
              <a:t> </a:t>
            </a:r>
            <a:r>
              <a:rPr lang="en-US" dirty="0" err="1"/>
              <a:t>tiện</a:t>
            </a:r>
            <a:r>
              <a:rPr lang="en-US" dirty="0"/>
              <a:t> </a:t>
            </a:r>
            <a:r>
              <a:rPr lang="en-US" dirty="0" err="1"/>
              <a:t>và</a:t>
            </a:r>
            <a:r>
              <a:rPr lang="en-US" dirty="0"/>
              <a:t> </a:t>
            </a:r>
            <a:r>
              <a:rPr lang="en-US" dirty="0" err="1"/>
              <a:t>hiệu</a:t>
            </a:r>
            <a:r>
              <a:rPr lang="en-US" dirty="0"/>
              <a:t> </a:t>
            </a:r>
            <a:r>
              <a:rPr lang="en-US" dirty="0" err="1"/>
              <a:t>quả</a:t>
            </a:r>
            <a:r>
              <a:rPr lang="en-US" dirty="0"/>
              <a:t>.</a:t>
            </a:r>
          </a:p>
          <a:p>
            <a:r>
              <a:rPr lang="en-US" dirty="0" err="1"/>
              <a:t>Còn</a:t>
            </a:r>
            <a:r>
              <a:rPr lang="en-US" dirty="0"/>
              <a:t> </a:t>
            </a:r>
            <a:r>
              <a:rPr lang="en-US" dirty="0" err="1"/>
              <a:t>đối</a:t>
            </a:r>
            <a:r>
              <a:rPr lang="en-US" dirty="0"/>
              <a:t> </a:t>
            </a:r>
            <a:r>
              <a:rPr lang="en-US" dirty="0" err="1"/>
              <a:t>với</a:t>
            </a:r>
            <a:r>
              <a:rPr lang="en-US" dirty="0"/>
              <a:t> </a:t>
            </a:r>
            <a:r>
              <a:rPr lang="en-US" dirty="0" err="1"/>
              <a:t>giảng</a:t>
            </a:r>
            <a:r>
              <a:rPr lang="en-US" dirty="0"/>
              <a:t> </a:t>
            </a:r>
            <a:r>
              <a:rPr lang="en-US" dirty="0" err="1"/>
              <a:t>viên</a:t>
            </a:r>
            <a:r>
              <a:rPr lang="en-US" dirty="0"/>
              <a:t>, </a:t>
            </a:r>
            <a:r>
              <a:rPr lang="en-US" dirty="0" err="1"/>
              <a:t>cần</a:t>
            </a:r>
            <a:r>
              <a:rPr lang="en-US" dirty="0"/>
              <a:t> </a:t>
            </a:r>
            <a:r>
              <a:rPr lang="en-US" dirty="0" err="1"/>
              <a:t>có</a:t>
            </a:r>
            <a:r>
              <a:rPr lang="en-US" dirty="0"/>
              <a:t> </a:t>
            </a:r>
            <a:r>
              <a:rPr lang="en-US" dirty="0" err="1"/>
              <a:t>một</a:t>
            </a:r>
            <a:r>
              <a:rPr lang="en-US" dirty="0"/>
              <a:t> </a:t>
            </a:r>
            <a:r>
              <a:rPr lang="en-US" dirty="0" err="1"/>
              <a:t>công</a:t>
            </a:r>
            <a:r>
              <a:rPr lang="en-US" dirty="0"/>
              <a:t> </a:t>
            </a:r>
            <a:r>
              <a:rPr lang="en-US" dirty="0" err="1"/>
              <a:t>cụ</a:t>
            </a:r>
            <a:r>
              <a:rPr lang="en-US" dirty="0"/>
              <a:t> </a:t>
            </a:r>
            <a:r>
              <a:rPr lang="en-US" dirty="0" err="1"/>
              <a:t>tập</a:t>
            </a:r>
            <a:r>
              <a:rPr lang="en-US" dirty="0"/>
              <a:t> </a:t>
            </a:r>
            <a:r>
              <a:rPr lang="en-US" dirty="0" err="1"/>
              <a:t>trung</a:t>
            </a:r>
            <a:r>
              <a:rPr lang="en-US" dirty="0"/>
              <a:t> </a:t>
            </a:r>
            <a:r>
              <a:rPr lang="en-US" dirty="0" err="1"/>
              <a:t>để</a:t>
            </a:r>
            <a:r>
              <a:rPr lang="en-US" dirty="0"/>
              <a:t> </a:t>
            </a:r>
            <a:r>
              <a:rPr lang="en-US" dirty="0" err="1"/>
              <a:t>quản</a:t>
            </a:r>
            <a:r>
              <a:rPr lang="en-US" dirty="0"/>
              <a:t> </a:t>
            </a:r>
            <a:r>
              <a:rPr lang="en-US" dirty="0" err="1"/>
              <a:t>lý</a:t>
            </a:r>
            <a:r>
              <a:rPr lang="en-US" dirty="0"/>
              <a:t> </a:t>
            </a:r>
            <a:r>
              <a:rPr lang="en-US" dirty="0" err="1"/>
              <a:t>lớp</a:t>
            </a:r>
            <a:r>
              <a:rPr lang="en-US" dirty="0"/>
              <a:t>, </a:t>
            </a:r>
            <a:r>
              <a:rPr lang="en-US" dirty="0" err="1"/>
              <a:t>đề</a:t>
            </a:r>
            <a:r>
              <a:rPr lang="en-US" dirty="0"/>
              <a:t> </a:t>
            </a:r>
            <a:r>
              <a:rPr lang="en-US" dirty="0" err="1"/>
              <a:t>tài</a:t>
            </a:r>
            <a:r>
              <a:rPr lang="en-US" dirty="0"/>
              <a:t>, </a:t>
            </a:r>
            <a:r>
              <a:rPr lang="en-US" dirty="0" err="1"/>
              <a:t>nhóm</a:t>
            </a:r>
            <a:r>
              <a:rPr lang="en-US" dirty="0"/>
              <a:t> </a:t>
            </a:r>
            <a:r>
              <a:rPr lang="en-US" dirty="0" err="1"/>
              <a:t>sinh</a:t>
            </a:r>
            <a:r>
              <a:rPr lang="en-US" dirty="0"/>
              <a:t> </a:t>
            </a:r>
            <a:r>
              <a:rPr lang="en-US" dirty="0" err="1"/>
              <a:t>viên</a:t>
            </a:r>
            <a:r>
              <a:rPr lang="en-US" dirty="0"/>
              <a:t>, </a:t>
            </a:r>
            <a:r>
              <a:rPr lang="en-US" dirty="0" err="1"/>
              <a:t>tiến</a:t>
            </a:r>
            <a:r>
              <a:rPr lang="en-US" dirty="0"/>
              <a:t> </a:t>
            </a:r>
            <a:r>
              <a:rPr lang="en-US" dirty="0" err="1"/>
              <a:t>độ</a:t>
            </a:r>
            <a:r>
              <a:rPr lang="en-US" dirty="0"/>
              <a:t> </a:t>
            </a:r>
            <a:r>
              <a:rPr lang="en-US" dirty="0" err="1"/>
              <a:t>và</a:t>
            </a:r>
            <a:r>
              <a:rPr lang="en-US" dirty="0"/>
              <a:t> </a:t>
            </a:r>
            <a:r>
              <a:rPr lang="en-US" dirty="0" err="1"/>
              <a:t>đánh</a:t>
            </a:r>
            <a:r>
              <a:rPr lang="en-US" dirty="0"/>
              <a:t> </a:t>
            </a:r>
            <a:r>
              <a:rPr lang="en-US" dirty="0" err="1"/>
              <a:t>giá</a:t>
            </a:r>
            <a:r>
              <a:rPr lang="en-US" dirty="0"/>
              <a:t>.</a:t>
            </a:r>
          </a:p>
          <a:p>
            <a:r>
              <a:rPr lang="en-US" dirty="0" err="1"/>
              <a:t>Vì</a:t>
            </a:r>
            <a:r>
              <a:rPr lang="en-US" dirty="0"/>
              <a:t> </a:t>
            </a:r>
            <a:r>
              <a:rPr lang="en-US" dirty="0" err="1"/>
              <a:t>vậy</a:t>
            </a:r>
            <a:r>
              <a:rPr lang="en-US" dirty="0"/>
              <a:t>, </a:t>
            </a:r>
            <a:r>
              <a:rPr lang="en-US" dirty="0" err="1"/>
              <a:t>mục</a:t>
            </a:r>
            <a:r>
              <a:rPr lang="en-US" dirty="0"/>
              <a:t> </a:t>
            </a:r>
            <a:r>
              <a:rPr lang="en-US" dirty="0" err="1"/>
              <a:t>tiêu</a:t>
            </a:r>
            <a:r>
              <a:rPr lang="en-US" dirty="0"/>
              <a:t> </a:t>
            </a:r>
            <a:r>
              <a:rPr lang="en-US" dirty="0" err="1"/>
              <a:t>của</a:t>
            </a:r>
            <a:r>
              <a:rPr lang="en-US" dirty="0"/>
              <a:t> </a:t>
            </a:r>
            <a:r>
              <a:rPr lang="en-US" dirty="0" err="1"/>
              <a:t>đề</a:t>
            </a:r>
            <a:r>
              <a:rPr lang="en-US" dirty="0"/>
              <a:t> </a:t>
            </a:r>
            <a:r>
              <a:rPr lang="en-US" dirty="0" err="1"/>
              <a:t>tài</a:t>
            </a:r>
            <a:r>
              <a:rPr lang="en-US" dirty="0"/>
              <a:t> </a:t>
            </a:r>
            <a:r>
              <a:rPr lang="en-US" dirty="0" err="1"/>
              <a:t>là</a:t>
            </a:r>
            <a:r>
              <a:rPr lang="en-US" dirty="0"/>
              <a:t> </a:t>
            </a:r>
            <a:r>
              <a:rPr lang="en-US" b="1" dirty="0" err="1"/>
              <a:t>xây</a:t>
            </a:r>
            <a:r>
              <a:rPr lang="en-US" b="1" dirty="0"/>
              <a:t> </a:t>
            </a:r>
            <a:r>
              <a:rPr lang="en-US" b="1" dirty="0" err="1"/>
              <a:t>dựng</a:t>
            </a:r>
            <a:r>
              <a:rPr lang="en-US" b="1" dirty="0"/>
              <a:t> </a:t>
            </a:r>
            <a:r>
              <a:rPr lang="en-US" b="1" dirty="0" err="1"/>
              <a:t>một</a:t>
            </a:r>
            <a:r>
              <a:rPr lang="en-US" b="1" dirty="0"/>
              <a:t> website </a:t>
            </a:r>
            <a:r>
              <a:rPr lang="en-US" b="1" dirty="0" err="1"/>
              <a:t>tập</a:t>
            </a:r>
            <a:r>
              <a:rPr lang="en-US" b="1" dirty="0"/>
              <a:t> </a:t>
            </a:r>
            <a:r>
              <a:rPr lang="en-US" b="1" dirty="0" err="1"/>
              <a:t>trung</a:t>
            </a:r>
            <a:r>
              <a:rPr lang="en-US" b="1" dirty="0"/>
              <a:t> </a:t>
            </a:r>
            <a:r>
              <a:rPr lang="en-US" b="1" dirty="0" err="1"/>
              <a:t>hóa</a:t>
            </a:r>
            <a:r>
              <a:rPr lang="en-US" b="1" dirty="0"/>
              <a:t> </a:t>
            </a:r>
            <a:r>
              <a:rPr lang="en-US" b="1" dirty="0" err="1"/>
              <a:t>toàn</a:t>
            </a:r>
            <a:r>
              <a:rPr lang="en-US" b="1" dirty="0"/>
              <a:t> </a:t>
            </a:r>
            <a:r>
              <a:rPr lang="en-US" b="1" dirty="0" err="1"/>
              <a:t>bộ</a:t>
            </a:r>
            <a:r>
              <a:rPr lang="en-US" b="1" dirty="0"/>
              <a:t> </a:t>
            </a:r>
            <a:r>
              <a:rPr lang="en-US" b="1" dirty="0" err="1"/>
              <a:t>quy</a:t>
            </a:r>
            <a:r>
              <a:rPr lang="en-US" b="1" dirty="0"/>
              <a:t> </a:t>
            </a:r>
            <a:r>
              <a:rPr lang="en-US" b="1" dirty="0" err="1"/>
              <a:t>trình</a:t>
            </a:r>
            <a:r>
              <a:rPr lang="en-US" b="1" dirty="0"/>
              <a:t> </a:t>
            </a:r>
            <a:r>
              <a:rPr lang="en-US" b="1" dirty="0" err="1"/>
              <a:t>nộp</a:t>
            </a:r>
            <a:r>
              <a:rPr lang="en-US" b="1" dirty="0"/>
              <a:t> </a:t>
            </a:r>
            <a:r>
              <a:rPr lang="en-US" b="1" dirty="0" err="1"/>
              <a:t>và</a:t>
            </a:r>
            <a:r>
              <a:rPr lang="en-US" b="1" dirty="0"/>
              <a:t> </a:t>
            </a:r>
            <a:r>
              <a:rPr lang="en-US" b="1" dirty="0" err="1"/>
              <a:t>quản</a:t>
            </a:r>
            <a:r>
              <a:rPr lang="en-US" b="1" dirty="0"/>
              <a:t> </a:t>
            </a:r>
            <a:r>
              <a:rPr lang="en-US" b="1" dirty="0" err="1"/>
              <a:t>lý</a:t>
            </a:r>
            <a:r>
              <a:rPr lang="en-US" b="1" dirty="0"/>
              <a:t> </a:t>
            </a:r>
            <a:r>
              <a:rPr lang="en-US" b="1" dirty="0" err="1"/>
              <a:t>đồ</a:t>
            </a:r>
            <a:r>
              <a:rPr lang="en-US" b="1" dirty="0"/>
              <a:t> </a:t>
            </a:r>
            <a:r>
              <a:rPr lang="en-US" b="1" dirty="0" err="1"/>
              <a:t>án</a:t>
            </a:r>
            <a:r>
              <a:rPr lang="en-US" b="1" dirty="0"/>
              <a:t> </a:t>
            </a:r>
            <a:r>
              <a:rPr lang="en-US" b="1" dirty="0" err="1"/>
              <a:t>sinh</a:t>
            </a:r>
            <a:r>
              <a:rPr lang="en-US" b="1" dirty="0"/>
              <a:t> </a:t>
            </a:r>
            <a:r>
              <a:rPr lang="en-US" b="1" dirty="0" err="1"/>
              <a:t>viên</a:t>
            </a:r>
            <a:r>
              <a:rPr lang="en-US" b="1" dirty="0"/>
              <a:t> </a:t>
            </a:r>
            <a:r>
              <a:rPr lang="en-US" b="1" dirty="0" err="1"/>
              <a:t>tại</a:t>
            </a:r>
            <a:r>
              <a:rPr lang="en-US" b="1" dirty="0"/>
              <a:t> TVU</a:t>
            </a:r>
            <a:r>
              <a:rPr lang="en-US" dirty="0"/>
              <a:t>.</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2</a:t>
            </a:fld>
            <a:endParaRPr lang="en-US"/>
          </a:p>
        </p:txBody>
      </p:sp>
    </p:spTree>
    <p:extLst>
      <p:ext uri="{BB962C8B-B14F-4D97-AF65-F5344CB8AC3E}">
        <p14:creationId xmlns:p14="http://schemas.microsoft.com/office/powerpoint/2010/main" val="2872929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b="1" dirty="0" err="1"/>
              <a:t>mục</a:t>
            </a:r>
            <a:r>
              <a:rPr lang="en-US" b="1" dirty="0"/>
              <a:t> </a:t>
            </a:r>
            <a:r>
              <a:rPr lang="en-US" b="1" dirty="0" err="1"/>
              <a:t>tiêu</a:t>
            </a:r>
            <a:r>
              <a:rPr lang="en-US" b="1" dirty="0"/>
              <a:t> </a:t>
            </a:r>
            <a:r>
              <a:rPr lang="en-US" b="1" dirty="0" err="1"/>
              <a:t>và</a:t>
            </a:r>
            <a:r>
              <a:rPr lang="en-US" b="1" dirty="0"/>
              <a:t> </a:t>
            </a:r>
            <a:r>
              <a:rPr lang="en-US" b="1" dirty="0" err="1"/>
              <a:t>phạm</a:t>
            </a:r>
            <a:r>
              <a:rPr lang="en-US" b="1" dirty="0"/>
              <a:t> vi </a:t>
            </a:r>
            <a:r>
              <a:rPr lang="en-US" b="1" dirty="0" err="1"/>
              <a:t>của</a:t>
            </a:r>
            <a:r>
              <a:rPr lang="en-US" b="1" dirty="0"/>
              <a:t> </a:t>
            </a:r>
            <a:r>
              <a:rPr lang="en-US" b="1" dirty="0" err="1"/>
              <a:t>hệ</a:t>
            </a:r>
            <a:r>
              <a:rPr lang="en-US" b="1" dirty="0"/>
              <a:t> </a:t>
            </a:r>
            <a:r>
              <a:rPr lang="en-US" b="1" dirty="0" err="1"/>
              <a:t>thống</a:t>
            </a:r>
            <a:r>
              <a:rPr lang="en-US" dirty="0"/>
              <a:t>.</a:t>
            </a:r>
          </a:p>
          <a:p>
            <a:r>
              <a:rPr lang="en-US" dirty="0"/>
              <a:t>Website </a:t>
            </a:r>
            <a:r>
              <a:rPr lang="en-US" dirty="0" err="1"/>
              <a:t>tập</a:t>
            </a:r>
            <a:r>
              <a:rPr lang="en-US" dirty="0"/>
              <a:t> </a:t>
            </a:r>
            <a:r>
              <a:rPr lang="en-US" dirty="0" err="1"/>
              <a:t>trung</a:t>
            </a:r>
            <a:r>
              <a:rPr lang="en-US" dirty="0"/>
              <a:t> </a:t>
            </a:r>
            <a:r>
              <a:rPr lang="en-US" dirty="0" err="1"/>
              <a:t>vào</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chính</a:t>
            </a:r>
            <a:r>
              <a:rPr lang="en-US" dirty="0"/>
              <a:t> </a:t>
            </a:r>
            <a:r>
              <a:rPr lang="en-US" dirty="0" err="1"/>
              <a:t>như</a:t>
            </a:r>
            <a:r>
              <a:rPr lang="en-US" dirty="0"/>
              <a:t>:</a:t>
            </a:r>
          </a:p>
          <a:p>
            <a:pPr lvl="0"/>
            <a:r>
              <a:rPr lang="en-US" dirty="0"/>
              <a:t>Quản </a:t>
            </a:r>
            <a:r>
              <a:rPr lang="en-US" dirty="0" err="1"/>
              <a:t>lý</a:t>
            </a:r>
            <a:r>
              <a:rPr lang="en-US" dirty="0"/>
              <a:t> </a:t>
            </a:r>
            <a:r>
              <a:rPr lang="en-US" dirty="0" err="1"/>
              <a:t>tài</a:t>
            </a:r>
            <a:r>
              <a:rPr lang="en-US" dirty="0"/>
              <a:t> </a:t>
            </a:r>
            <a:r>
              <a:rPr lang="en-US" dirty="0" err="1"/>
              <a:t>khoản</a:t>
            </a:r>
            <a:r>
              <a:rPr lang="en-US" dirty="0"/>
              <a:t> </a:t>
            </a:r>
            <a:r>
              <a:rPr lang="en-US" dirty="0" err="1"/>
              <a:t>người</a:t>
            </a:r>
            <a:r>
              <a:rPr lang="en-US" dirty="0"/>
              <a:t> </a:t>
            </a:r>
            <a:r>
              <a:rPr lang="en-US" dirty="0" err="1"/>
              <a:t>dùng</a:t>
            </a:r>
            <a:r>
              <a:rPr lang="en-US" dirty="0"/>
              <a:t>.</a:t>
            </a:r>
          </a:p>
          <a:p>
            <a:pPr lvl="0"/>
            <a:r>
              <a:rPr lang="en-US" dirty="0"/>
              <a:t>Quản </a:t>
            </a:r>
            <a:r>
              <a:rPr lang="en-US" dirty="0" err="1"/>
              <a:t>lý</a:t>
            </a:r>
            <a:r>
              <a:rPr lang="en-US" dirty="0"/>
              <a:t> </a:t>
            </a:r>
            <a:r>
              <a:rPr lang="en-US" dirty="0" err="1"/>
              <a:t>lớp</a:t>
            </a:r>
            <a:r>
              <a:rPr lang="en-US" dirty="0"/>
              <a:t> </a:t>
            </a:r>
            <a:r>
              <a:rPr lang="en-US" dirty="0" err="1"/>
              <a:t>học</a:t>
            </a:r>
            <a:r>
              <a:rPr lang="en-US" dirty="0"/>
              <a:t> </a:t>
            </a:r>
            <a:r>
              <a:rPr lang="en-US" dirty="0" err="1"/>
              <a:t>và</a:t>
            </a:r>
            <a:r>
              <a:rPr lang="en-US" dirty="0"/>
              <a:t> </a:t>
            </a:r>
            <a:r>
              <a:rPr lang="en-US" dirty="0" err="1"/>
              <a:t>sinh</a:t>
            </a:r>
            <a:r>
              <a:rPr lang="en-US" dirty="0"/>
              <a:t> </a:t>
            </a:r>
            <a:r>
              <a:rPr lang="en-US" dirty="0" err="1"/>
              <a:t>viên</a:t>
            </a:r>
            <a:r>
              <a:rPr lang="en-US" dirty="0"/>
              <a:t>.</a:t>
            </a:r>
          </a:p>
          <a:p>
            <a:pPr lvl="0"/>
            <a:r>
              <a:rPr lang="en-US" dirty="0"/>
              <a:t>Quản </a:t>
            </a:r>
            <a:r>
              <a:rPr lang="en-US" dirty="0" err="1"/>
              <a:t>lý</a:t>
            </a:r>
            <a:r>
              <a:rPr lang="en-US" dirty="0"/>
              <a:t> </a:t>
            </a:r>
            <a:r>
              <a:rPr lang="en-US" dirty="0" err="1"/>
              <a:t>đề</a:t>
            </a:r>
            <a:r>
              <a:rPr lang="en-US" dirty="0"/>
              <a:t> </a:t>
            </a:r>
            <a:r>
              <a:rPr lang="en-US" dirty="0" err="1"/>
              <a:t>tài</a:t>
            </a:r>
            <a:r>
              <a:rPr lang="en-US" dirty="0"/>
              <a:t> </a:t>
            </a:r>
            <a:r>
              <a:rPr lang="en-US" dirty="0" err="1"/>
              <a:t>và</a:t>
            </a:r>
            <a:r>
              <a:rPr lang="en-US" dirty="0"/>
              <a:t> </a:t>
            </a:r>
            <a:r>
              <a:rPr lang="en-US" dirty="0" err="1"/>
              <a:t>nhóm</a:t>
            </a:r>
            <a:r>
              <a:rPr lang="en-US" dirty="0"/>
              <a:t> </a:t>
            </a:r>
            <a:r>
              <a:rPr lang="en-US" dirty="0" err="1"/>
              <a:t>đồ</a:t>
            </a:r>
            <a:r>
              <a:rPr lang="en-US" dirty="0"/>
              <a:t> </a:t>
            </a:r>
            <a:r>
              <a:rPr lang="en-US" dirty="0" err="1"/>
              <a:t>án</a:t>
            </a:r>
            <a:r>
              <a:rPr lang="en-US" dirty="0"/>
              <a:t>.</a:t>
            </a:r>
          </a:p>
          <a:p>
            <a:pPr lvl="0"/>
            <a:r>
              <a:rPr lang="en-US" dirty="0"/>
              <a:t>Quản </a:t>
            </a:r>
            <a:r>
              <a:rPr lang="en-US" dirty="0" err="1"/>
              <a:t>lý</a:t>
            </a:r>
            <a:r>
              <a:rPr lang="en-US" dirty="0"/>
              <a:t> </a:t>
            </a:r>
            <a:r>
              <a:rPr lang="en-US" dirty="0" err="1"/>
              <a:t>đăng</a:t>
            </a:r>
            <a:r>
              <a:rPr lang="en-US" dirty="0"/>
              <a:t> </a:t>
            </a:r>
            <a:r>
              <a:rPr lang="en-US" dirty="0" err="1"/>
              <a:t>ký</a:t>
            </a:r>
            <a:r>
              <a:rPr lang="en-US" dirty="0"/>
              <a:t> </a:t>
            </a:r>
            <a:r>
              <a:rPr lang="en-US" dirty="0" err="1"/>
              <a:t>đề</a:t>
            </a:r>
            <a:r>
              <a:rPr lang="en-US" dirty="0"/>
              <a:t> </a:t>
            </a:r>
            <a:r>
              <a:rPr lang="en-US" dirty="0" err="1"/>
              <a:t>tài</a:t>
            </a:r>
            <a:r>
              <a:rPr lang="en-US" dirty="0"/>
              <a:t>.</a:t>
            </a:r>
          </a:p>
          <a:p>
            <a:pPr lvl="0"/>
            <a:r>
              <a:rPr lang="en-US" dirty="0"/>
              <a:t>Theo </a:t>
            </a:r>
            <a:r>
              <a:rPr lang="en-US" dirty="0" err="1"/>
              <a:t>dõi</a:t>
            </a:r>
            <a:r>
              <a:rPr lang="en-US" dirty="0"/>
              <a:t> </a:t>
            </a:r>
            <a:r>
              <a:rPr lang="en-US" dirty="0" err="1"/>
              <a:t>tiến</a:t>
            </a:r>
            <a:r>
              <a:rPr lang="en-US" dirty="0"/>
              <a:t> </a:t>
            </a:r>
            <a:r>
              <a:rPr lang="en-US" dirty="0" err="1"/>
              <a:t>độ</a:t>
            </a:r>
            <a:r>
              <a:rPr lang="en-US" dirty="0"/>
              <a:t>.</a:t>
            </a:r>
          </a:p>
          <a:p>
            <a:pPr lvl="0"/>
            <a:r>
              <a:rPr lang="en-US" dirty="0" err="1"/>
              <a:t>Nộp</a:t>
            </a:r>
            <a:r>
              <a:rPr lang="en-US" dirty="0"/>
              <a:t> </a:t>
            </a:r>
            <a:r>
              <a:rPr lang="en-US" dirty="0" err="1"/>
              <a:t>báo</a:t>
            </a:r>
            <a:r>
              <a:rPr lang="en-US" dirty="0"/>
              <a:t> </a:t>
            </a:r>
            <a:r>
              <a:rPr lang="en-US" dirty="0" err="1"/>
              <a:t>cáo</a:t>
            </a:r>
            <a:r>
              <a:rPr lang="en-US" dirty="0"/>
              <a:t> </a:t>
            </a:r>
            <a:r>
              <a:rPr lang="en-US" dirty="0" err="1"/>
              <a:t>và</a:t>
            </a:r>
            <a:r>
              <a:rPr lang="en-US" dirty="0"/>
              <a:t> </a:t>
            </a:r>
            <a:r>
              <a:rPr lang="en-US" dirty="0" err="1"/>
              <a:t>đồ</a:t>
            </a:r>
            <a:r>
              <a:rPr lang="en-US" dirty="0"/>
              <a:t> </a:t>
            </a:r>
            <a:r>
              <a:rPr lang="en-US" dirty="0" err="1"/>
              <a:t>án</a:t>
            </a:r>
            <a:r>
              <a:rPr lang="en-US" dirty="0"/>
              <a:t> </a:t>
            </a:r>
            <a:r>
              <a:rPr lang="en-US" dirty="0" err="1"/>
              <a:t>cuối</a:t>
            </a:r>
            <a:r>
              <a:rPr lang="en-US" dirty="0"/>
              <a:t> </a:t>
            </a:r>
            <a:r>
              <a:rPr lang="en-US" dirty="0" err="1"/>
              <a:t>kỳ</a:t>
            </a:r>
            <a:r>
              <a:rPr lang="en-US" dirty="0"/>
              <a:t>.</a:t>
            </a:r>
          </a:p>
          <a:p>
            <a:pPr lvl="0"/>
            <a:r>
              <a:rPr lang="en-US" dirty="0" err="1"/>
              <a:t>Nhận</a:t>
            </a:r>
            <a:r>
              <a:rPr lang="en-US" dirty="0"/>
              <a:t> </a:t>
            </a:r>
            <a:r>
              <a:rPr lang="en-US" dirty="0" err="1"/>
              <a:t>xét</a:t>
            </a:r>
            <a:r>
              <a:rPr lang="en-US" dirty="0"/>
              <a:t> </a:t>
            </a:r>
            <a:r>
              <a:rPr lang="en-US" dirty="0" err="1"/>
              <a:t>và</a:t>
            </a:r>
            <a:r>
              <a:rPr lang="en-US" dirty="0"/>
              <a:t> </a:t>
            </a:r>
            <a:r>
              <a:rPr lang="en-US" dirty="0" err="1"/>
              <a:t>đánh</a:t>
            </a:r>
            <a:r>
              <a:rPr lang="en-US" dirty="0"/>
              <a:t> </a:t>
            </a:r>
            <a:r>
              <a:rPr lang="en-US" dirty="0" err="1"/>
              <a:t>giá</a:t>
            </a:r>
            <a:r>
              <a:rPr lang="en-US" dirty="0"/>
              <a:t>.</a:t>
            </a:r>
          </a:p>
          <a:p>
            <a:r>
              <a:rPr lang="en-US" dirty="0" err="1"/>
              <a:t>Hệ</a:t>
            </a:r>
            <a:r>
              <a:rPr lang="en-US" dirty="0"/>
              <a:t> </a:t>
            </a:r>
            <a:r>
              <a:rPr lang="en-US" dirty="0" err="1"/>
              <a:t>thống</a:t>
            </a:r>
            <a:r>
              <a:rPr lang="en-US" dirty="0"/>
              <a:t> </a:t>
            </a:r>
            <a:r>
              <a:rPr lang="en-US" dirty="0" err="1"/>
              <a:t>có</a:t>
            </a:r>
            <a:r>
              <a:rPr lang="en-US" dirty="0"/>
              <a:t> </a:t>
            </a:r>
            <a:r>
              <a:rPr lang="en-US" b="1" dirty="0"/>
              <a:t>3 </a:t>
            </a:r>
            <a:r>
              <a:rPr lang="en-US" b="1" dirty="0" err="1"/>
              <a:t>đối</a:t>
            </a:r>
            <a:r>
              <a:rPr lang="en-US" b="1" dirty="0"/>
              <a:t> </a:t>
            </a:r>
            <a:r>
              <a:rPr lang="en-US" b="1" dirty="0" err="1"/>
              <a:t>tượng</a:t>
            </a:r>
            <a:r>
              <a:rPr lang="en-US" b="1" dirty="0"/>
              <a:t> </a:t>
            </a:r>
            <a:r>
              <a:rPr lang="en-US" b="1" dirty="0" err="1"/>
              <a:t>sử</a:t>
            </a:r>
            <a:r>
              <a:rPr lang="en-US" b="1" dirty="0"/>
              <a:t> </a:t>
            </a:r>
            <a:r>
              <a:rPr lang="en-US" b="1" dirty="0" err="1"/>
              <a:t>dụng</a:t>
            </a:r>
            <a:r>
              <a:rPr lang="en-US" b="1" dirty="0"/>
              <a:t> </a:t>
            </a:r>
            <a:r>
              <a:rPr lang="en-US" b="1" dirty="0" err="1"/>
              <a:t>chính</a:t>
            </a:r>
            <a:r>
              <a:rPr lang="en-US" dirty="0"/>
              <a:t>.</a:t>
            </a:r>
          </a:p>
          <a:p>
            <a:r>
              <a:rPr lang="en-US" dirty="0" err="1"/>
              <a:t>Thứ</a:t>
            </a:r>
            <a:r>
              <a:rPr lang="en-US" dirty="0"/>
              <a:t> </a:t>
            </a:r>
            <a:r>
              <a:rPr lang="en-US" dirty="0" err="1"/>
              <a:t>nhất</a:t>
            </a:r>
            <a:r>
              <a:rPr lang="en-US" dirty="0"/>
              <a:t> </a:t>
            </a:r>
            <a:r>
              <a:rPr lang="en-US" dirty="0" err="1"/>
              <a:t>là</a:t>
            </a:r>
            <a:r>
              <a:rPr lang="en-US" dirty="0"/>
              <a:t> </a:t>
            </a:r>
            <a:r>
              <a:rPr lang="en-US" b="1" dirty="0"/>
              <a:t>Admin</a:t>
            </a:r>
            <a:r>
              <a:rPr lang="en-US" dirty="0"/>
              <a:t>, </a:t>
            </a:r>
            <a:r>
              <a:rPr lang="en-US" dirty="0" err="1"/>
              <a:t>có</a:t>
            </a:r>
            <a:r>
              <a:rPr lang="en-US" dirty="0"/>
              <a:t> </a:t>
            </a:r>
            <a:r>
              <a:rPr lang="en-US" dirty="0" err="1"/>
              <a:t>nhiệm</a:t>
            </a:r>
            <a:r>
              <a:rPr lang="en-US" dirty="0"/>
              <a:t> </a:t>
            </a:r>
            <a:r>
              <a:rPr lang="en-US" dirty="0" err="1"/>
              <a:t>vụ</a:t>
            </a:r>
            <a:r>
              <a:rPr lang="en-US" dirty="0"/>
              <a:t> </a:t>
            </a:r>
            <a:r>
              <a:rPr lang="en-US" dirty="0" err="1"/>
              <a:t>quản</a:t>
            </a:r>
            <a:r>
              <a:rPr lang="en-US" dirty="0"/>
              <a:t> </a:t>
            </a:r>
            <a:r>
              <a:rPr lang="en-US" dirty="0" err="1"/>
              <a:t>lý</a:t>
            </a:r>
            <a:r>
              <a:rPr lang="en-US" dirty="0"/>
              <a:t> </a:t>
            </a:r>
            <a:r>
              <a:rPr lang="en-US" dirty="0" err="1"/>
              <a:t>hệ</a:t>
            </a:r>
            <a:r>
              <a:rPr lang="en-US" dirty="0"/>
              <a:t> </a:t>
            </a:r>
            <a:r>
              <a:rPr lang="en-US" dirty="0" err="1"/>
              <a:t>thống</a:t>
            </a:r>
            <a:r>
              <a:rPr lang="en-US" dirty="0"/>
              <a:t>.</a:t>
            </a:r>
          </a:p>
          <a:p>
            <a:r>
              <a:rPr lang="en-US" dirty="0" err="1"/>
              <a:t>Thứ</a:t>
            </a:r>
            <a:r>
              <a:rPr lang="en-US" dirty="0"/>
              <a:t> </a:t>
            </a:r>
            <a:r>
              <a:rPr lang="en-US" dirty="0" err="1"/>
              <a:t>hai</a:t>
            </a:r>
            <a:r>
              <a:rPr lang="en-US" dirty="0"/>
              <a:t> </a:t>
            </a:r>
            <a:r>
              <a:rPr lang="en-US" dirty="0" err="1"/>
              <a:t>là</a:t>
            </a:r>
            <a:r>
              <a:rPr lang="en-US" dirty="0"/>
              <a:t> </a:t>
            </a:r>
            <a:r>
              <a:rPr lang="en-US" b="1" dirty="0"/>
              <a:t>Teacher</a:t>
            </a:r>
            <a:r>
              <a:rPr lang="en-US" dirty="0"/>
              <a:t>, </a:t>
            </a:r>
            <a:r>
              <a:rPr lang="en-US" dirty="0" err="1"/>
              <a:t>quản</a:t>
            </a:r>
            <a:r>
              <a:rPr lang="en-US" dirty="0"/>
              <a:t> </a:t>
            </a:r>
            <a:r>
              <a:rPr lang="en-US" dirty="0" err="1"/>
              <a:t>lý</a:t>
            </a:r>
            <a:r>
              <a:rPr lang="en-US" dirty="0"/>
              <a:t> </a:t>
            </a:r>
            <a:r>
              <a:rPr lang="en-US" dirty="0" err="1"/>
              <a:t>lớp</a:t>
            </a:r>
            <a:r>
              <a:rPr lang="en-US" dirty="0"/>
              <a:t>, </a:t>
            </a:r>
            <a:r>
              <a:rPr lang="en-US" dirty="0" err="1"/>
              <a:t>đề</a:t>
            </a:r>
            <a:r>
              <a:rPr lang="en-US" dirty="0"/>
              <a:t> </a:t>
            </a:r>
            <a:r>
              <a:rPr lang="en-US" dirty="0" err="1"/>
              <a:t>tài</a:t>
            </a:r>
            <a:r>
              <a:rPr lang="en-US" dirty="0"/>
              <a:t>, </a:t>
            </a:r>
            <a:r>
              <a:rPr lang="en-US" dirty="0" err="1"/>
              <a:t>nhóm</a:t>
            </a:r>
            <a:r>
              <a:rPr lang="en-US" dirty="0"/>
              <a:t> </a:t>
            </a:r>
            <a:r>
              <a:rPr lang="en-US" dirty="0" err="1"/>
              <a:t>và</a:t>
            </a:r>
            <a:r>
              <a:rPr lang="en-US" dirty="0"/>
              <a:t> </a:t>
            </a:r>
            <a:r>
              <a:rPr lang="en-US" dirty="0" err="1"/>
              <a:t>thực</a:t>
            </a:r>
            <a:r>
              <a:rPr lang="en-US" dirty="0"/>
              <a:t> </a:t>
            </a:r>
            <a:r>
              <a:rPr lang="en-US" dirty="0" err="1"/>
              <a:t>hiện</a:t>
            </a:r>
            <a:r>
              <a:rPr lang="en-US" dirty="0"/>
              <a:t> </a:t>
            </a:r>
            <a:r>
              <a:rPr lang="en-US" dirty="0" err="1"/>
              <a:t>đánh</a:t>
            </a:r>
            <a:r>
              <a:rPr lang="en-US" dirty="0"/>
              <a:t> </a:t>
            </a:r>
            <a:r>
              <a:rPr lang="en-US" dirty="0" err="1"/>
              <a:t>giá</a:t>
            </a:r>
            <a:r>
              <a:rPr lang="en-US" dirty="0"/>
              <a:t>.</a:t>
            </a:r>
          </a:p>
          <a:p>
            <a:r>
              <a:rPr lang="en-US" dirty="0" err="1"/>
              <a:t>Cuối</a:t>
            </a:r>
            <a:r>
              <a:rPr lang="en-US" dirty="0"/>
              <a:t> </a:t>
            </a:r>
            <a:r>
              <a:rPr lang="en-US" dirty="0" err="1"/>
              <a:t>cùng</a:t>
            </a:r>
            <a:r>
              <a:rPr lang="en-US" dirty="0"/>
              <a:t> </a:t>
            </a:r>
            <a:r>
              <a:rPr lang="en-US" dirty="0" err="1"/>
              <a:t>là</a:t>
            </a:r>
            <a:r>
              <a:rPr lang="en-US" dirty="0"/>
              <a:t> </a:t>
            </a:r>
            <a:r>
              <a:rPr lang="en-US" b="1" dirty="0"/>
              <a:t>Student</a:t>
            </a:r>
            <a:r>
              <a:rPr lang="en-US" dirty="0"/>
              <a:t>, </a:t>
            </a:r>
            <a:r>
              <a:rPr lang="en-US" dirty="0" err="1"/>
              <a:t>sử</a:t>
            </a:r>
            <a:r>
              <a:rPr lang="en-US" dirty="0"/>
              <a:t> </a:t>
            </a:r>
            <a:r>
              <a:rPr lang="en-US" dirty="0" err="1"/>
              <a:t>dụng</a:t>
            </a:r>
            <a:r>
              <a:rPr lang="en-US" dirty="0"/>
              <a:t> </a:t>
            </a:r>
            <a:r>
              <a:rPr lang="en-US" dirty="0" err="1"/>
              <a:t>hệ</a:t>
            </a:r>
            <a:r>
              <a:rPr lang="en-US" dirty="0"/>
              <a:t> </a:t>
            </a:r>
            <a:r>
              <a:rPr lang="en-US" dirty="0" err="1"/>
              <a:t>thống</a:t>
            </a:r>
            <a:r>
              <a:rPr lang="en-US" dirty="0"/>
              <a:t> </a:t>
            </a:r>
            <a:r>
              <a:rPr lang="en-US" dirty="0" err="1"/>
              <a:t>để</a:t>
            </a:r>
            <a:r>
              <a:rPr lang="en-US" dirty="0"/>
              <a:t> </a:t>
            </a:r>
            <a:r>
              <a:rPr lang="en-US" dirty="0" err="1"/>
              <a:t>tham</a:t>
            </a:r>
            <a:r>
              <a:rPr lang="en-US" dirty="0"/>
              <a:t> </a:t>
            </a:r>
            <a:r>
              <a:rPr lang="en-US" dirty="0" err="1"/>
              <a:t>gia</a:t>
            </a:r>
            <a:r>
              <a:rPr lang="en-US" dirty="0"/>
              <a:t> </a:t>
            </a:r>
            <a:r>
              <a:rPr lang="en-US" dirty="0" err="1"/>
              <a:t>lớp</a:t>
            </a:r>
            <a:r>
              <a:rPr lang="en-US" dirty="0"/>
              <a:t>, </a:t>
            </a:r>
            <a:r>
              <a:rPr lang="en-US" dirty="0" err="1"/>
              <a:t>đăng</a:t>
            </a:r>
            <a:r>
              <a:rPr lang="en-US" dirty="0"/>
              <a:t> </a:t>
            </a:r>
            <a:r>
              <a:rPr lang="en-US" dirty="0" err="1"/>
              <a:t>ký</a:t>
            </a:r>
            <a:r>
              <a:rPr lang="en-US" dirty="0"/>
              <a:t> </a:t>
            </a:r>
            <a:r>
              <a:rPr lang="en-US" dirty="0" err="1"/>
              <a:t>đề</a:t>
            </a:r>
            <a:r>
              <a:rPr lang="en-US" dirty="0"/>
              <a:t> </a:t>
            </a:r>
            <a:r>
              <a:rPr lang="en-US" dirty="0" err="1"/>
              <a:t>tài</a:t>
            </a:r>
            <a:r>
              <a:rPr lang="en-US" dirty="0"/>
              <a:t>, </a:t>
            </a:r>
            <a:r>
              <a:rPr lang="en-US" dirty="0" err="1"/>
              <a:t>quản</a:t>
            </a:r>
            <a:r>
              <a:rPr lang="en-US" dirty="0"/>
              <a:t> </a:t>
            </a:r>
            <a:r>
              <a:rPr lang="en-US" dirty="0" err="1"/>
              <a:t>lý</a:t>
            </a:r>
            <a:r>
              <a:rPr lang="en-US" dirty="0"/>
              <a:t> </a:t>
            </a:r>
            <a:r>
              <a:rPr lang="en-US" dirty="0" err="1"/>
              <a:t>nhóm</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và</a:t>
            </a:r>
            <a:r>
              <a:rPr lang="en-US" dirty="0"/>
              <a:t> </a:t>
            </a:r>
            <a:r>
              <a:rPr lang="en-US" dirty="0" err="1"/>
              <a:t>nộp</a:t>
            </a:r>
            <a:r>
              <a:rPr lang="en-US" dirty="0"/>
              <a:t> </a:t>
            </a:r>
            <a:r>
              <a:rPr lang="en-US" dirty="0" err="1"/>
              <a:t>bài</a:t>
            </a:r>
            <a:r>
              <a:rPr lang="en-US" dirty="0"/>
              <a:t>.</a:t>
            </a:r>
          </a:p>
          <a:p>
            <a:r>
              <a:rPr lang="en-US" dirty="0"/>
              <a:t>Trong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ba</a:t>
            </a:r>
            <a:r>
              <a:rPr lang="en-US" dirty="0"/>
              <a:t> </a:t>
            </a:r>
            <a:r>
              <a:rPr lang="en-US" dirty="0" err="1"/>
              <a:t>vai</a:t>
            </a:r>
            <a:r>
              <a:rPr lang="en-US" dirty="0"/>
              <a:t> </a:t>
            </a:r>
            <a:r>
              <a:rPr lang="en-US" dirty="0" err="1"/>
              <a:t>trò</a:t>
            </a:r>
            <a:r>
              <a:rPr lang="en-US" dirty="0"/>
              <a:t> </a:t>
            </a:r>
            <a:r>
              <a:rPr lang="en-US" dirty="0" err="1"/>
              <a:t>chính</a:t>
            </a:r>
            <a:r>
              <a:rPr lang="en-US" dirty="0"/>
              <a:t> </a:t>
            </a:r>
            <a:r>
              <a:rPr lang="en-US" dirty="0" err="1"/>
              <a:t>này</a:t>
            </a:r>
            <a:r>
              <a:rPr lang="en-US" dirty="0"/>
              <a:t> </a:t>
            </a:r>
            <a:r>
              <a:rPr lang="en-US" dirty="0" err="1"/>
              <a:t>được</a:t>
            </a:r>
            <a:r>
              <a:rPr lang="en-US" dirty="0"/>
              <a:t> </a:t>
            </a:r>
            <a:r>
              <a:rPr lang="en-US" dirty="0" err="1"/>
              <a:t>quản</a:t>
            </a:r>
            <a:r>
              <a:rPr lang="en-US" dirty="0"/>
              <a:t> </a:t>
            </a:r>
            <a:r>
              <a:rPr lang="en-US" dirty="0" err="1"/>
              <a:t>lý</a:t>
            </a:r>
            <a:r>
              <a:rPr lang="en-US" dirty="0"/>
              <a:t> </a:t>
            </a:r>
            <a:r>
              <a:rPr lang="en-US" dirty="0" err="1"/>
              <a:t>thông</a:t>
            </a:r>
            <a:r>
              <a:rPr lang="en-US" dirty="0"/>
              <a:t> qua </a:t>
            </a:r>
            <a:r>
              <a:rPr lang="en-US" dirty="0" err="1"/>
              <a:t>bảng</a:t>
            </a:r>
            <a:r>
              <a:rPr lang="en-US" dirty="0"/>
              <a:t> </a:t>
            </a:r>
            <a:r>
              <a:rPr lang="en-US" b="1" dirty="0"/>
              <a:t>Users</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3</a:t>
            </a:fld>
            <a:endParaRPr lang="en-US"/>
          </a:p>
        </p:txBody>
      </p:sp>
    </p:spTree>
    <p:extLst>
      <p:ext uri="{BB962C8B-B14F-4D97-AF65-F5344CB8AC3E}">
        <p14:creationId xmlns:p14="http://schemas.microsoft.com/office/powerpoint/2010/main" val="2800722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slide </a:t>
            </a:r>
            <a:r>
              <a:rPr lang="en-US" dirty="0" err="1"/>
              <a:t>này</a:t>
            </a:r>
            <a:r>
              <a:rPr lang="en-US" dirty="0"/>
              <a:t> </a:t>
            </a:r>
            <a:r>
              <a:rPr lang="en-US" dirty="0" err="1"/>
              <a:t>là</a:t>
            </a:r>
            <a:r>
              <a:rPr lang="en-US" dirty="0"/>
              <a:t> </a:t>
            </a:r>
            <a:r>
              <a:rPr lang="en-US" b="1" dirty="0" err="1"/>
              <a:t>quy</a:t>
            </a:r>
            <a:r>
              <a:rPr lang="en-US" b="1" dirty="0"/>
              <a:t> </a:t>
            </a:r>
            <a:r>
              <a:rPr lang="en-US" b="1" dirty="0" err="1"/>
              <a:t>trình</a:t>
            </a:r>
            <a:r>
              <a:rPr lang="en-US" b="1" dirty="0"/>
              <a:t> </a:t>
            </a:r>
            <a:r>
              <a:rPr lang="en-US" b="1" dirty="0" err="1"/>
              <a:t>nghiệp</a:t>
            </a:r>
            <a:r>
              <a:rPr lang="en-US" b="1" dirty="0"/>
              <a:t> </a:t>
            </a:r>
            <a:r>
              <a:rPr lang="en-US" b="1" dirty="0" err="1"/>
              <a:t>vụ</a:t>
            </a:r>
            <a:r>
              <a:rPr lang="en-US" b="1" dirty="0"/>
              <a:t> </a:t>
            </a:r>
            <a:r>
              <a:rPr lang="en-US" b="1" dirty="0" err="1"/>
              <a:t>chính</a:t>
            </a:r>
            <a:r>
              <a:rPr lang="en-US" b="1" dirty="0"/>
              <a:t> </a:t>
            </a:r>
            <a:r>
              <a:rPr lang="en-US" b="1" dirty="0" err="1"/>
              <a:t>của</a:t>
            </a:r>
            <a:r>
              <a:rPr lang="en-US" b="1" dirty="0"/>
              <a:t> </a:t>
            </a:r>
            <a:r>
              <a:rPr lang="en-US" b="1" dirty="0" err="1"/>
              <a:t>hệ</a:t>
            </a:r>
            <a:r>
              <a:rPr lang="en-US" b="1" dirty="0"/>
              <a:t> </a:t>
            </a:r>
            <a:r>
              <a:rPr lang="en-US" b="1" dirty="0" err="1"/>
              <a:t>thống</a:t>
            </a:r>
            <a:r>
              <a:rPr lang="en-US" dirty="0"/>
              <a:t>.</a:t>
            </a:r>
          </a:p>
          <a:p>
            <a:r>
              <a:rPr lang="en-US" dirty="0" err="1"/>
              <a:t>Luồng</a:t>
            </a:r>
            <a:r>
              <a:rPr lang="en-US" dirty="0"/>
              <a:t> </a:t>
            </a:r>
            <a:r>
              <a:rPr lang="en-US" dirty="0" err="1"/>
              <a:t>nghiệp</a:t>
            </a:r>
            <a:r>
              <a:rPr lang="en-US" dirty="0"/>
              <a:t> </a:t>
            </a:r>
            <a:r>
              <a:rPr lang="en-US" dirty="0" err="1"/>
              <a:t>vụ</a:t>
            </a:r>
            <a:r>
              <a:rPr lang="en-US" dirty="0"/>
              <a:t> </a:t>
            </a:r>
            <a:r>
              <a:rPr lang="en-US" dirty="0" err="1"/>
              <a:t>bắt</a:t>
            </a:r>
            <a:r>
              <a:rPr lang="en-US" dirty="0"/>
              <a:t> </a:t>
            </a:r>
            <a:r>
              <a:rPr lang="en-US" dirty="0" err="1"/>
              <a:t>đầu</a:t>
            </a:r>
            <a:r>
              <a:rPr lang="en-US" dirty="0"/>
              <a:t> </a:t>
            </a:r>
            <a:r>
              <a:rPr lang="en-US" dirty="0" err="1"/>
              <a:t>từ</a:t>
            </a:r>
            <a:r>
              <a:rPr lang="en-US" dirty="0"/>
              <a:t> </a:t>
            </a:r>
            <a:r>
              <a:rPr lang="en-US" dirty="0" err="1"/>
              <a:t>việc</a:t>
            </a:r>
            <a:r>
              <a:rPr lang="en-US" dirty="0"/>
              <a:t> </a:t>
            </a:r>
            <a:r>
              <a:rPr lang="en-US" dirty="0" err="1"/>
              <a:t>sinh</a:t>
            </a:r>
            <a:r>
              <a:rPr lang="en-US" dirty="0"/>
              <a:t> </a:t>
            </a:r>
            <a:r>
              <a:rPr lang="en-US" dirty="0" err="1"/>
              <a:t>viên</a:t>
            </a:r>
            <a:r>
              <a:rPr lang="en-US" dirty="0"/>
              <a:t> </a:t>
            </a:r>
            <a:r>
              <a:rPr lang="en-US" b="1" dirty="0" err="1"/>
              <a:t>đăng</a:t>
            </a:r>
            <a:r>
              <a:rPr lang="en-US" b="1" dirty="0"/>
              <a:t> </a:t>
            </a:r>
            <a:r>
              <a:rPr lang="en-US" b="1" dirty="0" err="1"/>
              <a:t>nhập</a:t>
            </a:r>
            <a:r>
              <a:rPr lang="en-US" b="1" dirty="0"/>
              <a:t> </a:t>
            </a:r>
            <a:r>
              <a:rPr lang="en-US" b="1" dirty="0" err="1"/>
              <a:t>vào</a:t>
            </a:r>
            <a:r>
              <a:rPr lang="en-US" b="1" dirty="0"/>
              <a:t> </a:t>
            </a:r>
            <a:r>
              <a:rPr lang="en-US" b="1" dirty="0" err="1"/>
              <a:t>hệ</a:t>
            </a:r>
            <a:r>
              <a:rPr lang="en-US" b="1" dirty="0"/>
              <a:t> </a:t>
            </a:r>
            <a:r>
              <a:rPr lang="en-US" b="1" dirty="0" err="1"/>
              <a:t>thống</a:t>
            </a:r>
            <a:r>
              <a:rPr lang="en-US" dirty="0"/>
              <a:t>.</a:t>
            </a:r>
          </a:p>
          <a:p>
            <a:r>
              <a:rPr lang="en-US" dirty="0"/>
              <a:t>Sau </a:t>
            </a:r>
            <a:r>
              <a:rPr lang="en-US" dirty="0" err="1"/>
              <a:t>khi</a:t>
            </a:r>
            <a:r>
              <a:rPr lang="en-US" dirty="0"/>
              <a:t> </a:t>
            </a:r>
            <a:r>
              <a:rPr lang="en-US" dirty="0" err="1"/>
              <a:t>đăng</a:t>
            </a:r>
            <a:r>
              <a:rPr lang="en-US" dirty="0"/>
              <a:t> </a:t>
            </a:r>
            <a:r>
              <a:rPr lang="en-US" dirty="0" err="1"/>
              <a:t>nhập</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thể</a:t>
            </a:r>
            <a:r>
              <a:rPr lang="en-US" dirty="0"/>
              <a:t> </a:t>
            </a:r>
            <a:r>
              <a:rPr lang="en-US" dirty="0" err="1"/>
              <a:t>tham</a:t>
            </a:r>
            <a:r>
              <a:rPr lang="en-US" dirty="0"/>
              <a:t> </a:t>
            </a:r>
            <a:r>
              <a:rPr lang="en-US" dirty="0" err="1"/>
              <a:t>gia</a:t>
            </a:r>
            <a:r>
              <a:rPr lang="en-US" dirty="0"/>
              <a:t> </a:t>
            </a:r>
            <a:r>
              <a:rPr lang="en-US" dirty="0" err="1"/>
              <a:t>lớp</a:t>
            </a:r>
            <a:r>
              <a:rPr lang="en-US" dirty="0"/>
              <a:t>, </a:t>
            </a:r>
            <a:r>
              <a:rPr lang="en-US" dirty="0" err="1"/>
              <a:t>xem</a:t>
            </a:r>
            <a:r>
              <a:rPr lang="en-US" dirty="0"/>
              <a:t> </a:t>
            </a:r>
            <a:r>
              <a:rPr lang="en-US" dirty="0" err="1"/>
              <a:t>các</a:t>
            </a:r>
            <a:r>
              <a:rPr lang="en-US" dirty="0"/>
              <a:t> </a:t>
            </a:r>
            <a:r>
              <a:rPr lang="en-US" dirty="0" err="1"/>
              <a:t>đề</a:t>
            </a:r>
            <a:r>
              <a:rPr lang="en-US" dirty="0"/>
              <a:t> </a:t>
            </a:r>
            <a:r>
              <a:rPr lang="en-US" dirty="0" err="1"/>
              <a:t>tài</a:t>
            </a:r>
            <a:r>
              <a:rPr lang="en-US" dirty="0"/>
              <a:t> </a:t>
            </a:r>
            <a:r>
              <a:rPr lang="en-US" dirty="0" err="1"/>
              <a:t>và</a:t>
            </a:r>
            <a:r>
              <a:rPr lang="en-US" dirty="0"/>
              <a:t> </a:t>
            </a:r>
            <a:r>
              <a:rPr lang="en-US" dirty="0" err="1"/>
              <a:t>đăng</a:t>
            </a:r>
            <a:r>
              <a:rPr lang="en-US" dirty="0"/>
              <a:t> </a:t>
            </a:r>
            <a:r>
              <a:rPr lang="en-US" dirty="0" err="1"/>
              <a:t>ký</a:t>
            </a:r>
            <a:r>
              <a:rPr lang="en-US" dirty="0"/>
              <a:t> </a:t>
            </a:r>
            <a:r>
              <a:rPr lang="en-US" dirty="0" err="1"/>
              <a:t>đề</a:t>
            </a:r>
            <a:r>
              <a:rPr lang="en-US" dirty="0"/>
              <a:t> </a:t>
            </a:r>
            <a:r>
              <a:rPr lang="en-US" dirty="0" err="1"/>
              <a:t>tài</a:t>
            </a:r>
            <a:r>
              <a:rPr lang="en-US" dirty="0"/>
              <a:t> </a:t>
            </a:r>
            <a:r>
              <a:rPr lang="en-US" dirty="0" err="1"/>
              <a:t>phù</a:t>
            </a:r>
            <a:r>
              <a:rPr lang="en-US" dirty="0"/>
              <a:t> </a:t>
            </a:r>
            <a:r>
              <a:rPr lang="en-US" dirty="0" err="1"/>
              <a:t>hợp</a:t>
            </a:r>
            <a:r>
              <a:rPr lang="en-US" dirty="0"/>
              <a:t>.</a:t>
            </a:r>
          </a:p>
          <a:p>
            <a:r>
              <a:rPr lang="en-US" dirty="0" err="1"/>
              <a:t>Tiếp</a:t>
            </a:r>
            <a:r>
              <a:rPr lang="en-US" dirty="0"/>
              <a:t> </a:t>
            </a:r>
            <a:r>
              <a:rPr lang="en-US" dirty="0" err="1"/>
              <a:t>theo</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hoặc</a:t>
            </a:r>
            <a:r>
              <a:rPr lang="en-US" dirty="0"/>
              <a:t> </a:t>
            </a:r>
            <a:r>
              <a:rPr lang="en-US" dirty="0" err="1"/>
              <a:t>tham</a:t>
            </a:r>
            <a:r>
              <a:rPr lang="en-US" dirty="0"/>
              <a:t> </a:t>
            </a:r>
            <a:r>
              <a:rPr lang="en-US" dirty="0" err="1"/>
              <a:t>gia</a:t>
            </a:r>
            <a:r>
              <a:rPr lang="en-US" dirty="0"/>
              <a:t> </a:t>
            </a:r>
            <a:r>
              <a:rPr lang="en-US" dirty="0" err="1"/>
              <a:t>nhóm</a:t>
            </a:r>
            <a:r>
              <a:rPr lang="en-US" dirty="0"/>
              <a:t> </a:t>
            </a:r>
            <a:r>
              <a:rPr lang="en-US" dirty="0" err="1"/>
              <a:t>để</a:t>
            </a:r>
            <a:r>
              <a:rPr lang="en-US" dirty="0"/>
              <a:t> </a:t>
            </a:r>
            <a:r>
              <a:rPr lang="en-US" dirty="0" err="1"/>
              <a:t>thực</a:t>
            </a:r>
            <a:r>
              <a:rPr lang="en-US" dirty="0"/>
              <a:t> </a:t>
            </a:r>
            <a:r>
              <a:rPr lang="en-US" dirty="0" err="1"/>
              <a:t>hiện</a:t>
            </a:r>
            <a:r>
              <a:rPr lang="en-US" dirty="0"/>
              <a:t> </a:t>
            </a:r>
            <a:r>
              <a:rPr lang="en-US" dirty="0" err="1"/>
              <a:t>đồ</a:t>
            </a:r>
            <a:r>
              <a:rPr lang="en-US" dirty="0"/>
              <a:t> </a:t>
            </a:r>
            <a:r>
              <a:rPr lang="en-US" dirty="0" err="1"/>
              <a:t>án</a:t>
            </a:r>
            <a:r>
              <a:rPr lang="en-US" dirty="0"/>
              <a:t>.</a:t>
            </a:r>
          </a:p>
          <a:p>
            <a:r>
              <a:rPr lang="en-US" dirty="0"/>
              <a:t>Trong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nhóm</a:t>
            </a:r>
            <a:r>
              <a:rPr lang="en-US" dirty="0"/>
              <a:t> </a:t>
            </a:r>
            <a:r>
              <a:rPr lang="en-US" dirty="0" err="1"/>
              <a:t>theo</a:t>
            </a:r>
            <a:r>
              <a:rPr lang="en-US" dirty="0"/>
              <a:t> </a:t>
            </a:r>
            <a:r>
              <a:rPr lang="en-US" dirty="0" err="1"/>
              <a:t>dõi</a:t>
            </a:r>
            <a:r>
              <a:rPr lang="en-US" dirty="0"/>
              <a:t> </a:t>
            </a:r>
            <a:r>
              <a:rPr lang="en-US" dirty="0" err="1"/>
              <a:t>các</a:t>
            </a:r>
            <a:r>
              <a:rPr lang="en-US" dirty="0"/>
              <a:t> </a:t>
            </a:r>
            <a:r>
              <a:rPr lang="en-US" dirty="0" err="1"/>
              <a:t>mốc</a:t>
            </a:r>
            <a:r>
              <a:rPr lang="en-US" dirty="0"/>
              <a:t> </a:t>
            </a:r>
            <a:r>
              <a:rPr lang="en-US" dirty="0" err="1"/>
              <a:t>tiến</a:t>
            </a:r>
            <a:r>
              <a:rPr lang="en-US" dirty="0"/>
              <a:t> </a:t>
            </a:r>
            <a:r>
              <a:rPr lang="en-US" dirty="0" err="1"/>
              <a:t>độ</a:t>
            </a:r>
            <a:r>
              <a:rPr lang="en-US" dirty="0"/>
              <a:t> </a:t>
            </a:r>
            <a:r>
              <a:rPr lang="en-US" dirty="0" err="1"/>
              <a:t>và</a:t>
            </a:r>
            <a:r>
              <a:rPr lang="en-US" dirty="0"/>
              <a:t> </a:t>
            </a:r>
            <a:r>
              <a:rPr lang="en-US" dirty="0" err="1"/>
              <a:t>thực</a:t>
            </a:r>
            <a:r>
              <a:rPr lang="en-US" dirty="0"/>
              <a:t> </a:t>
            </a:r>
            <a:r>
              <a:rPr lang="en-US" dirty="0" err="1"/>
              <a:t>hiện</a:t>
            </a:r>
            <a:r>
              <a:rPr lang="en-US" dirty="0"/>
              <a:t> </a:t>
            </a:r>
            <a:r>
              <a:rPr lang="en-US" dirty="0" err="1"/>
              <a:t>nộp</a:t>
            </a:r>
            <a:r>
              <a:rPr lang="en-US" dirty="0"/>
              <a:t> </a:t>
            </a:r>
            <a:r>
              <a:rPr lang="en-US" dirty="0" err="1"/>
              <a:t>các</a:t>
            </a:r>
            <a:r>
              <a:rPr lang="en-US" dirty="0"/>
              <a:t> </a:t>
            </a:r>
            <a:r>
              <a:rPr lang="en-US" dirty="0" err="1"/>
              <a:t>báo</a:t>
            </a:r>
            <a:r>
              <a:rPr lang="en-US" dirty="0"/>
              <a:t> </a:t>
            </a:r>
            <a:r>
              <a:rPr lang="en-US" dirty="0" err="1"/>
              <a:t>cáo</a:t>
            </a:r>
            <a:r>
              <a:rPr lang="en-US" dirty="0"/>
              <a:t> </a:t>
            </a:r>
            <a:r>
              <a:rPr lang="en-US" dirty="0" err="1"/>
              <a:t>theo</a:t>
            </a:r>
            <a:r>
              <a:rPr lang="en-US" dirty="0"/>
              <a:t> </a:t>
            </a:r>
            <a:r>
              <a:rPr lang="en-US" dirty="0" err="1"/>
              <a:t>yêu</a:t>
            </a:r>
            <a:r>
              <a:rPr lang="en-US" dirty="0"/>
              <a:t> </a:t>
            </a:r>
            <a:r>
              <a:rPr lang="en-US" dirty="0" err="1"/>
              <a:t>cầu</a:t>
            </a:r>
            <a:r>
              <a:rPr lang="en-US" dirty="0"/>
              <a:t>.</a:t>
            </a:r>
          </a:p>
          <a:p>
            <a:r>
              <a:rPr lang="en-US" dirty="0" err="1"/>
              <a:t>Cuối</a:t>
            </a:r>
            <a:r>
              <a:rPr lang="en-US" dirty="0"/>
              <a:t> </a:t>
            </a:r>
            <a:r>
              <a:rPr lang="en-US" dirty="0" err="1"/>
              <a:t>cùng</a:t>
            </a:r>
            <a:r>
              <a:rPr lang="en-US" dirty="0"/>
              <a:t> </a:t>
            </a:r>
            <a:r>
              <a:rPr lang="en-US" dirty="0" err="1"/>
              <a:t>là</a:t>
            </a:r>
            <a:r>
              <a:rPr lang="en-US" dirty="0"/>
              <a:t> </a:t>
            </a:r>
            <a:r>
              <a:rPr lang="en-US" b="1" dirty="0" err="1"/>
              <a:t>nộp</a:t>
            </a:r>
            <a:r>
              <a:rPr lang="en-US" b="1" dirty="0"/>
              <a:t> </a:t>
            </a:r>
            <a:r>
              <a:rPr lang="en-US" b="1" dirty="0" err="1"/>
              <a:t>đồ</a:t>
            </a:r>
            <a:r>
              <a:rPr lang="en-US" b="1" dirty="0"/>
              <a:t> </a:t>
            </a:r>
            <a:r>
              <a:rPr lang="en-US" b="1" dirty="0" err="1"/>
              <a:t>án</a:t>
            </a:r>
            <a:r>
              <a:rPr lang="en-US" b="1" dirty="0"/>
              <a:t> </a:t>
            </a:r>
            <a:r>
              <a:rPr lang="en-US" b="1" dirty="0" err="1"/>
              <a:t>cuối</a:t>
            </a:r>
            <a:r>
              <a:rPr lang="en-US" b="1" dirty="0"/>
              <a:t> </a:t>
            </a:r>
            <a:r>
              <a:rPr lang="en-US" b="1" dirty="0" err="1"/>
              <a:t>kỳ</a:t>
            </a:r>
            <a:r>
              <a:rPr lang="en-US" dirty="0"/>
              <a:t> </a:t>
            </a:r>
            <a:r>
              <a:rPr lang="en-US" dirty="0" err="1"/>
              <a:t>và</a:t>
            </a:r>
            <a:r>
              <a:rPr lang="en-US" dirty="0"/>
              <a:t> </a:t>
            </a:r>
            <a:r>
              <a:rPr lang="en-US" dirty="0" err="1"/>
              <a:t>nhận</a:t>
            </a:r>
            <a:r>
              <a:rPr lang="en-US" dirty="0"/>
              <a:t> </a:t>
            </a:r>
            <a:r>
              <a:rPr lang="en-US" dirty="0" err="1"/>
              <a:t>đánh</a:t>
            </a:r>
            <a:r>
              <a:rPr lang="en-US" dirty="0"/>
              <a:t> </a:t>
            </a:r>
            <a:r>
              <a:rPr lang="en-US" dirty="0" err="1"/>
              <a:t>giá</a:t>
            </a:r>
            <a:r>
              <a:rPr lang="en-US" dirty="0"/>
              <a:t> </a:t>
            </a:r>
            <a:r>
              <a:rPr lang="en-US" dirty="0" err="1"/>
              <a:t>từ</a:t>
            </a:r>
            <a:r>
              <a:rPr lang="en-US" dirty="0"/>
              <a:t> </a:t>
            </a:r>
            <a:r>
              <a:rPr lang="en-US" dirty="0" err="1"/>
              <a:t>giảng</a:t>
            </a:r>
            <a:r>
              <a:rPr lang="en-US" dirty="0"/>
              <a:t> </a:t>
            </a:r>
            <a:r>
              <a:rPr lang="en-US" dirty="0" err="1"/>
              <a:t>viên</a:t>
            </a:r>
            <a:r>
              <a:rPr lang="en-US" dirty="0"/>
              <a:t>.</a:t>
            </a:r>
          </a:p>
          <a:p>
            <a:r>
              <a:rPr lang="en-US" dirty="0"/>
              <a:t>Như </a:t>
            </a:r>
            <a:r>
              <a:rPr lang="en-US" dirty="0" err="1"/>
              <a:t>vậy</a:t>
            </a:r>
            <a:r>
              <a:rPr lang="en-US" dirty="0"/>
              <a:t>, </a:t>
            </a:r>
            <a:r>
              <a:rPr lang="en-US" dirty="0" err="1"/>
              <a:t>hệ</a:t>
            </a:r>
            <a:r>
              <a:rPr lang="en-US" dirty="0"/>
              <a:t> </a:t>
            </a:r>
            <a:r>
              <a:rPr lang="en-US" dirty="0" err="1"/>
              <a:t>thống</a:t>
            </a:r>
            <a:r>
              <a:rPr lang="en-US" dirty="0"/>
              <a:t> bao </a:t>
            </a:r>
            <a:r>
              <a:rPr lang="en-US" dirty="0" err="1"/>
              <a:t>quát</a:t>
            </a:r>
            <a:r>
              <a:rPr lang="en-US" dirty="0"/>
              <a:t> </a:t>
            </a:r>
            <a:r>
              <a:rPr lang="en-US" dirty="0" err="1"/>
              <a:t>xuyên</a:t>
            </a:r>
            <a:r>
              <a:rPr lang="en-US" dirty="0"/>
              <a:t> </a:t>
            </a:r>
            <a:r>
              <a:rPr lang="en-US" dirty="0" err="1"/>
              <a:t>suốt</a:t>
            </a:r>
            <a:r>
              <a:rPr lang="en-US" dirty="0"/>
              <a:t> </a:t>
            </a:r>
            <a:r>
              <a:rPr lang="en-US" dirty="0" err="1"/>
              <a:t>quá</a:t>
            </a:r>
            <a:r>
              <a:rPr lang="en-US" dirty="0"/>
              <a:t> </a:t>
            </a:r>
            <a:r>
              <a:rPr lang="en-US" dirty="0" err="1"/>
              <a:t>trình</a:t>
            </a:r>
            <a:r>
              <a:rPr lang="en-US" dirty="0"/>
              <a:t> </a:t>
            </a:r>
            <a:r>
              <a:rPr lang="en-US" dirty="0" err="1"/>
              <a:t>từ</a:t>
            </a:r>
            <a:r>
              <a:rPr lang="en-US" dirty="0"/>
              <a:t> </a:t>
            </a:r>
            <a:r>
              <a:rPr lang="en-US" dirty="0" err="1"/>
              <a:t>lúc</a:t>
            </a:r>
            <a:r>
              <a:rPr lang="en-US" dirty="0"/>
              <a:t> </a:t>
            </a:r>
            <a:r>
              <a:rPr lang="en-US" dirty="0" err="1"/>
              <a:t>bắt</a:t>
            </a:r>
            <a:r>
              <a:rPr lang="en-US" dirty="0"/>
              <a:t> </a:t>
            </a:r>
            <a:r>
              <a:rPr lang="en-US" dirty="0" err="1"/>
              <a:t>đầu</a:t>
            </a:r>
            <a:r>
              <a:rPr lang="en-US" dirty="0"/>
              <a:t> </a:t>
            </a:r>
            <a:r>
              <a:rPr lang="en-US" dirty="0" err="1"/>
              <a:t>đăng</a:t>
            </a:r>
            <a:r>
              <a:rPr lang="en-US" dirty="0"/>
              <a:t> </a:t>
            </a:r>
            <a:r>
              <a:rPr lang="en-US" dirty="0" err="1"/>
              <a:t>ký</a:t>
            </a:r>
            <a:r>
              <a:rPr lang="en-US" dirty="0"/>
              <a:t> </a:t>
            </a:r>
            <a:r>
              <a:rPr lang="en-US" dirty="0" err="1"/>
              <a:t>cho</a:t>
            </a:r>
            <a:r>
              <a:rPr lang="en-US" dirty="0"/>
              <a:t> </a:t>
            </a:r>
            <a:r>
              <a:rPr lang="en-US" dirty="0" err="1"/>
              <a:t>đến</a:t>
            </a:r>
            <a:r>
              <a:rPr lang="en-US" dirty="0"/>
              <a:t> </a:t>
            </a:r>
            <a:r>
              <a:rPr lang="en-US" dirty="0" err="1"/>
              <a:t>khi</a:t>
            </a:r>
            <a:r>
              <a:rPr lang="en-US" dirty="0"/>
              <a:t> </a:t>
            </a:r>
            <a:r>
              <a:rPr lang="en-US" dirty="0" err="1"/>
              <a:t>hoàn</a:t>
            </a:r>
            <a:r>
              <a:rPr lang="en-US" dirty="0"/>
              <a:t> </a:t>
            </a:r>
            <a:r>
              <a:rPr lang="en-US" dirty="0" err="1"/>
              <a:t>thành</a:t>
            </a:r>
            <a:r>
              <a:rPr lang="en-US" dirty="0"/>
              <a:t> </a:t>
            </a:r>
            <a:r>
              <a:rPr lang="en-US" dirty="0" err="1"/>
              <a:t>đồ</a:t>
            </a:r>
            <a:r>
              <a:rPr lang="en-US" dirty="0"/>
              <a:t> </a:t>
            </a:r>
            <a:r>
              <a:rPr lang="en-US" dirty="0" err="1"/>
              <a:t>án</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4</a:t>
            </a:fld>
            <a:endParaRPr lang="en-US"/>
          </a:p>
        </p:txBody>
      </p:sp>
    </p:spTree>
    <p:extLst>
      <p:ext uri="{BB962C8B-B14F-4D97-AF65-F5344CB8AC3E}">
        <p14:creationId xmlns:p14="http://schemas.microsoft.com/office/powerpoint/2010/main" val="3795625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được</a:t>
            </a:r>
            <a:r>
              <a:rPr lang="en-US" dirty="0"/>
              <a:t> </a:t>
            </a:r>
            <a:r>
              <a:rPr lang="en-US" dirty="0" err="1"/>
              <a:t>phân</a:t>
            </a:r>
            <a:r>
              <a:rPr lang="en-US" dirty="0"/>
              <a:t> chia </a:t>
            </a:r>
            <a:r>
              <a:rPr lang="en-US" dirty="0" err="1"/>
              <a:t>theo</a:t>
            </a:r>
            <a:r>
              <a:rPr lang="en-US" dirty="0"/>
              <a:t> </a:t>
            </a:r>
            <a:r>
              <a:rPr lang="en-US" dirty="0" err="1"/>
              <a:t>từng</a:t>
            </a:r>
            <a:r>
              <a:rPr lang="en-US" dirty="0"/>
              <a:t> </a:t>
            </a:r>
            <a:r>
              <a:rPr lang="en-US" dirty="0" err="1"/>
              <a:t>đối</a:t>
            </a:r>
            <a:r>
              <a:rPr lang="en-US" dirty="0"/>
              <a:t> </a:t>
            </a:r>
            <a:r>
              <a:rPr lang="en-US" dirty="0" err="1"/>
              <a:t>tượng</a:t>
            </a:r>
            <a:r>
              <a:rPr lang="en-US" dirty="0"/>
              <a:t>.</a:t>
            </a:r>
          </a:p>
          <a:p>
            <a:r>
              <a:rPr lang="en-US" dirty="0" err="1"/>
              <a:t>Đối</a:t>
            </a:r>
            <a:r>
              <a:rPr lang="en-US" dirty="0"/>
              <a:t> </a:t>
            </a:r>
            <a:r>
              <a:rPr lang="en-US" dirty="0" err="1"/>
              <a:t>với</a:t>
            </a:r>
            <a:r>
              <a:rPr lang="en-US" dirty="0"/>
              <a:t> </a:t>
            </a:r>
            <a:r>
              <a:rPr lang="en-US" b="1" dirty="0"/>
              <a:t>Student</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thể</a:t>
            </a:r>
            <a:r>
              <a:rPr lang="en-US" dirty="0"/>
              <a:t> </a:t>
            </a:r>
            <a:r>
              <a:rPr lang="en-US" dirty="0" err="1"/>
              <a:t>đăng</a:t>
            </a:r>
            <a:r>
              <a:rPr lang="en-US" dirty="0"/>
              <a:t> </a:t>
            </a:r>
            <a:r>
              <a:rPr lang="en-US" dirty="0" err="1"/>
              <a:t>nhập</a:t>
            </a:r>
            <a:r>
              <a:rPr lang="en-US" dirty="0"/>
              <a:t>, </a:t>
            </a:r>
            <a:r>
              <a:rPr lang="en-US" dirty="0" err="1"/>
              <a:t>tham</a:t>
            </a:r>
            <a:r>
              <a:rPr lang="en-US" dirty="0"/>
              <a:t> </a:t>
            </a:r>
            <a:r>
              <a:rPr lang="en-US" dirty="0" err="1"/>
              <a:t>gia</a:t>
            </a:r>
            <a:r>
              <a:rPr lang="en-US" dirty="0"/>
              <a:t> </a:t>
            </a:r>
            <a:r>
              <a:rPr lang="en-US" dirty="0" err="1"/>
              <a:t>lớp</a:t>
            </a:r>
            <a:r>
              <a:rPr lang="en-US" dirty="0"/>
              <a:t>, </a:t>
            </a:r>
            <a:r>
              <a:rPr lang="en-US" dirty="0" err="1"/>
              <a:t>xem</a:t>
            </a:r>
            <a:r>
              <a:rPr lang="en-US" dirty="0"/>
              <a:t> </a:t>
            </a:r>
            <a:r>
              <a:rPr lang="en-US" dirty="0" err="1"/>
              <a:t>và</a:t>
            </a:r>
            <a:r>
              <a:rPr lang="en-US" dirty="0"/>
              <a:t> </a:t>
            </a:r>
            <a:r>
              <a:rPr lang="en-US" dirty="0" err="1"/>
              <a:t>đăng</a:t>
            </a:r>
            <a:r>
              <a:rPr lang="en-US" dirty="0"/>
              <a:t> </a:t>
            </a:r>
            <a:r>
              <a:rPr lang="en-US" dirty="0" err="1"/>
              <a:t>ký</a:t>
            </a:r>
            <a:r>
              <a:rPr lang="en-US" dirty="0"/>
              <a:t> </a:t>
            </a:r>
            <a:r>
              <a:rPr lang="en-US" dirty="0" err="1"/>
              <a:t>đề</a:t>
            </a:r>
            <a:r>
              <a:rPr lang="en-US" dirty="0"/>
              <a:t> </a:t>
            </a:r>
            <a:r>
              <a:rPr lang="en-US" dirty="0" err="1"/>
              <a:t>tài</a:t>
            </a:r>
            <a:r>
              <a:rPr lang="en-US" dirty="0"/>
              <a:t>, </a:t>
            </a:r>
            <a:r>
              <a:rPr lang="en-US" dirty="0" err="1"/>
              <a:t>quản</a:t>
            </a:r>
            <a:r>
              <a:rPr lang="en-US" dirty="0"/>
              <a:t> </a:t>
            </a:r>
            <a:r>
              <a:rPr lang="en-US" dirty="0" err="1"/>
              <a:t>lý</a:t>
            </a:r>
            <a:r>
              <a:rPr lang="en-US" dirty="0"/>
              <a:t> </a:t>
            </a:r>
            <a:r>
              <a:rPr lang="en-US" dirty="0" err="1"/>
              <a:t>nhóm</a:t>
            </a:r>
            <a:r>
              <a:rPr lang="en-US" dirty="0"/>
              <a:t>, </a:t>
            </a:r>
            <a:r>
              <a:rPr lang="en-US" dirty="0" err="1"/>
              <a:t>theo</a:t>
            </a:r>
            <a:r>
              <a:rPr lang="en-US" dirty="0"/>
              <a:t> </a:t>
            </a:r>
            <a:r>
              <a:rPr lang="en-US" dirty="0" err="1"/>
              <a:t>dõi</a:t>
            </a:r>
            <a:r>
              <a:rPr lang="en-US" dirty="0"/>
              <a:t> milestone, </a:t>
            </a:r>
            <a:r>
              <a:rPr lang="en-US" dirty="0" err="1"/>
              <a:t>nộp</a:t>
            </a:r>
            <a:r>
              <a:rPr lang="en-US" dirty="0"/>
              <a:t> </a:t>
            </a:r>
            <a:r>
              <a:rPr lang="en-US" dirty="0" err="1"/>
              <a:t>báo</a:t>
            </a:r>
            <a:r>
              <a:rPr lang="en-US" dirty="0"/>
              <a:t> </a:t>
            </a:r>
            <a:r>
              <a:rPr lang="en-US" dirty="0" err="1"/>
              <a:t>cáo</a:t>
            </a:r>
            <a:r>
              <a:rPr lang="en-US" dirty="0"/>
              <a:t> </a:t>
            </a:r>
            <a:r>
              <a:rPr lang="en-US" dirty="0" err="1"/>
              <a:t>và</a:t>
            </a:r>
            <a:r>
              <a:rPr lang="en-US" dirty="0"/>
              <a:t> </a:t>
            </a:r>
            <a:r>
              <a:rPr lang="en-US" dirty="0" err="1"/>
              <a:t>đồ</a:t>
            </a:r>
            <a:r>
              <a:rPr lang="en-US" dirty="0"/>
              <a:t> </a:t>
            </a:r>
            <a:r>
              <a:rPr lang="en-US" dirty="0" err="1"/>
              <a:t>án</a:t>
            </a:r>
            <a:r>
              <a:rPr lang="en-US" dirty="0"/>
              <a:t>, </a:t>
            </a:r>
            <a:r>
              <a:rPr lang="en-US" dirty="0" err="1"/>
              <a:t>đồng</a:t>
            </a:r>
            <a:r>
              <a:rPr lang="en-US" dirty="0"/>
              <a:t> </a:t>
            </a:r>
            <a:r>
              <a:rPr lang="en-US" dirty="0" err="1"/>
              <a:t>thời</a:t>
            </a:r>
            <a:r>
              <a:rPr lang="en-US" dirty="0"/>
              <a:t> </a:t>
            </a:r>
            <a:r>
              <a:rPr lang="en-US" dirty="0" err="1"/>
              <a:t>xem</a:t>
            </a:r>
            <a:r>
              <a:rPr lang="en-US" dirty="0"/>
              <a:t> </a:t>
            </a:r>
            <a:r>
              <a:rPr lang="en-US" dirty="0" err="1"/>
              <a:t>điểm</a:t>
            </a:r>
            <a:r>
              <a:rPr lang="en-US" dirty="0"/>
              <a:t> </a:t>
            </a:r>
            <a:r>
              <a:rPr lang="en-US" dirty="0" err="1"/>
              <a:t>và</a:t>
            </a:r>
            <a:r>
              <a:rPr lang="en-US" dirty="0"/>
              <a:t> </a:t>
            </a:r>
            <a:r>
              <a:rPr lang="en-US" dirty="0" err="1"/>
              <a:t>phản</a:t>
            </a:r>
            <a:r>
              <a:rPr lang="en-US" dirty="0"/>
              <a:t> </a:t>
            </a:r>
            <a:r>
              <a:rPr lang="en-US" dirty="0" err="1"/>
              <a:t>hồi</a:t>
            </a:r>
            <a:r>
              <a:rPr lang="en-US" dirty="0"/>
              <a:t>.</a:t>
            </a:r>
          </a:p>
          <a:p>
            <a:r>
              <a:rPr lang="en-US" dirty="0" err="1"/>
              <a:t>Đối</a:t>
            </a:r>
            <a:r>
              <a:rPr lang="en-US" dirty="0"/>
              <a:t> </a:t>
            </a:r>
            <a:r>
              <a:rPr lang="en-US" dirty="0" err="1"/>
              <a:t>với</a:t>
            </a:r>
            <a:r>
              <a:rPr lang="en-US" dirty="0"/>
              <a:t> </a:t>
            </a:r>
            <a:r>
              <a:rPr lang="en-US" b="1" dirty="0"/>
              <a:t>Teacher</a:t>
            </a:r>
            <a:r>
              <a:rPr lang="en-US" dirty="0"/>
              <a:t>, </a:t>
            </a:r>
            <a:r>
              <a:rPr lang="en-US" dirty="0" err="1"/>
              <a:t>giảng</a:t>
            </a:r>
            <a:r>
              <a:rPr lang="en-US" dirty="0"/>
              <a:t> </a:t>
            </a:r>
            <a:r>
              <a:rPr lang="en-US" dirty="0" err="1"/>
              <a:t>viên</a:t>
            </a:r>
            <a:r>
              <a:rPr lang="en-US" dirty="0"/>
              <a:t> </a:t>
            </a:r>
            <a:r>
              <a:rPr lang="en-US" dirty="0" err="1"/>
              <a:t>có</a:t>
            </a:r>
            <a:r>
              <a:rPr lang="en-US" dirty="0"/>
              <a:t> </a:t>
            </a:r>
            <a:r>
              <a:rPr lang="en-US" dirty="0" err="1"/>
              <a:t>thể</a:t>
            </a:r>
            <a:r>
              <a:rPr lang="en-US" dirty="0"/>
              <a:t> </a:t>
            </a:r>
            <a:r>
              <a:rPr lang="en-US" dirty="0" err="1"/>
              <a:t>quản</a:t>
            </a:r>
            <a:r>
              <a:rPr lang="en-US" dirty="0"/>
              <a:t> </a:t>
            </a:r>
            <a:r>
              <a:rPr lang="en-US" dirty="0" err="1"/>
              <a:t>lý</a:t>
            </a:r>
            <a:r>
              <a:rPr lang="en-US" dirty="0"/>
              <a:t> </a:t>
            </a:r>
            <a:r>
              <a:rPr lang="en-US" dirty="0" err="1"/>
              <a:t>lớp</a:t>
            </a:r>
            <a:r>
              <a:rPr lang="en-US" dirty="0"/>
              <a:t>, </a:t>
            </a:r>
            <a:r>
              <a:rPr lang="en-US" dirty="0" err="1"/>
              <a:t>quản</a:t>
            </a:r>
            <a:r>
              <a:rPr lang="en-US" dirty="0"/>
              <a:t> </a:t>
            </a:r>
            <a:r>
              <a:rPr lang="en-US" dirty="0" err="1"/>
              <a:t>lý</a:t>
            </a:r>
            <a:r>
              <a:rPr lang="en-US" dirty="0"/>
              <a:t> </a:t>
            </a:r>
            <a:r>
              <a:rPr lang="en-US" dirty="0" err="1"/>
              <a:t>đề</a:t>
            </a:r>
            <a:r>
              <a:rPr lang="en-US" dirty="0"/>
              <a:t> </a:t>
            </a:r>
            <a:r>
              <a:rPr lang="en-US" dirty="0" err="1"/>
              <a:t>tài</a:t>
            </a:r>
            <a:r>
              <a:rPr lang="en-US" dirty="0"/>
              <a:t>, </a:t>
            </a:r>
            <a:r>
              <a:rPr lang="en-US" dirty="0" err="1"/>
              <a:t>duyệt</a:t>
            </a:r>
            <a:r>
              <a:rPr lang="en-US" dirty="0"/>
              <a:t> </a:t>
            </a:r>
            <a:r>
              <a:rPr lang="en-US" dirty="0" err="1"/>
              <a:t>đăng</a:t>
            </a:r>
            <a:r>
              <a:rPr lang="en-US" dirty="0"/>
              <a:t> </a:t>
            </a:r>
            <a:r>
              <a:rPr lang="en-US" dirty="0" err="1"/>
              <a:t>ký</a:t>
            </a:r>
            <a:r>
              <a:rPr lang="en-US" dirty="0"/>
              <a:t>, </a:t>
            </a:r>
            <a:r>
              <a:rPr lang="en-US" dirty="0" err="1"/>
              <a:t>quản</a:t>
            </a:r>
            <a:r>
              <a:rPr lang="en-US" dirty="0"/>
              <a:t> </a:t>
            </a:r>
            <a:r>
              <a:rPr lang="en-US" dirty="0" err="1"/>
              <a:t>lý</a:t>
            </a:r>
            <a:r>
              <a:rPr lang="en-US" dirty="0"/>
              <a:t> </a:t>
            </a:r>
            <a:r>
              <a:rPr lang="en-US" dirty="0" err="1"/>
              <a:t>nhóm</a:t>
            </a:r>
            <a:r>
              <a:rPr lang="en-US" dirty="0"/>
              <a:t>, </a:t>
            </a:r>
            <a:r>
              <a:rPr lang="en-US" dirty="0" err="1"/>
              <a:t>quản</a:t>
            </a:r>
            <a:r>
              <a:rPr lang="en-US" dirty="0"/>
              <a:t> </a:t>
            </a:r>
            <a:r>
              <a:rPr lang="en-US" dirty="0" err="1"/>
              <a:t>lý</a:t>
            </a:r>
            <a:r>
              <a:rPr lang="en-US" dirty="0"/>
              <a:t> </a:t>
            </a:r>
            <a:r>
              <a:rPr lang="en-US" dirty="0" err="1"/>
              <a:t>tiến</a:t>
            </a:r>
            <a:r>
              <a:rPr lang="en-US" dirty="0"/>
              <a:t> </a:t>
            </a:r>
            <a:r>
              <a:rPr lang="en-US" dirty="0" err="1"/>
              <a:t>độ</a:t>
            </a:r>
            <a:r>
              <a:rPr lang="en-US" dirty="0"/>
              <a:t> </a:t>
            </a:r>
            <a:r>
              <a:rPr lang="en-US" dirty="0" err="1"/>
              <a:t>và</a:t>
            </a:r>
            <a:r>
              <a:rPr lang="en-US" dirty="0"/>
              <a:t> </a:t>
            </a:r>
            <a:r>
              <a:rPr lang="en-US" dirty="0" err="1"/>
              <a:t>thực</a:t>
            </a:r>
            <a:r>
              <a:rPr lang="en-US" dirty="0"/>
              <a:t> </a:t>
            </a:r>
            <a:r>
              <a:rPr lang="en-US" dirty="0" err="1"/>
              <a:t>hiện</a:t>
            </a:r>
            <a:r>
              <a:rPr lang="en-US" dirty="0"/>
              <a:t> </a:t>
            </a:r>
            <a:r>
              <a:rPr lang="en-US" dirty="0" err="1"/>
              <a:t>chấm</a:t>
            </a:r>
            <a:r>
              <a:rPr lang="en-US" dirty="0"/>
              <a:t> </a:t>
            </a:r>
            <a:r>
              <a:rPr lang="en-US" dirty="0" err="1"/>
              <a:t>điểm</a:t>
            </a:r>
            <a:r>
              <a:rPr lang="en-US" dirty="0"/>
              <a:t>.</a:t>
            </a:r>
          </a:p>
          <a:p>
            <a:r>
              <a:rPr lang="en-US" dirty="0" err="1"/>
              <a:t>Đối</a:t>
            </a:r>
            <a:r>
              <a:rPr lang="en-US" dirty="0"/>
              <a:t> </a:t>
            </a:r>
            <a:r>
              <a:rPr lang="en-US" dirty="0" err="1"/>
              <a:t>với</a:t>
            </a:r>
            <a:r>
              <a:rPr lang="en-US" dirty="0"/>
              <a:t> </a:t>
            </a:r>
            <a:r>
              <a:rPr lang="en-US" b="1" dirty="0"/>
              <a:t>Admin</a:t>
            </a:r>
            <a:r>
              <a:rPr lang="en-US" dirty="0"/>
              <a:t>, </a:t>
            </a:r>
            <a:r>
              <a:rPr lang="en-US" dirty="0" err="1"/>
              <a:t>chức</a:t>
            </a:r>
            <a:r>
              <a:rPr lang="en-US" dirty="0"/>
              <a:t> </a:t>
            </a:r>
            <a:r>
              <a:rPr lang="en-US" dirty="0" err="1"/>
              <a:t>năng</a:t>
            </a:r>
            <a:r>
              <a:rPr lang="en-US" dirty="0"/>
              <a:t> </a:t>
            </a:r>
            <a:r>
              <a:rPr lang="en-US" dirty="0" err="1"/>
              <a:t>chính</a:t>
            </a:r>
            <a:r>
              <a:rPr lang="en-US" dirty="0"/>
              <a:t> </a:t>
            </a:r>
            <a:r>
              <a:rPr lang="en-US" dirty="0" err="1"/>
              <a:t>là</a:t>
            </a:r>
            <a:r>
              <a:rPr lang="en-US" dirty="0"/>
              <a:t> </a:t>
            </a:r>
            <a:r>
              <a:rPr lang="en-US" dirty="0" err="1"/>
              <a:t>quản</a:t>
            </a:r>
            <a:r>
              <a:rPr lang="en-US" dirty="0"/>
              <a:t> </a:t>
            </a:r>
            <a:r>
              <a:rPr lang="en-US" dirty="0" err="1"/>
              <a:t>lý</a:t>
            </a:r>
            <a:r>
              <a:rPr lang="en-US" dirty="0"/>
              <a:t> </a:t>
            </a:r>
            <a:r>
              <a:rPr lang="en-US" dirty="0" err="1"/>
              <a:t>người</a:t>
            </a:r>
            <a:r>
              <a:rPr lang="en-US" dirty="0"/>
              <a:t> </a:t>
            </a:r>
            <a:r>
              <a:rPr lang="en-US" dirty="0" err="1"/>
              <a:t>dùng</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toàn</a:t>
            </a:r>
            <a:r>
              <a:rPr lang="en-US" dirty="0"/>
              <a:t> </a:t>
            </a:r>
            <a:r>
              <a:rPr lang="en-US" dirty="0" err="1"/>
              <a:t>hệ</a:t>
            </a:r>
            <a:r>
              <a:rPr lang="en-US" dirty="0"/>
              <a:t> </a:t>
            </a:r>
            <a:r>
              <a:rPr lang="en-US" dirty="0" err="1"/>
              <a:t>thống</a:t>
            </a:r>
            <a:r>
              <a:rPr lang="en-US" dirty="0"/>
              <a:t>.</a:t>
            </a:r>
          </a:p>
          <a:p>
            <a:r>
              <a:rPr lang="en-US" dirty="0" err="1"/>
              <a:t>Việc</a:t>
            </a:r>
            <a:r>
              <a:rPr lang="en-US" dirty="0"/>
              <a:t> </a:t>
            </a:r>
            <a:r>
              <a:rPr lang="en-US" dirty="0" err="1"/>
              <a:t>phân</a:t>
            </a:r>
            <a:r>
              <a:rPr lang="en-US" dirty="0"/>
              <a:t> chia </a:t>
            </a:r>
            <a:r>
              <a:rPr lang="en-US" dirty="0" err="1"/>
              <a:t>chức</a:t>
            </a:r>
            <a:r>
              <a:rPr lang="en-US" dirty="0"/>
              <a:t> </a:t>
            </a:r>
            <a:r>
              <a:rPr lang="en-US" dirty="0" err="1"/>
              <a:t>năng</a:t>
            </a:r>
            <a:r>
              <a:rPr lang="en-US" dirty="0"/>
              <a:t> </a:t>
            </a:r>
            <a:r>
              <a:rPr lang="en-US" dirty="0" err="1"/>
              <a:t>như</a:t>
            </a:r>
            <a:r>
              <a:rPr lang="en-US" dirty="0"/>
              <a:t> </a:t>
            </a:r>
            <a:r>
              <a:rPr lang="en-US" dirty="0" err="1"/>
              <a:t>vậy</a:t>
            </a:r>
            <a:r>
              <a:rPr lang="en-US" dirty="0"/>
              <a:t> </a:t>
            </a:r>
            <a:r>
              <a:rPr lang="en-US" dirty="0" err="1"/>
              <a:t>giúp</a:t>
            </a:r>
            <a:r>
              <a:rPr lang="en-US" dirty="0"/>
              <a:t> </a:t>
            </a:r>
            <a:r>
              <a:rPr lang="en-US" dirty="0" err="1"/>
              <a:t>mỗi</a:t>
            </a:r>
            <a:r>
              <a:rPr lang="en-US" dirty="0"/>
              <a:t> </a:t>
            </a:r>
            <a:r>
              <a:rPr lang="en-US" dirty="0" err="1"/>
              <a:t>đối</a:t>
            </a:r>
            <a:r>
              <a:rPr lang="en-US" dirty="0"/>
              <a:t> </a:t>
            </a:r>
            <a:r>
              <a:rPr lang="en-US" dirty="0" err="1"/>
              <a:t>tượng</a:t>
            </a:r>
            <a:r>
              <a:rPr lang="en-US" dirty="0"/>
              <a:t> </a:t>
            </a:r>
            <a:r>
              <a:rPr lang="en-US" dirty="0" err="1"/>
              <a:t>chỉ</a:t>
            </a:r>
            <a:r>
              <a:rPr lang="en-US" dirty="0"/>
              <a:t> </a:t>
            </a:r>
            <a:r>
              <a:rPr lang="en-US" dirty="0" err="1"/>
              <a:t>thực</a:t>
            </a:r>
            <a:r>
              <a:rPr lang="en-US" dirty="0"/>
              <a:t> </a:t>
            </a:r>
            <a:r>
              <a:rPr lang="en-US" dirty="0" err="1"/>
              <a:t>hiện</a:t>
            </a:r>
            <a:r>
              <a:rPr lang="en-US" dirty="0"/>
              <a:t> </a:t>
            </a:r>
            <a:r>
              <a:rPr lang="en-US" dirty="0" err="1"/>
              <a:t>được</a:t>
            </a:r>
            <a:r>
              <a:rPr lang="en-US" dirty="0"/>
              <a:t> </a:t>
            </a:r>
            <a:r>
              <a:rPr lang="en-US" dirty="0" err="1"/>
              <a:t>những</a:t>
            </a:r>
            <a:r>
              <a:rPr lang="en-US" dirty="0"/>
              <a:t> </a:t>
            </a:r>
            <a:r>
              <a:rPr lang="en-US" dirty="0" err="1"/>
              <a:t>thao</a:t>
            </a:r>
            <a:r>
              <a:rPr lang="en-US" dirty="0"/>
              <a:t> </a:t>
            </a:r>
            <a:r>
              <a:rPr lang="en-US" dirty="0" err="1"/>
              <a:t>tác</a:t>
            </a:r>
            <a:r>
              <a:rPr lang="en-US" dirty="0"/>
              <a:t> </a:t>
            </a:r>
            <a:r>
              <a:rPr lang="en-US" dirty="0" err="1"/>
              <a:t>phù</a:t>
            </a:r>
            <a:r>
              <a:rPr lang="en-US" dirty="0"/>
              <a:t> </a:t>
            </a:r>
            <a:r>
              <a:rPr lang="en-US" dirty="0" err="1"/>
              <a:t>hợp</a:t>
            </a:r>
            <a:r>
              <a:rPr lang="en-US" dirty="0"/>
              <a:t> </a:t>
            </a:r>
            <a:r>
              <a:rPr lang="en-US" dirty="0" err="1"/>
              <a:t>với</a:t>
            </a:r>
            <a:r>
              <a:rPr lang="en-US" dirty="0"/>
              <a:t> </a:t>
            </a:r>
            <a:r>
              <a:rPr lang="en-US" dirty="0" err="1"/>
              <a:t>quyền</a:t>
            </a:r>
            <a:r>
              <a:rPr lang="en-US" dirty="0"/>
              <a:t> </a:t>
            </a:r>
            <a:r>
              <a:rPr lang="en-US" dirty="0" err="1"/>
              <a:t>của</a:t>
            </a:r>
            <a:r>
              <a:rPr lang="en-US" dirty="0"/>
              <a:t> </a:t>
            </a:r>
            <a:r>
              <a:rPr lang="en-US" dirty="0" err="1"/>
              <a:t>mình</a:t>
            </a:r>
            <a:r>
              <a:rPr lang="en-US" dirty="0"/>
              <a:t>.</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5</a:t>
            </a:fld>
            <a:endParaRPr lang="en-US"/>
          </a:p>
        </p:txBody>
      </p:sp>
    </p:spTree>
    <p:extLst>
      <p:ext uri="{BB962C8B-B14F-4D97-AF65-F5344CB8AC3E}">
        <p14:creationId xmlns:p14="http://schemas.microsoft.com/office/powerpoint/2010/main" val="2345709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dirty="0" err="1"/>
              <a:t>phần</a:t>
            </a:r>
            <a:r>
              <a:rPr lang="en-US" dirty="0"/>
              <a:t> </a:t>
            </a:r>
            <a:r>
              <a:rPr lang="en-US" b="1" dirty="0" err="1"/>
              <a:t>thiết</a:t>
            </a:r>
            <a:r>
              <a:rPr lang="en-US" b="1" dirty="0"/>
              <a:t> </a:t>
            </a:r>
            <a:r>
              <a:rPr lang="en-US" b="1" dirty="0" err="1"/>
              <a:t>kế</a:t>
            </a:r>
            <a:r>
              <a:rPr lang="en-US" b="1" dirty="0"/>
              <a:t> </a:t>
            </a:r>
            <a:r>
              <a:rPr lang="en-US" b="1" dirty="0" err="1"/>
              <a:t>cơ</a:t>
            </a:r>
            <a:r>
              <a:rPr lang="en-US" b="1" dirty="0"/>
              <a:t> </a:t>
            </a:r>
            <a:r>
              <a:rPr lang="en-US" b="1" dirty="0" err="1"/>
              <a:t>sở</a:t>
            </a:r>
            <a:r>
              <a:rPr lang="en-US" b="1" dirty="0"/>
              <a:t> </a:t>
            </a:r>
            <a:r>
              <a:rPr lang="en-US" b="1" dirty="0" err="1"/>
              <a:t>dữ</a:t>
            </a:r>
            <a:r>
              <a:rPr lang="en-US" b="1" dirty="0"/>
              <a:t> </a:t>
            </a:r>
            <a:r>
              <a:rPr lang="en-US" b="1" dirty="0" err="1"/>
              <a:t>liệu</a:t>
            </a:r>
            <a:r>
              <a:rPr lang="en-US" dirty="0"/>
              <a:t>.</a:t>
            </a:r>
          </a:p>
          <a:p>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a:t>
            </a:r>
            <a:r>
              <a:rPr lang="en-US" b="1" dirty="0"/>
              <a:t>SQL Server</a:t>
            </a:r>
            <a:r>
              <a:rPr lang="en-US" dirty="0"/>
              <a:t>, </a:t>
            </a:r>
            <a:r>
              <a:rPr lang="en-US" dirty="0" err="1"/>
              <a:t>với</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tên</a:t>
            </a:r>
            <a:r>
              <a:rPr lang="en-US" dirty="0"/>
              <a:t> </a:t>
            </a:r>
            <a:r>
              <a:rPr lang="en-US" dirty="0" err="1"/>
              <a:t>là</a:t>
            </a:r>
            <a:r>
              <a:rPr lang="en-US" dirty="0"/>
              <a:t> </a:t>
            </a:r>
            <a:r>
              <a:rPr lang="en-US" b="1" dirty="0" err="1"/>
              <a:t>TvuStudentProjectPortal</a:t>
            </a:r>
            <a:r>
              <a:rPr lang="en-US" dirty="0"/>
              <a:t>.</a:t>
            </a:r>
          </a:p>
          <a:p>
            <a:r>
              <a:rPr lang="en-US" dirty="0"/>
              <a:t>Database </a:t>
            </a:r>
            <a:r>
              <a:rPr lang="en-US" dirty="0" err="1"/>
              <a:t>gồm</a:t>
            </a:r>
            <a:r>
              <a:rPr lang="en-US" dirty="0"/>
              <a:t> </a:t>
            </a:r>
            <a:r>
              <a:rPr lang="en-US" b="1" dirty="0"/>
              <a:t>10 </a:t>
            </a:r>
            <a:r>
              <a:rPr lang="en-US" b="1" dirty="0" err="1"/>
              <a:t>bảng</a:t>
            </a:r>
            <a:r>
              <a:rPr lang="en-US" b="1" dirty="0"/>
              <a:t> </a:t>
            </a:r>
            <a:r>
              <a:rPr lang="en-US" b="1" dirty="0" err="1"/>
              <a:t>chính</a:t>
            </a:r>
            <a:r>
              <a:rPr lang="en-US" dirty="0"/>
              <a:t> </a:t>
            </a:r>
            <a:r>
              <a:rPr lang="en-US" dirty="0" err="1"/>
              <a:t>được</a:t>
            </a:r>
            <a:r>
              <a:rPr lang="en-US" dirty="0"/>
              <a:t> chia </a:t>
            </a:r>
            <a:r>
              <a:rPr lang="en-US" dirty="0" err="1"/>
              <a:t>thành</a:t>
            </a:r>
            <a:r>
              <a:rPr lang="en-US" dirty="0"/>
              <a:t> </a:t>
            </a:r>
            <a:r>
              <a:rPr lang="en-US" dirty="0" err="1"/>
              <a:t>các</a:t>
            </a:r>
            <a:r>
              <a:rPr lang="en-US" dirty="0"/>
              <a:t> </a:t>
            </a:r>
            <a:r>
              <a:rPr lang="en-US" dirty="0" err="1"/>
              <a:t>nhóm</a:t>
            </a:r>
            <a:r>
              <a:rPr lang="en-US" dirty="0"/>
              <a:t> </a:t>
            </a:r>
            <a:r>
              <a:rPr lang="en-US" dirty="0" err="1"/>
              <a:t>dữ</a:t>
            </a:r>
            <a:r>
              <a:rPr lang="en-US" dirty="0"/>
              <a:t> </a:t>
            </a:r>
            <a:r>
              <a:rPr lang="en-US" dirty="0" err="1"/>
              <a:t>liệu</a:t>
            </a:r>
            <a:r>
              <a:rPr lang="en-US" dirty="0"/>
              <a:t>.</a:t>
            </a:r>
          </a:p>
          <a:p>
            <a:r>
              <a:rPr lang="en-US" dirty="0" err="1"/>
              <a:t>Nhóm</a:t>
            </a:r>
            <a:r>
              <a:rPr lang="en-US" dirty="0"/>
              <a:t> </a:t>
            </a:r>
            <a:r>
              <a:rPr lang="en-US" dirty="0" err="1"/>
              <a:t>thứ</a:t>
            </a:r>
            <a:r>
              <a:rPr lang="en-US" dirty="0"/>
              <a:t> </a:t>
            </a:r>
            <a:r>
              <a:rPr lang="en-US" dirty="0" err="1"/>
              <a:t>nhất</a:t>
            </a:r>
            <a:r>
              <a:rPr lang="en-US" dirty="0"/>
              <a:t> </a:t>
            </a:r>
            <a:r>
              <a:rPr lang="en-US" dirty="0" err="1"/>
              <a:t>là</a:t>
            </a:r>
            <a:r>
              <a:rPr lang="en-US" dirty="0"/>
              <a:t> </a:t>
            </a:r>
            <a:r>
              <a:rPr lang="en-US" dirty="0" err="1"/>
              <a:t>dữ</a:t>
            </a:r>
            <a:r>
              <a:rPr lang="en-US" dirty="0"/>
              <a:t> </a:t>
            </a:r>
            <a:r>
              <a:rPr lang="en-US" dirty="0" err="1"/>
              <a:t>liệu</a:t>
            </a:r>
            <a:r>
              <a:rPr lang="en-US" dirty="0"/>
              <a:t> </a:t>
            </a:r>
            <a:r>
              <a:rPr lang="en-US" b="1" dirty="0" err="1"/>
              <a:t>người</a:t>
            </a:r>
            <a:r>
              <a:rPr lang="en-US" b="1" dirty="0"/>
              <a:t> </a:t>
            </a:r>
            <a:r>
              <a:rPr lang="en-US" b="1" dirty="0" err="1"/>
              <a:t>dùng</a:t>
            </a:r>
            <a:r>
              <a:rPr lang="en-US" dirty="0"/>
              <a:t>, </a:t>
            </a:r>
            <a:r>
              <a:rPr lang="en-US" dirty="0" err="1"/>
              <a:t>với</a:t>
            </a:r>
            <a:r>
              <a:rPr lang="en-US" dirty="0"/>
              <a:t> </a:t>
            </a:r>
            <a:r>
              <a:rPr lang="en-US" dirty="0" err="1"/>
              <a:t>bảng</a:t>
            </a:r>
            <a:r>
              <a:rPr lang="en-US" dirty="0"/>
              <a:t> Users.</a:t>
            </a:r>
          </a:p>
          <a:p>
            <a:r>
              <a:rPr lang="en-US" dirty="0" err="1"/>
              <a:t>Nhóm</a:t>
            </a:r>
            <a:r>
              <a:rPr lang="en-US" dirty="0"/>
              <a:t> </a:t>
            </a:r>
            <a:r>
              <a:rPr lang="en-US" dirty="0" err="1"/>
              <a:t>thứ</a:t>
            </a:r>
            <a:r>
              <a:rPr lang="en-US" dirty="0"/>
              <a:t> </a:t>
            </a:r>
            <a:r>
              <a:rPr lang="en-US" dirty="0" err="1"/>
              <a:t>hai</a:t>
            </a:r>
            <a:r>
              <a:rPr lang="en-US" dirty="0"/>
              <a:t> </a:t>
            </a:r>
            <a:r>
              <a:rPr lang="en-US" dirty="0" err="1"/>
              <a:t>là</a:t>
            </a:r>
            <a:r>
              <a:rPr lang="en-US" dirty="0"/>
              <a:t> </a:t>
            </a:r>
            <a:r>
              <a:rPr lang="en-US" b="1" dirty="0" err="1"/>
              <a:t>đề</a:t>
            </a:r>
            <a:r>
              <a:rPr lang="en-US" b="1" dirty="0"/>
              <a:t> </a:t>
            </a:r>
            <a:r>
              <a:rPr lang="en-US" b="1" dirty="0" err="1"/>
              <a:t>tài</a:t>
            </a:r>
            <a:r>
              <a:rPr lang="en-US" b="1" dirty="0"/>
              <a:t> </a:t>
            </a:r>
            <a:r>
              <a:rPr lang="en-US" b="1" dirty="0" err="1"/>
              <a:t>và</a:t>
            </a:r>
            <a:r>
              <a:rPr lang="en-US" b="1" dirty="0"/>
              <a:t> </a:t>
            </a:r>
            <a:r>
              <a:rPr lang="en-US" b="1" dirty="0" err="1"/>
              <a:t>nhóm</a:t>
            </a:r>
            <a:r>
              <a:rPr lang="en-US" dirty="0"/>
              <a:t>, </a:t>
            </a:r>
            <a:r>
              <a:rPr lang="en-US" dirty="0" err="1"/>
              <a:t>gồm</a:t>
            </a:r>
            <a:r>
              <a:rPr lang="en-US" dirty="0"/>
              <a:t> </a:t>
            </a:r>
            <a:r>
              <a:rPr lang="en-US" dirty="0" err="1"/>
              <a:t>các</a:t>
            </a:r>
            <a:r>
              <a:rPr lang="en-US" dirty="0"/>
              <a:t> </a:t>
            </a:r>
            <a:r>
              <a:rPr lang="en-US" dirty="0" err="1"/>
              <a:t>bảng</a:t>
            </a:r>
            <a:r>
              <a:rPr lang="en-US" dirty="0"/>
              <a:t> </a:t>
            </a:r>
            <a:r>
              <a:rPr lang="en-US" dirty="0" err="1"/>
              <a:t>ProjectTopics</a:t>
            </a:r>
            <a:r>
              <a:rPr lang="en-US" dirty="0"/>
              <a:t>, Teams, </a:t>
            </a:r>
            <a:r>
              <a:rPr lang="en-US" dirty="0" err="1"/>
              <a:t>TeamMembers</a:t>
            </a:r>
            <a:r>
              <a:rPr lang="en-US" dirty="0"/>
              <a:t> </a:t>
            </a:r>
            <a:r>
              <a:rPr lang="en-US" dirty="0" err="1"/>
              <a:t>và</a:t>
            </a:r>
            <a:r>
              <a:rPr lang="en-US" dirty="0"/>
              <a:t> </a:t>
            </a:r>
            <a:r>
              <a:rPr lang="en-US" dirty="0" err="1"/>
              <a:t>ProjectRegistrations</a:t>
            </a:r>
            <a:r>
              <a:rPr lang="en-US" dirty="0"/>
              <a:t>.</a:t>
            </a:r>
          </a:p>
          <a:p>
            <a:r>
              <a:rPr lang="en-US" dirty="0" err="1"/>
              <a:t>Nhóm</a:t>
            </a:r>
            <a:r>
              <a:rPr lang="en-US" dirty="0"/>
              <a:t> </a:t>
            </a:r>
            <a:r>
              <a:rPr lang="en-US" dirty="0" err="1"/>
              <a:t>thứ</a:t>
            </a:r>
            <a:r>
              <a:rPr lang="en-US" dirty="0"/>
              <a:t> </a:t>
            </a:r>
            <a:r>
              <a:rPr lang="en-US" dirty="0" err="1"/>
              <a:t>ba</a:t>
            </a:r>
            <a:r>
              <a:rPr lang="en-US" dirty="0"/>
              <a:t> </a:t>
            </a:r>
            <a:r>
              <a:rPr lang="en-US" dirty="0" err="1"/>
              <a:t>là</a:t>
            </a:r>
            <a:r>
              <a:rPr lang="en-US" dirty="0"/>
              <a:t> </a:t>
            </a:r>
            <a:r>
              <a:rPr lang="en-US" b="1" dirty="0" err="1"/>
              <a:t>tiến</a:t>
            </a:r>
            <a:r>
              <a:rPr lang="en-US" b="1" dirty="0"/>
              <a:t> </a:t>
            </a:r>
            <a:r>
              <a:rPr lang="en-US" b="1" dirty="0" err="1"/>
              <a:t>độ</a:t>
            </a:r>
            <a:r>
              <a:rPr lang="en-US" b="1" dirty="0"/>
              <a:t> </a:t>
            </a:r>
            <a:r>
              <a:rPr lang="en-US" b="1" dirty="0" err="1"/>
              <a:t>và</a:t>
            </a:r>
            <a:r>
              <a:rPr lang="en-US" b="1" dirty="0"/>
              <a:t> </a:t>
            </a:r>
            <a:r>
              <a:rPr lang="en-US" b="1" dirty="0" err="1"/>
              <a:t>nộp</a:t>
            </a:r>
            <a:r>
              <a:rPr lang="en-US" b="1" dirty="0"/>
              <a:t> </a:t>
            </a:r>
            <a:r>
              <a:rPr lang="en-US" b="1" dirty="0" err="1"/>
              <a:t>bài</a:t>
            </a:r>
            <a:r>
              <a:rPr lang="en-US" dirty="0"/>
              <a:t>, </a:t>
            </a:r>
            <a:r>
              <a:rPr lang="en-US" dirty="0" err="1"/>
              <a:t>gồm</a:t>
            </a:r>
            <a:r>
              <a:rPr lang="en-US" dirty="0"/>
              <a:t> Milestones, </a:t>
            </a:r>
            <a:r>
              <a:rPr lang="en-US" dirty="0" err="1"/>
              <a:t>ProgressReports</a:t>
            </a:r>
            <a:r>
              <a:rPr lang="en-US" dirty="0"/>
              <a:t> </a:t>
            </a:r>
            <a:r>
              <a:rPr lang="en-US" dirty="0" err="1"/>
              <a:t>và</a:t>
            </a:r>
            <a:r>
              <a:rPr lang="en-US" dirty="0"/>
              <a:t> </a:t>
            </a:r>
            <a:r>
              <a:rPr lang="en-US" dirty="0" err="1"/>
              <a:t>FinalSubmissions</a:t>
            </a:r>
            <a:r>
              <a:rPr lang="en-US" dirty="0"/>
              <a:t>.</a:t>
            </a:r>
          </a:p>
          <a:p>
            <a:r>
              <a:rPr lang="en-US" dirty="0" err="1"/>
              <a:t>Cuối</a:t>
            </a:r>
            <a:r>
              <a:rPr lang="en-US" dirty="0"/>
              <a:t> </a:t>
            </a:r>
            <a:r>
              <a:rPr lang="en-US" dirty="0" err="1"/>
              <a:t>cùng</a:t>
            </a:r>
            <a:r>
              <a:rPr lang="en-US" dirty="0"/>
              <a:t> </a:t>
            </a:r>
            <a:r>
              <a:rPr lang="en-US" dirty="0" err="1"/>
              <a:t>là</a:t>
            </a:r>
            <a:r>
              <a:rPr lang="en-US" dirty="0"/>
              <a:t> </a:t>
            </a:r>
            <a:r>
              <a:rPr lang="en-US" dirty="0" err="1"/>
              <a:t>nhóm</a:t>
            </a:r>
            <a:r>
              <a:rPr lang="en-US" dirty="0"/>
              <a:t> </a:t>
            </a:r>
            <a:r>
              <a:rPr lang="en-US" b="1" dirty="0" err="1"/>
              <a:t>lớp</a:t>
            </a:r>
            <a:r>
              <a:rPr lang="en-US" b="1" dirty="0"/>
              <a:t> </a:t>
            </a:r>
            <a:r>
              <a:rPr lang="en-US" b="1" dirty="0" err="1"/>
              <a:t>học</a:t>
            </a:r>
            <a:r>
              <a:rPr lang="en-US" dirty="0"/>
              <a:t>, </a:t>
            </a:r>
            <a:r>
              <a:rPr lang="en-US" dirty="0" err="1"/>
              <a:t>gồm</a:t>
            </a:r>
            <a:r>
              <a:rPr lang="en-US" dirty="0"/>
              <a:t> Classes </a:t>
            </a:r>
            <a:r>
              <a:rPr lang="en-US" dirty="0" err="1"/>
              <a:t>và</a:t>
            </a:r>
            <a:r>
              <a:rPr lang="en-US" dirty="0"/>
              <a:t> </a:t>
            </a:r>
            <a:r>
              <a:rPr lang="en-US" dirty="0" err="1"/>
              <a:t>ClassStudents</a:t>
            </a:r>
            <a:r>
              <a:rPr lang="en-US" dirty="0"/>
              <a:t>.</a:t>
            </a:r>
          </a:p>
          <a:p>
            <a:r>
              <a:rPr lang="en-US" dirty="0"/>
              <a:t>Các </a:t>
            </a:r>
            <a:r>
              <a:rPr lang="en-US" dirty="0" err="1"/>
              <a:t>bảng</a:t>
            </a:r>
            <a:r>
              <a:rPr lang="en-US" dirty="0"/>
              <a:t> </a:t>
            </a:r>
            <a:r>
              <a:rPr lang="en-US" dirty="0" err="1"/>
              <a:t>được</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nhau</a:t>
            </a:r>
            <a:r>
              <a:rPr lang="en-US" dirty="0"/>
              <a:t> </a:t>
            </a:r>
            <a:r>
              <a:rPr lang="en-US" dirty="0" err="1"/>
              <a:t>thông</a:t>
            </a:r>
            <a:r>
              <a:rPr lang="en-US" dirty="0"/>
              <a:t> qua </a:t>
            </a:r>
            <a:r>
              <a:rPr lang="en-US" b="1" dirty="0"/>
              <a:t>Primary Key </a:t>
            </a:r>
            <a:r>
              <a:rPr lang="en-US" b="1" dirty="0" err="1"/>
              <a:t>và</a:t>
            </a:r>
            <a:r>
              <a:rPr lang="en-US" b="1" dirty="0"/>
              <a:t> Foreign Key</a:t>
            </a:r>
            <a:r>
              <a:rPr lang="en-US" dirty="0"/>
              <a:t>, </a:t>
            </a:r>
            <a:r>
              <a:rPr lang="en-US" dirty="0" err="1"/>
              <a:t>giúp</a:t>
            </a:r>
            <a:r>
              <a:rPr lang="en-US" dirty="0"/>
              <a:t> </a:t>
            </a:r>
            <a:r>
              <a:rPr lang="en-US" dirty="0" err="1"/>
              <a:t>đảm</a:t>
            </a:r>
            <a:r>
              <a:rPr lang="en-US" dirty="0"/>
              <a:t> </a:t>
            </a:r>
            <a:r>
              <a:rPr lang="en-US" dirty="0" err="1"/>
              <a:t>bảo</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sự</a:t>
            </a:r>
            <a:r>
              <a:rPr lang="en-US" dirty="0"/>
              <a:t> </a:t>
            </a:r>
            <a:r>
              <a:rPr lang="en-US" dirty="0" err="1"/>
              <a:t>liên</a:t>
            </a:r>
            <a:r>
              <a:rPr lang="en-US" dirty="0"/>
              <a:t> </a:t>
            </a:r>
            <a:r>
              <a:rPr lang="en-US" dirty="0" err="1"/>
              <a:t>kết</a:t>
            </a:r>
            <a:r>
              <a:rPr lang="en-US" dirty="0"/>
              <a:t> </a:t>
            </a:r>
            <a:r>
              <a:rPr lang="en-US" dirty="0" err="1"/>
              <a:t>và</a:t>
            </a:r>
            <a:r>
              <a:rPr lang="en-US" dirty="0"/>
              <a:t> </a:t>
            </a:r>
            <a:r>
              <a:rPr lang="en-US" dirty="0" err="1"/>
              <a:t>nhất</a:t>
            </a:r>
            <a:r>
              <a:rPr lang="en-US" dirty="0"/>
              <a:t> </a:t>
            </a:r>
            <a:r>
              <a:rPr lang="en-US" dirty="0" err="1"/>
              <a:t>quán</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6</a:t>
            </a:fld>
            <a:endParaRPr lang="en-US"/>
          </a:p>
        </p:txBody>
      </p:sp>
    </p:spTree>
    <p:extLst>
      <p:ext uri="{BB962C8B-B14F-4D97-AF65-F5344CB8AC3E}">
        <p14:creationId xmlns:p14="http://schemas.microsoft.com/office/powerpoint/2010/main" val="3883638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slide </a:t>
            </a:r>
            <a:r>
              <a:rPr lang="en-US" dirty="0" err="1"/>
              <a:t>này</a:t>
            </a:r>
            <a:r>
              <a:rPr lang="en-US" dirty="0"/>
              <a:t> </a:t>
            </a:r>
            <a:r>
              <a:rPr lang="en-US" dirty="0" err="1"/>
              <a:t>em</a:t>
            </a:r>
            <a:r>
              <a:rPr lang="en-US" dirty="0"/>
              <a:t> </a:t>
            </a:r>
            <a:r>
              <a:rPr lang="en-US" dirty="0" err="1"/>
              <a:t>trình</a:t>
            </a:r>
            <a:r>
              <a:rPr lang="en-US" dirty="0"/>
              <a:t> </a:t>
            </a:r>
            <a:r>
              <a:rPr lang="en-US" dirty="0" err="1"/>
              <a:t>bày</a:t>
            </a:r>
            <a:r>
              <a:rPr lang="en-US" dirty="0"/>
              <a:t> </a:t>
            </a:r>
            <a:r>
              <a:rPr lang="en-US" b="1" dirty="0" err="1"/>
              <a:t>quan</a:t>
            </a:r>
            <a:r>
              <a:rPr lang="en-US" b="1" dirty="0"/>
              <a:t> </a:t>
            </a:r>
            <a:r>
              <a:rPr lang="en-US" b="1" dirty="0" err="1"/>
              <a:t>hệ</a:t>
            </a:r>
            <a:r>
              <a:rPr lang="en-US" b="1" dirty="0"/>
              <a:t> </a:t>
            </a:r>
            <a:r>
              <a:rPr lang="en-US" b="1" dirty="0" err="1"/>
              <a:t>giữa</a:t>
            </a:r>
            <a:r>
              <a:rPr lang="en-US" b="1" dirty="0"/>
              <a:t> </a:t>
            </a:r>
            <a:r>
              <a:rPr lang="en-US" b="1" dirty="0" err="1"/>
              <a:t>các</a:t>
            </a:r>
            <a:r>
              <a:rPr lang="en-US" b="1" dirty="0"/>
              <a:t> </a:t>
            </a:r>
            <a:r>
              <a:rPr lang="en-US" b="1" dirty="0" err="1"/>
              <a:t>dữ</a:t>
            </a:r>
            <a:r>
              <a:rPr lang="en-US" b="1" dirty="0"/>
              <a:t> </a:t>
            </a:r>
            <a:r>
              <a:rPr lang="en-US" b="1" dirty="0" err="1"/>
              <a:t>liệu</a:t>
            </a:r>
            <a:r>
              <a:rPr lang="en-US" b="1" dirty="0"/>
              <a:t> </a:t>
            </a:r>
            <a:r>
              <a:rPr lang="en-US" b="1" dirty="0" err="1"/>
              <a:t>trong</a:t>
            </a:r>
            <a:r>
              <a:rPr lang="en-US" b="1" dirty="0"/>
              <a:t> </a:t>
            </a:r>
            <a:r>
              <a:rPr lang="en-US" b="1" dirty="0" err="1"/>
              <a:t>hệ</a:t>
            </a:r>
            <a:r>
              <a:rPr lang="en-US" b="1" dirty="0"/>
              <a:t> </a:t>
            </a:r>
            <a:r>
              <a:rPr lang="en-US" b="1" dirty="0" err="1"/>
              <a:t>thống</a:t>
            </a:r>
            <a:r>
              <a:rPr lang="en-US" dirty="0"/>
              <a:t>.</a:t>
            </a:r>
          </a:p>
          <a:p>
            <a:r>
              <a:rPr lang="en-US" dirty="0" err="1"/>
              <a:t>Ví</a:t>
            </a:r>
            <a:r>
              <a:rPr lang="en-US" dirty="0"/>
              <a:t> </a:t>
            </a:r>
            <a:r>
              <a:rPr lang="en-US" dirty="0" err="1"/>
              <a:t>dụ</a:t>
            </a:r>
            <a:r>
              <a:rPr lang="en-US" dirty="0"/>
              <a:t>, </a:t>
            </a:r>
            <a:r>
              <a:rPr lang="en-US" dirty="0" err="1"/>
              <a:t>bảng</a:t>
            </a:r>
            <a:r>
              <a:rPr lang="en-US" dirty="0"/>
              <a:t> </a:t>
            </a:r>
            <a:r>
              <a:rPr lang="en-US" b="1" dirty="0"/>
              <a:t>Classes</a:t>
            </a:r>
            <a:r>
              <a:rPr lang="en-US" dirty="0"/>
              <a:t> </a:t>
            </a:r>
            <a:r>
              <a:rPr lang="en-US" dirty="0" err="1"/>
              <a:t>được</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b="1" dirty="0" err="1"/>
              <a:t>ClassStudents</a:t>
            </a:r>
            <a:r>
              <a:rPr lang="en-US" dirty="0"/>
              <a:t> </a:t>
            </a:r>
            <a:r>
              <a:rPr lang="en-US" dirty="0" err="1"/>
              <a:t>để</a:t>
            </a:r>
            <a:r>
              <a:rPr lang="en-US" dirty="0"/>
              <a:t> </a:t>
            </a:r>
            <a:r>
              <a:rPr lang="en-US" dirty="0" err="1"/>
              <a:t>quản</a:t>
            </a:r>
            <a:r>
              <a:rPr lang="en-US" dirty="0"/>
              <a:t> </a:t>
            </a:r>
            <a:r>
              <a:rPr lang="en-US" dirty="0" err="1"/>
              <a:t>lý</a:t>
            </a:r>
            <a:r>
              <a:rPr lang="en-US" dirty="0"/>
              <a:t> </a:t>
            </a:r>
            <a:r>
              <a:rPr lang="en-US" dirty="0" err="1"/>
              <a:t>sinh</a:t>
            </a:r>
            <a:r>
              <a:rPr lang="en-US" dirty="0"/>
              <a:t> </a:t>
            </a:r>
            <a:r>
              <a:rPr lang="en-US" dirty="0" err="1"/>
              <a:t>viên</a:t>
            </a:r>
            <a:r>
              <a:rPr lang="en-US" dirty="0"/>
              <a:t> </a:t>
            </a:r>
            <a:r>
              <a:rPr lang="en-US" dirty="0" err="1"/>
              <a:t>thuộc</a:t>
            </a:r>
            <a:r>
              <a:rPr lang="en-US" dirty="0"/>
              <a:t> </a:t>
            </a:r>
            <a:r>
              <a:rPr lang="en-US" dirty="0" err="1"/>
              <a:t>từng</a:t>
            </a:r>
            <a:r>
              <a:rPr lang="en-US" dirty="0"/>
              <a:t> </a:t>
            </a:r>
            <a:r>
              <a:rPr lang="en-US" dirty="0" err="1"/>
              <a:t>lớp</a:t>
            </a:r>
            <a:r>
              <a:rPr lang="en-US" dirty="0"/>
              <a:t>.</a:t>
            </a:r>
          </a:p>
          <a:p>
            <a:r>
              <a:rPr lang="en-US" dirty="0" err="1"/>
              <a:t>Đối</a:t>
            </a:r>
            <a:r>
              <a:rPr lang="en-US" dirty="0"/>
              <a:t> </a:t>
            </a:r>
            <a:r>
              <a:rPr lang="en-US" dirty="0" err="1"/>
              <a:t>với</a:t>
            </a:r>
            <a:r>
              <a:rPr lang="en-US" dirty="0"/>
              <a:t> </a:t>
            </a:r>
            <a:r>
              <a:rPr lang="en-US" dirty="0" err="1"/>
              <a:t>nhóm</a:t>
            </a:r>
            <a:r>
              <a:rPr lang="en-US" dirty="0"/>
              <a:t> </a:t>
            </a:r>
            <a:r>
              <a:rPr lang="en-US" dirty="0" err="1"/>
              <a:t>đồ</a:t>
            </a:r>
            <a:r>
              <a:rPr lang="en-US" dirty="0"/>
              <a:t> </a:t>
            </a:r>
            <a:r>
              <a:rPr lang="en-US" dirty="0" err="1"/>
              <a:t>án</a:t>
            </a:r>
            <a:r>
              <a:rPr lang="en-US" dirty="0"/>
              <a:t>, </a:t>
            </a:r>
            <a:r>
              <a:rPr lang="en-US" dirty="0" err="1"/>
              <a:t>bảng</a:t>
            </a:r>
            <a:r>
              <a:rPr lang="en-US" dirty="0"/>
              <a:t> </a:t>
            </a:r>
            <a:r>
              <a:rPr lang="en-US" b="1" dirty="0"/>
              <a:t>Teams</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TeamMembers</a:t>
            </a:r>
            <a:r>
              <a:rPr lang="en-US" dirty="0"/>
              <a:t> </a:t>
            </a:r>
            <a:r>
              <a:rPr lang="en-US" dirty="0" err="1"/>
              <a:t>để</a:t>
            </a:r>
            <a:r>
              <a:rPr lang="en-US" dirty="0"/>
              <a:t> </a:t>
            </a:r>
            <a:r>
              <a:rPr lang="en-US" dirty="0" err="1"/>
              <a:t>quản</a:t>
            </a:r>
            <a:r>
              <a:rPr lang="en-US" dirty="0"/>
              <a:t> </a:t>
            </a:r>
            <a:r>
              <a:rPr lang="en-US" dirty="0" err="1"/>
              <a:t>lý</a:t>
            </a:r>
            <a:r>
              <a:rPr lang="en-US" dirty="0"/>
              <a:t> </a:t>
            </a:r>
            <a:r>
              <a:rPr lang="en-US" dirty="0" err="1"/>
              <a:t>thành</a:t>
            </a:r>
            <a:r>
              <a:rPr lang="en-US" dirty="0"/>
              <a:t> </a:t>
            </a:r>
            <a:r>
              <a:rPr lang="en-US" dirty="0" err="1"/>
              <a:t>viên</a:t>
            </a:r>
            <a:r>
              <a:rPr lang="en-US" dirty="0"/>
              <a:t>, </a:t>
            </a:r>
            <a:r>
              <a:rPr lang="en-US" dirty="0" err="1"/>
              <a:t>đồng</a:t>
            </a:r>
            <a:r>
              <a:rPr lang="en-US" dirty="0"/>
              <a:t> </a:t>
            </a:r>
            <a:r>
              <a:rPr lang="en-US" dirty="0" err="1"/>
              <a:t>thời</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ProjectRegistrations</a:t>
            </a:r>
            <a:r>
              <a:rPr lang="en-US" dirty="0"/>
              <a:t>, </a:t>
            </a:r>
            <a:r>
              <a:rPr lang="en-US" dirty="0" err="1"/>
              <a:t>ProgressReports</a:t>
            </a:r>
            <a:r>
              <a:rPr lang="en-US" dirty="0"/>
              <a:t> </a:t>
            </a:r>
            <a:r>
              <a:rPr lang="en-US" dirty="0" err="1"/>
              <a:t>và</a:t>
            </a:r>
            <a:r>
              <a:rPr lang="en-US" dirty="0"/>
              <a:t> </a:t>
            </a:r>
            <a:r>
              <a:rPr lang="en-US" dirty="0" err="1"/>
              <a:t>FinalSubmissions</a:t>
            </a:r>
            <a:r>
              <a:rPr lang="en-US" dirty="0"/>
              <a:t>.</a:t>
            </a:r>
          </a:p>
          <a:p>
            <a:r>
              <a:rPr lang="en-US" dirty="0" err="1"/>
              <a:t>Ngoài</a:t>
            </a:r>
            <a:r>
              <a:rPr lang="en-US" dirty="0"/>
              <a:t> </a:t>
            </a:r>
            <a:r>
              <a:rPr lang="en-US" dirty="0" err="1"/>
              <a:t>ra</a:t>
            </a:r>
            <a:r>
              <a:rPr lang="en-US" dirty="0"/>
              <a:t>, </a:t>
            </a:r>
            <a:r>
              <a:rPr lang="en-US" b="1" dirty="0" err="1"/>
              <a:t>ProjectTopics</a:t>
            </a:r>
            <a:r>
              <a:rPr lang="en-US" dirty="0"/>
              <a:t> </a:t>
            </a:r>
            <a:r>
              <a:rPr lang="en-US" dirty="0" err="1"/>
              <a:t>và</a:t>
            </a:r>
            <a:r>
              <a:rPr lang="en-US" dirty="0"/>
              <a:t> </a:t>
            </a:r>
            <a:r>
              <a:rPr lang="en-US" b="1" dirty="0"/>
              <a:t>Milestones</a:t>
            </a:r>
            <a:r>
              <a:rPr lang="en-US" dirty="0"/>
              <a:t> </a:t>
            </a:r>
            <a:r>
              <a:rPr lang="en-US" dirty="0" err="1"/>
              <a:t>cũng</a:t>
            </a:r>
            <a:r>
              <a:rPr lang="en-US" dirty="0"/>
              <a:t> </a:t>
            </a:r>
            <a:r>
              <a:rPr lang="en-US" dirty="0" err="1"/>
              <a:t>được</a:t>
            </a:r>
            <a:r>
              <a:rPr lang="en-US" dirty="0"/>
              <a:t> </a:t>
            </a:r>
            <a:r>
              <a:rPr lang="en-US" dirty="0" err="1"/>
              <a:t>liên</a:t>
            </a:r>
            <a:r>
              <a:rPr lang="en-US" dirty="0"/>
              <a:t> </a:t>
            </a:r>
            <a:r>
              <a:rPr lang="en-US" dirty="0" err="1"/>
              <a:t>kết</a:t>
            </a:r>
            <a:r>
              <a:rPr lang="en-US" dirty="0"/>
              <a:t> </a:t>
            </a:r>
            <a:r>
              <a:rPr lang="en-US" dirty="0" err="1"/>
              <a:t>với</a:t>
            </a:r>
            <a:r>
              <a:rPr lang="en-US" dirty="0"/>
              <a:t> </a:t>
            </a:r>
            <a:r>
              <a:rPr lang="en-US" dirty="0" err="1"/>
              <a:t>quá</a:t>
            </a:r>
            <a:r>
              <a:rPr lang="en-US" dirty="0"/>
              <a:t> </a:t>
            </a:r>
            <a:r>
              <a:rPr lang="en-US" dirty="0" err="1"/>
              <a:t>trình</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a:t>
            </a:r>
          </a:p>
          <a:p>
            <a:r>
              <a:rPr lang="en-US" dirty="0"/>
              <a:t>Trong </a:t>
            </a:r>
            <a:r>
              <a:rPr lang="en-US" dirty="0" err="1"/>
              <a:t>đó</a:t>
            </a:r>
            <a:r>
              <a:rPr lang="en-US" dirty="0"/>
              <a:t>, </a:t>
            </a:r>
            <a:r>
              <a:rPr lang="en-US" b="1" dirty="0" err="1"/>
              <a:t>ProgressReports</a:t>
            </a:r>
            <a:r>
              <a:rPr lang="en-US" dirty="0"/>
              <a:t> </a:t>
            </a:r>
            <a:r>
              <a:rPr lang="en-US" dirty="0" err="1"/>
              <a:t>dùng</a:t>
            </a:r>
            <a:r>
              <a:rPr lang="en-US" dirty="0"/>
              <a:t> </a:t>
            </a:r>
            <a:r>
              <a:rPr lang="en-US" dirty="0" err="1"/>
              <a:t>để</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thực</a:t>
            </a:r>
            <a:r>
              <a:rPr lang="en-US" dirty="0"/>
              <a:t> </a:t>
            </a:r>
            <a:r>
              <a:rPr lang="en-US" dirty="0" err="1"/>
              <a:t>hiện</a:t>
            </a:r>
            <a:r>
              <a:rPr lang="en-US" dirty="0"/>
              <a:t> </a:t>
            </a:r>
            <a:r>
              <a:rPr lang="en-US" dirty="0" err="1"/>
              <a:t>đồ</a:t>
            </a:r>
            <a:r>
              <a:rPr lang="en-US" dirty="0"/>
              <a:t> </a:t>
            </a:r>
            <a:r>
              <a:rPr lang="en-US" dirty="0" err="1"/>
              <a:t>án</a:t>
            </a:r>
            <a:r>
              <a:rPr lang="en-US" dirty="0"/>
              <a:t>, </a:t>
            </a:r>
            <a:r>
              <a:rPr lang="en-US" dirty="0" err="1"/>
              <a:t>còn</a:t>
            </a:r>
            <a:r>
              <a:rPr lang="en-US" dirty="0"/>
              <a:t> </a:t>
            </a:r>
            <a:r>
              <a:rPr lang="en-US" b="1" dirty="0" err="1"/>
              <a:t>FinalSubmissions</a:t>
            </a:r>
            <a:r>
              <a:rPr lang="en-US" dirty="0"/>
              <a:t> </a:t>
            </a:r>
            <a:r>
              <a:rPr lang="en-US" dirty="0" err="1"/>
              <a:t>dùng</a:t>
            </a:r>
            <a:r>
              <a:rPr lang="en-US" dirty="0"/>
              <a:t> </a:t>
            </a:r>
            <a:r>
              <a:rPr lang="en-US" dirty="0" err="1"/>
              <a:t>để</a:t>
            </a:r>
            <a:r>
              <a:rPr lang="en-US" dirty="0"/>
              <a:t> </a:t>
            </a:r>
            <a:r>
              <a:rPr lang="en-US" dirty="0" err="1"/>
              <a:t>quản</a:t>
            </a:r>
            <a:r>
              <a:rPr lang="en-US" dirty="0"/>
              <a:t> </a:t>
            </a:r>
            <a:r>
              <a:rPr lang="en-US" dirty="0" err="1"/>
              <a:t>lý</a:t>
            </a:r>
            <a:r>
              <a:rPr lang="en-US" dirty="0"/>
              <a:t> </a:t>
            </a:r>
            <a:r>
              <a:rPr lang="en-US" dirty="0" err="1"/>
              <a:t>bài</a:t>
            </a:r>
            <a:r>
              <a:rPr lang="en-US" dirty="0"/>
              <a:t> </a:t>
            </a:r>
            <a:r>
              <a:rPr lang="en-US" dirty="0" err="1"/>
              <a:t>nộp</a:t>
            </a:r>
            <a:r>
              <a:rPr lang="en-US" dirty="0"/>
              <a:t> </a:t>
            </a:r>
            <a:r>
              <a:rPr lang="en-US" dirty="0" err="1"/>
              <a:t>cuối</a:t>
            </a:r>
            <a:r>
              <a:rPr lang="en-US" dirty="0"/>
              <a:t> </a:t>
            </a:r>
            <a:r>
              <a:rPr lang="en-US" dirty="0" err="1"/>
              <a:t>kỳ</a:t>
            </a:r>
            <a:r>
              <a:rPr lang="en-US" dirty="0"/>
              <a:t>.</a:t>
            </a:r>
          </a:p>
          <a:p>
            <a:r>
              <a:rPr lang="en-US" dirty="0" err="1"/>
              <a:t>Nhờ</a:t>
            </a:r>
            <a:r>
              <a:rPr lang="en-US" dirty="0"/>
              <a:t> </a:t>
            </a:r>
            <a:r>
              <a:rPr lang="en-US" dirty="0" err="1"/>
              <a:t>các</a:t>
            </a:r>
            <a:r>
              <a:rPr lang="en-US" dirty="0"/>
              <a:t> </a:t>
            </a:r>
            <a:r>
              <a:rPr lang="en-US" dirty="0" err="1"/>
              <a:t>mối</a:t>
            </a:r>
            <a:r>
              <a:rPr lang="en-US" dirty="0"/>
              <a:t> </a:t>
            </a:r>
            <a:r>
              <a:rPr lang="en-US" dirty="0" err="1"/>
              <a:t>quan</a:t>
            </a:r>
            <a:r>
              <a:rPr lang="en-US" dirty="0"/>
              <a:t> </a:t>
            </a:r>
            <a:r>
              <a:rPr lang="en-US" dirty="0" err="1"/>
              <a:t>hệ</a:t>
            </a:r>
            <a:r>
              <a:rPr lang="en-US" dirty="0"/>
              <a:t> </a:t>
            </a:r>
            <a:r>
              <a:rPr lang="en-US" dirty="0" err="1"/>
              <a:t>này</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quản</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xuyên</a:t>
            </a:r>
            <a:r>
              <a:rPr lang="en-US" dirty="0"/>
              <a:t> </a:t>
            </a:r>
            <a:r>
              <a:rPr lang="en-US" dirty="0" err="1"/>
              <a:t>suốt</a:t>
            </a:r>
            <a:r>
              <a:rPr lang="en-US" dirty="0"/>
              <a:t>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đồ</a:t>
            </a:r>
            <a:r>
              <a:rPr lang="en-US" dirty="0"/>
              <a:t> </a:t>
            </a:r>
            <a:r>
              <a:rPr lang="en-US" dirty="0" err="1"/>
              <a:t>án</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7</a:t>
            </a:fld>
            <a:endParaRPr lang="en-US"/>
          </a:p>
        </p:txBody>
      </p:sp>
    </p:spTree>
    <p:extLst>
      <p:ext uri="{BB962C8B-B14F-4D97-AF65-F5344CB8AC3E}">
        <p14:creationId xmlns:p14="http://schemas.microsoft.com/office/powerpoint/2010/main" val="2334729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b="1" dirty="0" err="1"/>
              <a:t>kiến</a:t>
            </a:r>
            <a:r>
              <a:rPr lang="en-US" b="1" dirty="0"/>
              <a:t> </a:t>
            </a:r>
            <a:r>
              <a:rPr lang="en-US" b="1" dirty="0" err="1"/>
              <a:t>trúc</a:t>
            </a:r>
            <a:r>
              <a:rPr lang="en-US" b="1" dirty="0"/>
              <a:t> </a:t>
            </a:r>
            <a:r>
              <a:rPr lang="en-US" b="1" dirty="0" err="1"/>
              <a:t>tổng</a:t>
            </a:r>
            <a:r>
              <a:rPr lang="en-US" b="1" dirty="0"/>
              <a:t> </a:t>
            </a:r>
            <a:r>
              <a:rPr lang="en-US" b="1" dirty="0" err="1"/>
              <a:t>thể</a:t>
            </a:r>
            <a:r>
              <a:rPr lang="en-US" b="1" dirty="0"/>
              <a:t> </a:t>
            </a:r>
            <a:r>
              <a:rPr lang="en-US" b="1" dirty="0" err="1"/>
              <a:t>của</a:t>
            </a:r>
            <a:r>
              <a:rPr lang="en-US" b="1" dirty="0"/>
              <a:t> </a:t>
            </a:r>
            <a:r>
              <a:rPr lang="en-US" b="1" dirty="0" err="1"/>
              <a:t>hệ</a:t>
            </a:r>
            <a:r>
              <a:rPr lang="en-US" b="1" dirty="0"/>
              <a:t> </a:t>
            </a:r>
            <a:r>
              <a:rPr lang="en-US" b="1" dirty="0" err="1"/>
              <a:t>thống</a:t>
            </a:r>
            <a:r>
              <a:rPr lang="en-US" dirty="0"/>
              <a:t>.</a:t>
            </a:r>
          </a:p>
          <a:p>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a:t>
            </a:r>
            <a:r>
              <a:rPr lang="en-US" dirty="0" err="1"/>
              <a:t>mô</a:t>
            </a:r>
            <a:r>
              <a:rPr lang="en-US" dirty="0"/>
              <a:t> </a:t>
            </a:r>
            <a:r>
              <a:rPr lang="en-US" dirty="0" err="1"/>
              <a:t>hình</a:t>
            </a:r>
            <a:r>
              <a:rPr lang="en-US" dirty="0"/>
              <a:t> </a:t>
            </a:r>
            <a:r>
              <a:rPr lang="en-US" b="1" dirty="0"/>
              <a:t>Client – Server Architecture</a:t>
            </a:r>
            <a:r>
              <a:rPr lang="en-US" dirty="0"/>
              <a:t>.</a:t>
            </a:r>
          </a:p>
          <a:p>
            <a:r>
              <a:rPr lang="en-US" dirty="0" err="1"/>
              <a:t>Phía</a:t>
            </a:r>
            <a:r>
              <a:rPr lang="en-US" dirty="0"/>
              <a:t> </a:t>
            </a:r>
            <a:r>
              <a:rPr lang="en-US" b="1" dirty="0"/>
              <a:t>Frontend</a:t>
            </a:r>
            <a:r>
              <a:rPr lang="en-US" dirty="0"/>
              <a:t> </a:t>
            </a:r>
            <a:r>
              <a:rPr lang="en-US" dirty="0" err="1"/>
              <a:t>sử</a:t>
            </a:r>
            <a:r>
              <a:rPr lang="en-US" dirty="0"/>
              <a:t> </a:t>
            </a:r>
            <a:r>
              <a:rPr lang="en-US" dirty="0" err="1"/>
              <a:t>dụng</a:t>
            </a:r>
            <a:r>
              <a:rPr lang="en-US" dirty="0"/>
              <a:t> React </a:t>
            </a:r>
            <a:r>
              <a:rPr lang="en-US" dirty="0" err="1"/>
              <a:t>kết</a:t>
            </a:r>
            <a:r>
              <a:rPr lang="en-US" dirty="0"/>
              <a:t> </a:t>
            </a:r>
            <a:r>
              <a:rPr lang="en-US" dirty="0" err="1"/>
              <a:t>hợp</a:t>
            </a:r>
            <a:r>
              <a:rPr lang="en-US" dirty="0"/>
              <a:t> </a:t>
            </a:r>
            <a:r>
              <a:rPr lang="en-US" dirty="0" err="1"/>
              <a:t>với</a:t>
            </a:r>
            <a:r>
              <a:rPr lang="en-US" dirty="0"/>
              <a:t> HTML, CSS </a:t>
            </a:r>
            <a:r>
              <a:rPr lang="en-US" dirty="0" err="1"/>
              <a:t>và</a:t>
            </a:r>
            <a:r>
              <a:rPr lang="en-US" dirty="0"/>
              <a:t> JavaScript </a:t>
            </a:r>
            <a:r>
              <a:rPr lang="en-US" dirty="0" err="1"/>
              <a:t>để</a:t>
            </a:r>
            <a:r>
              <a:rPr lang="en-US" dirty="0"/>
              <a:t> </a:t>
            </a:r>
            <a:r>
              <a:rPr lang="en-US" dirty="0" err="1"/>
              <a:t>xây</a:t>
            </a:r>
            <a:r>
              <a:rPr lang="en-US" dirty="0"/>
              <a:t> </a:t>
            </a:r>
            <a:r>
              <a:rPr lang="en-US" dirty="0" err="1"/>
              <a:t>dựng</a:t>
            </a:r>
            <a:r>
              <a:rPr lang="en-US" dirty="0"/>
              <a:t> </a:t>
            </a:r>
            <a:r>
              <a:rPr lang="en-US" dirty="0" err="1"/>
              <a:t>giao</a:t>
            </a:r>
            <a:r>
              <a:rPr lang="en-US" dirty="0"/>
              <a:t> </a:t>
            </a:r>
            <a:r>
              <a:rPr lang="en-US" dirty="0" err="1"/>
              <a:t>diện</a:t>
            </a:r>
            <a:r>
              <a:rPr lang="en-US" dirty="0"/>
              <a:t> </a:t>
            </a:r>
            <a:r>
              <a:rPr lang="en-US" dirty="0" err="1"/>
              <a:t>cho</a:t>
            </a:r>
            <a:r>
              <a:rPr lang="en-US" dirty="0"/>
              <a:t> </a:t>
            </a:r>
            <a:r>
              <a:rPr lang="en-US" dirty="0" err="1"/>
              <a:t>người</a:t>
            </a:r>
            <a:r>
              <a:rPr lang="en-US" dirty="0"/>
              <a:t> </a:t>
            </a:r>
            <a:r>
              <a:rPr lang="en-US" dirty="0" err="1"/>
              <a:t>dùng</a:t>
            </a:r>
            <a:r>
              <a:rPr lang="en-US" dirty="0"/>
              <a:t>.</a:t>
            </a:r>
          </a:p>
          <a:p>
            <a:r>
              <a:rPr lang="en-US" dirty="0" err="1"/>
              <a:t>Phía</a:t>
            </a:r>
            <a:r>
              <a:rPr lang="en-US" dirty="0"/>
              <a:t> </a:t>
            </a:r>
            <a:r>
              <a:rPr lang="en-US" b="1" dirty="0"/>
              <a:t>Backend</a:t>
            </a:r>
            <a:r>
              <a:rPr lang="en-US" dirty="0"/>
              <a:t> </a:t>
            </a:r>
            <a:r>
              <a:rPr lang="en-US" dirty="0" err="1"/>
              <a:t>sử</a:t>
            </a:r>
            <a:r>
              <a:rPr lang="en-US" dirty="0"/>
              <a:t> </a:t>
            </a:r>
            <a:r>
              <a:rPr lang="en-US" dirty="0" err="1"/>
              <a:t>dụng</a:t>
            </a:r>
            <a:r>
              <a:rPr lang="en-US" dirty="0"/>
              <a:t> Node.js </a:t>
            </a:r>
            <a:r>
              <a:rPr lang="en-US" dirty="0" err="1"/>
              <a:t>và</a:t>
            </a:r>
            <a:r>
              <a:rPr lang="en-US" dirty="0"/>
              <a:t> RESTful API </a:t>
            </a:r>
            <a:r>
              <a:rPr lang="en-US" dirty="0" err="1"/>
              <a:t>để</a:t>
            </a:r>
            <a:r>
              <a:rPr lang="en-US" dirty="0"/>
              <a:t> </a:t>
            </a:r>
            <a:r>
              <a:rPr lang="en-US" dirty="0" err="1"/>
              <a:t>xử</a:t>
            </a:r>
            <a:r>
              <a:rPr lang="en-US" dirty="0"/>
              <a:t> </a:t>
            </a:r>
            <a:r>
              <a:rPr lang="en-US" dirty="0" err="1"/>
              <a:t>lý</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từ</a:t>
            </a:r>
            <a:r>
              <a:rPr lang="en-US" dirty="0"/>
              <a:t> Frontend.</a:t>
            </a:r>
          </a:p>
          <a:p>
            <a:r>
              <a:rPr lang="en-US" dirty="0" err="1"/>
              <a:t>Cuối</a:t>
            </a:r>
            <a:r>
              <a:rPr lang="en-US" dirty="0"/>
              <a:t> </a:t>
            </a:r>
            <a:r>
              <a:rPr lang="en-US" dirty="0" err="1"/>
              <a:t>cùng</a:t>
            </a:r>
            <a:r>
              <a:rPr lang="en-US" dirty="0"/>
              <a:t> </a:t>
            </a:r>
            <a:r>
              <a:rPr lang="en-US" dirty="0" err="1"/>
              <a:t>là</a:t>
            </a:r>
            <a:r>
              <a:rPr lang="en-US" dirty="0"/>
              <a:t> </a:t>
            </a:r>
            <a:r>
              <a:rPr lang="en-US" b="1" dirty="0"/>
              <a:t>Database</a:t>
            </a:r>
            <a:r>
              <a:rPr lang="en-US" dirty="0"/>
              <a:t>, </a:t>
            </a:r>
            <a:r>
              <a:rPr lang="en-US" dirty="0" err="1"/>
              <a:t>sử</a:t>
            </a:r>
            <a:r>
              <a:rPr lang="en-US" dirty="0"/>
              <a:t> </a:t>
            </a:r>
            <a:r>
              <a:rPr lang="en-US" dirty="0" err="1"/>
              <a:t>dụng</a:t>
            </a:r>
            <a:r>
              <a:rPr lang="en-US" dirty="0"/>
              <a:t> SQL Server </a:t>
            </a:r>
            <a:r>
              <a:rPr lang="en-US" dirty="0" err="1"/>
              <a:t>để</a:t>
            </a:r>
            <a:r>
              <a:rPr lang="en-US" dirty="0"/>
              <a:t> </a:t>
            </a:r>
            <a:r>
              <a:rPr lang="en-US" dirty="0" err="1"/>
              <a:t>lưu</a:t>
            </a:r>
            <a:r>
              <a:rPr lang="en-US" dirty="0"/>
              <a:t> </a:t>
            </a:r>
            <a:r>
              <a:rPr lang="en-US" dirty="0" err="1"/>
              <a:t>trữ</a:t>
            </a:r>
            <a:r>
              <a:rPr lang="en-US" dirty="0"/>
              <a:t> </a:t>
            </a:r>
            <a:r>
              <a:rPr lang="en-US" dirty="0" err="1"/>
              <a:t>dữ</a:t>
            </a:r>
            <a:r>
              <a:rPr lang="en-US" dirty="0"/>
              <a:t> </a:t>
            </a:r>
            <a:r>
              <a:rPr lang="en-US" dirty="0" err="1"/>
              <a:t>liệu</a:t>
            </a:r>
            <a:r>
              <a:rPr lang="en-US" dirty="0"/>
              <a:t>.</a:t>
            </a:r>
          </a:p>
          <a:p>
            <a:r>
              <a:rPr lang="en-US" dirty="0" err="1"/>
              <a:t>Việc</a:t>
            </a:r>
            <a:r>
              <a:rPr lang="en-US" dirty="0"/>
              <a:t> </a:t>
            </a:r>
            <a:r>
              <a:rPr lang="en-US" dirty="0" err="1"/>
              <a:t>tách</a:t>
            </a:r>
            <a:r>
              <a:rPr lang="en-US" dirty="0"/>
              <a:t> </a:t>
            </a:r>
            <a:r>
              <a:rPr lang="en-US" dirty="0" err="1"/>
              <a:t>riêng</a:t>
            </a:r>
            <a:r>
              <a:rPr lang="en-US" dirty="0"/>
              <a:t> Frontend </a:t>
            </a:r>
            <a:r>
              <a:rPr lang="en-US" dirty="0" err="1"/>
              <a:t>và</a:t>
            </a:r>
            <a:r>
              <a:rPr lang="en-US" dirty="0"/>
              <a:t> Backend </a:t>
            </a:r>
            <a:r>
              <a:rPr lang="en-US" dirty="0" err="1"/>
              <a:t>giúp</a:t>
            </a:r>
            <a:r>
              <a:rPr lang="en-US" dirty="0"/>
              <a:t> </a:t>
            </a:r>
            <a:r>
              <a:rPr lang="en-US" dirty="0" err="1"/>
              <a:t>kiến</a:t>
            </a:r>
            <a:r>
              <a:rPr lang="en-US" dirty="0"/>
              <a:t> </a:t>
            </a:r>
            <a:r>
              <a:rPr lang="en-US" dirty="0" err="1"/>
              <a:t>trúc</a:t>
            </a:r>
            <a:r>
              <a:rPr lang="en-US" dirty="0"/>
              <a:t> </a:t>
            </a:r>
            <a:r>
              <a:rPr lang="en-US" dirty="0" err="1"/>
              <a:t>hệ</a:t>
            </a:r>
            <a:r>
              <a:rPr lang="en-US" dirty="0"/>
              <a:t> </a:t>
            </a:r>
            <a:r>
              <a:rPr lang="en-US" dirty="0" err="1"/>
              <a:t>thống</a:t>
            </a:r>
            <a:r>
              <a:rPr lang="en-US" dirty="0"/>
              <a:t> </a:t>
            </a:r>
            <a:r>
              <a:rPr lang="en-US" dirty="0" err="1"/>
              <a:t>rõ</a:t>
            </a:r>
            <a:r>
              <a:rPr lang="en-US" dirty="0"/>
              <a:t> </a:t>
            </a:r>
            <a:r>
              <a:rPr lang="en-US" dirty="0" err="1"/>
              <a:t>ràng</a:t>
            </a:r>
            <a:r>
              <a:rPr lang="en-US" dirty="0"/>
              <a:t>, </a:t>
            </a:r>
            <a:r>
              <a:rPr lang="en-US" dirty="0" err="1"/>
              <a:t>dễ</a:t>
            </a:r>
            <a:r>
              <a:rPr lang="en-US" dirty="0"/>
              <a:t> </a:t>
            </a:r>
            <a:r>
              <a:rPr lang="en-US" dirty="0" err="1"/>
              <a:t>phân</a:t>
            </a:r>
            <a:r>
              <a:rPr lang="en-US" dirty="0"/>
              <a:t> </a:t>
            </a:r>
            <a:r>
              <a:rPr lang="en-US" dirty="0" err="1"/>
              <a:t>công</a:t>
            </a:r>
            <a:r>
              <a:rPr lang="en-US" dirty="0"/>
              <a:t> </a:t>
            </a:r>
            <a:r>
              <a:rPr lang="en-US" dirty="0" err="1"/>
              <a:t>phát</a:t>
            </a:r>
            <a:r>
              <a:rPr lang="en-US" dirty="0"/>
              <a:t> </a:t>
            </a:r>
            <a:r>
              <a:rPr lang="en-US" dirty="0" err="1"/>
              <a:t>triển</a:t>
            </a:r>
            <a:r>
              <a:rPr lang="en-US" dirty="0"/>
              <a:t> </a:t>
            </a:r>
            <a:r>
              <a:rPr lang="en-US" dirty="0" err="1"/>
              <a:t>và</a:t>
            </a:r>
            <a:r>
              <a:rPr lang="en-US" dirty="0"/>
              <a:t> </a:t>
            </a:r>
            <a:r>
              <a:rPr lang="en-US" dirty="0" err="1"/>
              <a:t>dễ</a:t>
            </a:r>
            <a:r>
              <a:rPr lang="en-US" dirty="0"/>
              <a:t> </a:t>
            </a:r>
            <a:r>
              <a:rPr lang="en-US" dirty="0" err="1"/>
              <a:t>bảo</a:t>
            </a:r>
            <a:r>
              <a:rPr lang="en-US" dirty="0"/>
              <a:t> </a:t>
            </a:r>
            <a:r>
              <a:rPr lang="en-US" dirty="0" err="1"/>
              <a:t>trì</a:t>
            </a:r>
            <a:r>
              <a:rPr lang="en-US" dirty="0"/>
              <a:t>.</a:t>
            </a:r>
          </a:p>
          <a:p>
            <a:r>
              <a:rPr lang="en-US" dirty="0" err="1"/>
              <a:t>Ngoài</a:t>
            </a:r>
            <a:r>
              <a:rPr lang="en-US" dirty="0"/>
              <a:t> </a:t>
            </a:r>
            <a:r>
              <a:rPr lang="en-US" dirty="0" err="1"/>
              <a:t>ra</a:t>
            </a:r>
            <a:r>
              <a:rPr lang="en-US" dirty="0"/>
              <a:t>, </a:t>
            </a:r>
            <a:r>
              <a:rPr lang="en-US" dirty="0" err="1"/>
              <a:t>kiến</a:t>
            </a:r>
            <a:r>
              <a:rPr lang="en-US" dirty="0"/>
              <a:t> </a:t>
            </a:r>
            <a:r>
              <a:rPr lang="en-US" dirty="0" err="1"/>
              <a:t>trúc</a:t>
            </a:r>
            <a:r>
              <a:rPr lang="en-US" dirty="0"/>
              <a:t> </a:t>
            </a:r>
            <a:r>
              <a:rPr lang="en-US" dirty="0" err="1"/>
              <a:t>này</a:t>
            </a:r>
            <a:r>
              <a:rPr lang="en-US" dirty="0"/>
              <a:t> </a:t>
            </a:r>
            <a:r>
              <a:rPr lang="en-US" dirty="0" err="1"/>
              <a:t>cũng</a:t>
            </a:r>
            <a:r>
              <a:rPr lang="en-US" dirty="0"/>
              <a:t> </a:t>
            </a:r>
            <a:r>
              <a:rPr lang="en-US" dirty="0" err="1"/>
              <a:t>thuận</a:t>
            </a:r>
            <a:r>
              <a:rPr lang="en-US" dirty="0"/>
              <a:t> </a:t>
            </a:r>
            <a:r>
              <a:rPr lang="en-US" dirty="0" err="1"/>
              <a:t>lợi</a:t>
            </a:r>
            <a:r>
              <a:rPr lang="en-US" dirty="0"/>
              <a:t> </a:t>
            </a:r>
            <a:r>
              <a:rPr lang="en-US" dirty="0" err="1"/>
              <a:t>cho</a:t>
            </a:r>
            <a:r>
              <a:rPr lang="en-US" dirty="0"/>
              <a:t> </a:t>
            </a:r>
            <a:r>
              <a:rPr lang="en-US" dirty="0" err="1"/>
              <a:t>việc</a:t>
            </a:r>
            <a:r>
              <a:rPr lang="en-US" dirty="0"/>
              <a:t> </a:t>
            </a:r>
            <a:r>
              <a:rPr lang="en-US" dirty="0" err="1"/>
              <a:t>mở</a:t>
            </a:r>
            <a:r>
              <a:rPr lang="en-US" dirty="0"/>
              <a:t> </a:t>
            </a:r>
            <a:r>
              <a:rPr lang="en-US" dirty="0" err="1"/>
              <a:t>rộng</a:t>
            </a:r>
            <a:r>
              <a:rPr lang="en-US" dirty="0"/>
              <a:t> </a:t>
            </a:r>
            <a:r>
              <a:rPr lang="en-US" dirty="0" err="1"/>
              <a:t>trong</a:t>
            </a:r>
            <a:r>
              <a:rPr lang="en-US" dirty="0"/>
              <a:t> </a:t>
            </a:r>
            <a:r>
              <a:rPr lang="en-US" dirty="0" err="1"/>
              <a:t>tương</a:t>
            </a:r>
            <a:r>
              <a:rPr lang="en-US" dirty="0"/>
              <a:t> lai </a:t>
            </a:r>
            <a:r>
              <a:rPr lang="en-US" dirty="0" err="1"/>
              <a:t>khi</a:t>
            </a:r>
            <a:r>
              <a:rPr lang="en-US" dirty="0"/>
              <a:t> </a:t>
            </a:r>
            <a:r>
              <a:rPr lang="en-US" dirty="0" err="1"/>
              <a:t>có</a:t>
            </a:r>
            <a:r>
              <a:rPr lang="en-US" dirty="0"/>
              <a:t> </a:t>
            </a:r>
            <a:r>
              <a:rPr lang="en-US" dirty="0" err="1"/>
              <a:t>thể</a:t>
            </a:r>
            <a:r>
              <a:rPr lang="en-US" dirty="0"/>
              <a:t> </a:t>
            </a:r>
            <a:r>
              <a:rPr lang="en-US" dirty="0" err="1"/>
              <a:t>phát</a:t>
            </a:r>
            <a:r>
              <a:rPr lang="en-US" dirty="0"/>
              <a:t> </a:t>
            </a:r>
            <a:r>
              <a:rPr lang="en-US" dirty="0" err="1"/>
              <a:t>triển</a:t>
            </a:r>
            <a:r>
              <a:rPr lang="en-US" dirty="0"/>
              <a:t> </a:t>
            </a:r>
            <a:r>
              <a:rPr lang="en-US" dirty="0" err="1"/>
              <a:t>thêm</a:t>
            </a:r>
            <a:r>
              <a:rPr lang="en-US" dirty="0"/>
              <a:t> </a:t>
            </a:r>
            <a:r>
              <a:rPr lang="en-US" dirty="0" err="1"/>
              <a:t>các</a:t>
            </a:r>
            <a:r>
              <a:rPr lang="en-US" dirty="0"/>
              <a:t> Client </a:t>
            </a:r>
            <a:r>
              <a:rPr lang="en-US" dirty="0" err="1"/>
              <a:t>khác</a:t>
            </a:r>
            <a:r>
              <a:rPr lang="en-US" dirty="0"/>
              <a:t> </a:t>
            </a:r>
            <a:r>
              <a:rPr lang="en-US" dirty="0" err="1"/>
              <a:t>sử</a:t>
            </a:r>
            <a:r>
              <a:rPr lang="en-US" dirty="0"/>
              <a:t> </a:t>
            </a:r>
            <a:r>
              <a:rPr lang="en-US" dirty="0" err="1"/>
              <a:t>dụng</a:t>
            </a:r>
            <a:r>
              <a:rPr lang="en-US" dirty="0"/>
              <a:t> </a:t>
            </a:r>
            <a:r>
              <a:rPr lang="en-US" dirty="0" err="1"/>
              <a:t>chung</a:t>
            </a:r>
            <a:r>
              <a:rPr lang="en-US" dirty="0"/>
              <a:t> </a:t>
            </a:r>
            <a:r>
              <a:rPr lang="en-US" dirty="0" err="1"/>
              <a:t>hệ</a:t>
            </a:r>
            <a:r>
              <a:rPr lang="en-US" dirty="0"/>
              <a:t> </a:t>
            </a:r>
            <a:r>
              <a:rPr lang="en-US" dirty="0" err="1"/>
              <a:t>thống</a:t>
            </a:r>
            <a:r>
              <a:rPr lang="en-US" dirty="0"/>
              <a:t> API.</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8</a:t>
            </a:fld>
            <a:endParaRPr lang="en-US"/>
          </a:p>
        </p:txBody>
      </p:sp>
    </p:spTree>
    <p:extLst>
      <p:ext uri="{BB962C8B-B14F-4D97-AF65-F5344CB8AC3E}">
        <p14:creationId xmlns:p14="http://schemas.microsoft.com/office/powerpoint/2010/main" val="3757900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Về</a:t>
            </a:r>
            <a:r>
              <a:rPr lang="en-US" dirty="0"/>
              <a:t> </a:t>
            </a:r>
            <a:r>
              <a:rPr lang="en-US" dirty="0" err="1"/>
              <a:t>công</a:t>
            </a:r>
            <a:r>
              <a:rPr lang="en-US" dirty="0"/>
              <a:t> </a:t>
            </a:r>
            <a:r>
              <a:rPr lang="en-US" dirty="0" err="1"/>
              <a:t>nghệ</a:t>
            </a:r>
            <a:r>
              <a:rPr lang="en-US" dirty="0"/>
              <a:t>, </a:t>
            </a:r>
            <a:r>
              <a:rPr lang="en-US" dirty="0" err="1"/>
              <a:t>phía</a:t>
            </a:r>
            <a:r>
              <a:rPr lang="en-US" dirty="0"/>
              <a:t> </a:t>
            </a:r>
            <a:r>
              <a:rPr lang="en-US" b="1" dirty="0"/>
              <a:t>Frontend</a:t>
            </a:r>
            <a:r>
              <a:rPr lang="en-US" dirty="0"/>
              <a:t> </a:t>
            </a:r>
            <a:r>
              <a:rPr lang="en-US" dirty="0" err="1"/>
              <a:t>sử</a:t>
            </a:r>
            <a:r>
              <a:rPr lang="en-US" dirty="0"/>
              <a:t> </a:t>
            </a:r>
            <a:r>
              <a:rPr lang="en-US" dirty="0" err="1"/>
              <a:t>dụng</a:t>
            </a:r>
            <a:r>
              <a:rPr lang="en-US" dirty="0"/>
              <a:t> React, HTML5, CSS3 </a:t>
            </a:r>
            <a:r>
              <a:rPr lang="en-US" dirty="0" err="1"/>
              <a:t>và</a:t>
            </a:r>
            <a:r>
              <a:rPr lang="en-US" dirty="0"/>
              <a:t> JavaScript.</a:t>
            </a:r>
          </a:p>
          <a:p>
            <a:r>
              <a:rPr lang="en-US" dirty="0" err="1"/>
              <a:t>Phía</a:t>
            </a:r>
            <a:r>
              <a:rPr lang="en-US" dirty="0"/>
              <a:t> </a:t>
            </a:r>
            <a:r>
              <a:rPr lang="en-US" b="1" dirty="0"/>
              <a:t>Backend</a:t>
            </a:r>
            <a:r>
              <a:rPr lang="en-US" dirty="0"/>
              <a:t> </a:t>
            </a:r>
            <a:r>
              <a:rPr lang="en-US" dirty="0" err="1"/>
              <a:t>sử</a:t>
            </a:r>
            <a:r>
              <a:rPr lang="en-US" dirty="0"/>
              <a:t> </a:t>
            </a:r>
            <a:r>
              <a:rPr lang="en-US" dirty="0" err="1"/>
              <a:t>dụng</a:t>
            </a:r>
            <a:r>
              <a:rPr lang="en-US" dirty="0"/>
              <a:t> Node.js, RESTful API </a:t>
            </a:r>
            <a:r>
              <a:rPr lang="en-US" dirty="0" err="1"/>
              <a:t>và</a:t>
            </a:r>
            <a:r>
              <a:rPr lang="en-US" dirty="0"/>
              <a:t> </a:t>
            </a:r>
            <a:r>
              <a:rPr lang="en-US" dirty="0" err="1"/>
              <a:t>mô</a:t>
            </a:r>
            <a:r>
              <a:rPr lang="en-US" dirty="0"/>
              <a:t> </a:t>
            </a:r>
            <a:r>
              <a:rPr lang="en-US" dirty="0" err="1"/>
              <a:t>hình</a:t>
            </a:r>
            <a:r>
              <a:rPr lang="en-US" dirty="0"/>
              <a:t> </a:t>
            </a:r>
            <a:r>
              <a:rPr lang="en-US" dirty="0" err="1"/>
              <a:t>phân</a:t>
            </a:r>
            <a:r>
              <a:rPr lang="en-US" dirty="0"/>
              <a:t> chia </a:t>
            </a:r>
            <a:r>
              <a:rPr lang="en-US" dirty="0" err="1"/>
              <a:t>thành</a:t>
            </a:r>
            <a:r>
              <a:rPr lang="en-US" dirty="0"/>
              <a:t> Routes, Controllers, Services </a:t>
            </a:r>
            <a:r>
              <a:rPr lang="en-US" dirty="0" err="1"/>
              <a:t>và</a:t>
            </a:r>
            <a:r>
              <a:rPr lang="en-US" dirty="0"/>
              <a:t> Models.</a:t>
            </a:r>
          </a:p>
          <a:p>
            <a:r>
              <a:rPr lang="en-US" dirty="0" err="1"/>
              <a:t>Phần</a:t>
            </a:r>
            <a:r>
              <a:rPr lang="en-US" dirty="0"/>
              <a:t> </a:t>
            </a:r>
            <a:r>
              <a:rPr lang="en-US" b="1" dirty="0"/>
              <a:t>Database</a:t>
            </a:r>
            <a:r>
              <a:rPr lang="en-US" dirty="0"/>
              <a:t> </a:t>
            </a:r>
            <a:r>
              <a:rPr lang="en-US" dirty="0" err="1"/>
              <a:t>sử</a:t>
            </a:r>
            <a:r>
              <a:rPr lang="en-US" dirty="0"/>
              <a:t> </a:t>
            </a:r>
            <a:r>
              <a:rPr lang="en-US" dirty="0" err="1"/>
              <a:t>dụng</a:t>
            </a:r>
            <a:r>
              <a:rPr lang="en-US" dirty="0"/>
              <a:t> SQL Server.</a:t>
            </a:r>
          </a:p>
          <a:p>
            <a:r>
              <a:rPr lang="en-US" dirty="0" err="1"/>
              <a:t>Ngoài</a:t>
            </a:r>
            <a:r>
              <a:rPr lang="en-US" dirty="0"/>
              <a:t> </a:t>
            </a:r>
            <a:r>
              <a:rPr lang="en-US" dirty="0" err="1"/>
              <a:t>ra</a:t>
            </a:r>
            <a:r>
              <a:rPr lang="en-US" dirty="0"/>
              <a:t>, </a:t>
            </a:r>
            <a:r>
              <a:rPr lang="en-US" dirty="0" err="1"/>
              <a:t>hệ</a:t>
            </a:r>
            <a:r>
              <a:rPr lang="en-US" dirty="0"/>
              <a:t> </a:t>
            </a:r>
            <a:r>
              <a:rPr lang="en-US" dirty="0" err="1"/>
              <a:t>thống</a:t>
            </a:r>
            <a:r>
              <a:rPr lang="en-US" dirty="0"/>
              <a:t> </a:t>
            </a:r>
            <a:r>
              <a:rPr lang="en-US" dirty="0" err="1"/>
              <a:t>còn</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số</a:t>
            </a:r>
            <a:r>
              <a:rPr lang="en-US" dirty="0"/>
              <a:t> </a:t>
            </a:r>
            <a:r>
              <a:rPr lang="en-US" dirty="0" err="1"/>
              <a:t>công</a:t>
            </a:r>
            <a:r>
              <a:rPr lang="en-US" dirty="0"/>
              <a:t> </a:t>
            </a:r>
            <a:r>
              <a:rPr lang="en-US" dirty="0" err="1"/>
              <a:t>nghệ</a:t>
            </a:r>
            <a:r>
              <a:rPr lang="en-US" dirty="0"/>
              <a:t> </a:t>
            </a:r>
            <a:r>
              <a:rPr lang="en-US" dirty="0" err="1"/>
              <a:t>và</a:t>
            </a:r>
            <a:r>
              <a:rPr lang="en-US" dirty="0"/>
              <a:t> </a:t>
            </a:r>
            <a:r>
              <a:rPr lang="en-US" dirty="0" err="1"/>
              <a:t>kỹ</a:t>
            </a:r>
            <a:r>
              <a:rPr lang="en-US" dirty="0"/>
              <a:t> </a:t>
            </a:r>
            <a:r>
              <a:rPr lang="en-US" dirty="0" err="1"/>
              <a:t>thuật</a:t>
            </a:r>
            <a:r>
              <a:rPr lang="en-US" dirty="0"/>
              <a:t> </a:t>
            </a:r>
            <a:r>
              <a:rPr lang="en-US" dirty="0" err="1"/>
              <a:t>như</a:t>
            </a:r>
            <a:r>
              <a:rPr lang="en-US" dirty="0"/>
              <a:t> </a:t>
            </a:r>
            <a:r>
              <a:rPr lang="en-US" b="1" dirty="0"/>
              <a:t>JWT Authentication, Swagger </a:t>
            </a:r>
            <a:r>
              <a:rPr lang="en-US" b="1" dirty="0" err="1"/>
              <a:t>và</a:t>
            </a:r>
            <a:r>
              <a:rPr lang="en-US" b="1" dirty="0"/>
              <a:t> Docker</a:t>
            </a:r>
            <a:r>
              <a:rPr lang="en-US" dirty="0"/>
              <a:t>.</a:t>
            </a:r>
          </a:p>
          <a:p>
            <a:r>
              <a:rPr lang="en-US" dirty="0" err="1"/>
              <a:t>Việc</a:t>
            </a:r>
            <a:r>
              <a:rPr lang="en-US" dirty="0"/>
              <a:t> </a:t>
            </a:r>
            <a:r>
              <a:rPr lang="en-US" dirty="0" err="1"/>
              <a:t>kết</a:t>
            </a:r>
            <a:r>
              <a:rPr lang="en-US" dirty="0"/>
              <a:t> </a:t>
            </a:r>
            <a:r>
              <a:rPr lang="en-US" dirty="0" err="1"/>
              <a:t>hợp</a:t>
            </a:r>
            <a:r>
              <a:rPr lang="en-US" dirty="0"/>
              <a:t> </a:t>
            </a:r>
            <a:r>
              <a:rPr lang="en-US" dirty="0" err="1"/>
              <a:t>các</a:t>
            </a:r>
            <a:r>
              <a:rPr lang="en-US" dirty="0"/>
              <a:t> </a:t>
            </a:r>
            <a:r>
              <a:rPr lang="en-US" dirty="0" err="1"/>
              <a:t>công</a:t>
            </a:r>
            <a:r>
              <a:rPr lang="en-US" dirty="0"/>
              <a:t> </a:t>
            </a:r>
            <a:r>
              <a:rPr lang="en-US" dirty="0" err="1"/>
              <a:t>nghệ</a:t>
            </a:r>
            <a:r>
              <a:rPr lang="en-US" dirty="0"/>
              <a:t> </a:t>
            </a:r>
            <a:r>
              <a:rPr lang="en-US" dirty="0" err="1"/>
              <a:t>này</a:t>
            </a:r>
            <a:r>
              <a:rPr lang="en-US" dirty="0"/>
              <a:t> </a:t>
            </a:r>
            <a:r>
              <a:rPr lang="en-US" dirty="0" err="1"/>
              <a:t>giúp</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kiến</a:t>
            </a:r>
            <a:r>
              <a:rPr lang="en-US" dirty="0"/>
              <a:t> </a:t>
            </a:r>
            <a:r>
              <a:rPr lang="en-US" dirty="0" err="1"/>
              <a:t>trúc</a:t>
            </a:r>
            <a:r>
              <a:rPr lang="en-US" dirty="0"/>
              <a:t> </a:t>
            </a:r>
            <a:r>
              <a:rPr lang="en-US" dirty="0" err="1"/>
              <a:t>rõ</a:t>
            </a:r>
            <a:r>
              <a:rPr lang="en-US" dirty="0"/>
              <a:t> </a:t>
            </a:r>
            <a:r>
              <a:rPr lang="en-US" dirty="0" err="1"/>
              <a:t>ràng</a:t>
            </a:r>
            <a:r>
              <a:rPr lang="en-US" dirty="0"/>
              <a:t>, </a:t>
            </a:r>
            <a:r>
              <a:rPr lang="en-US" dirty="0" err="1"/>
              <a:t>hỗ</a:t>
            </a:r>
            <a:r>
              <a:rPr lang="en-US" dirty="0"/>
              <a:t> </a:t>
            </a:r>
            <a:r>
              <a:rPr lang="en-US" dirty="0" err="1"/>
              <a:t>trợ</a:t>
            </a:r>
            <a:r>
              <a:rPr lang="en-US" dirty="0"/>
              <a:t> </a:t>
            </a:r>
            <a:r>
              <a:rPr lang="en-US" dirty="0" err="1"/>
              <a:t>xác</a:t>
            </a:r>
            <a:r>
              <a:rPr lang="en-US" dirty="0"/>
              <a:t> </a:t>
            </a:r>
            <a:r>
              <a:rPr lang="en-US" dirty="0" err="1"/>
              <a:t>thực</a:t>
            </a:r>
            <a:r>
              <a:rPr lang="en-US" dirty="0"/>
              <a:t> </a:t>
            </a:r>
            <a:r>
              <a:rPr lang="en-US" dirty="0" err="1"/>
              <a:t>người</a:t>
            </a:r>
            <a:r>
              <a:rPr lang="en-US" dirty="0"/>
              <a:t> </a:t>
            </a:r>
            <a:r>
              <a:rPr lang="en-US" dirty="0" err="1"/>
              <a:t>dùng</a:t>
            </a:r>
            <a:r>
              <a:rPr lang="en-US" dirty="0"/>
              <a:t>, </a:t>
            </a:r>
            <a:r>
              <a:rPr lang="en-US" dirty="0" err="1"/>
              <a:t>tài</a:t>
            </a:r>
            <a:r>
              <a:rPr lang="en-US" dirty="0"/>
              <a:t> </a:t>
            </a:r>
            <a:r>
              <a:rPr lang="en-US" dirty="0" err="1"/>
              <a:t>liệu</a:t>
            </a:r>
            <a:r>
              <a:rPr lang="en-US" dirty="0"/>
              <a:t> </a:t>
            </a:r>
            <a:r>
              <a:rPr lang="en-US" dirty="0" err="1"/>
              <a:t>hóa</a:t>
            </a:r>
            <a:r>
              <a:rPr lang="en-US" dirty="0"/>
              <a:t> API </a:t>
            </a:r>
            <a:r>
              <a:rPr lang="en-US" dirty="0" err="1"/>
              <a:t>và</a:t>
            </a:r>
            <a:r>
              <a:rPr lang="en-US" dirty="0"/>
              <a:t> </a:t>
            </a:r>
            <a:r>
              <a:rPr lang="en-US" dirty="0" err="1"/>
              <a:t>thuận</a:t>
            </a:r>
            <a:r>
              <a:rPr lang="en-US" dirty="0"/>
              <a:t> </a:t>
            </a:r>
            <a:r>
              <a:rPr lang="en-US" dirty="0" err="1"/>
              <a:t>tiện</a:t>
            </a:r>
            <a:r>
              <a:rPr lang="en-US" dirty="0"/>
              <a:t> </a:t>
            </a:r>
            <a:r>
              <a:rPr lang="en-US" dirty="0" err="1"/>
              <a:t>cho</a:t>
            </a:r>
            <a:r>
              <a:rPr lang="en-US" dirty="0"/>
              <a:t> </a:t>
            </a:r>
            <a:r>
              <a:rPr lang="en-US" dirty="0" err="1"/>
              <a:t>việc</a:t>
            </a:r>
            <a:r>
              <a:rPr lang="en-US" dirty="0"/>
              <a:t> </a:t>
            </a:r>
            <a:r>
              <a:rPr lang="en-US" dirty="0" err="1"/>
              <a:t>triển</a:t>
            </a:r>
            <a:r>
              <a:rPr lang="en-US" dirty="0"/>
              <a:t> </a:t>
            </a:r>
            <a:r>
              <a:rPr lang="en-US" dirty="0" err="1"/>
              <a:t>khai</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9</a:t>
            </a:fld>
            <a:endParaRPr lang="en-US"/>
          </a:p>
        </p:txBody>
      </p:sp>
    </p:spTree>
    <p:extLst>
      <p:ext uri="{BB962C8B-B14F-4D97-AF65-F5344CB8AC3E}">
        <p14:creationId xmlns:p14="http://schemas.microsoft.com/office/powerpoint/2010/main" val="3602341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b="1" dirty="0" err="1"/>
              <a:t>kiến</a:t>
            </a:r>
            <a:r>
              <a:rPr lang="en-US" b="1" dirty="0"/>
              <a:t> </a:t>
            </a:r>
            <a:r>
              <a:rPr lang="en-US" b="1" dirty="0" err="1"/>
              <a:t>trúc</a:t>
            </a:r>
            <a:r>
              <a:rPr lang="en-US" b="1" dirty="0"/>
              <a:t> Backend </a:t>
            </a:r>
            <a:r>
              <a:rPr lang="en-US" b="1" dirty="0" err="1"/>
              <a:t>theo</a:t>
            </a:r>
            <a:r>
              <a:rPr lang="en-US" b="1" dirty="0"/>
              <a:t> </a:t>
            </a:r>
            <a:r>
              <a:rPr lang="en-US" b="1" dirty="0" err="1"/>
              <a:t>mô</a:t>
            </a:r>
            <a:r>
              <a:rPr lang="en-US" b="1" dirty="0"/>
              <a:t> </a:t>
            </a:r>
            <a:r>
              <a:rPr lang="en-US" b="1" dirty="0" err="1"/>
              <a:t>hình</a:t>
            </a:r>
            <a:r>
              <a:rPr lang="en-US" b="1" dirty="0"/>
              <a:t> </a:t>
            </a:r>
            <a:r>
              <a:rPr lang="en-US" b="1" dirty="0" err="1"/>
              <a:t>phân</a:t>
            </a:r>
            <a:r>
              <a:rPr lang="en-US" b="1" dirty="0"/>
              <a:t> </a:t>
            </a:r>
            <a:r>
              <a:rPr lang="en-US" b="1" dirty="0" err="1"/>
              <a:t>tầng</a:t>
            </a:r>
            <a:r>
              <a:rPr lang="en-US" dirty="0"/>
              <a:t>.</a:t>
            </a:r>
          </a:p>
          <a:p>
            <a:r>
              <a:rPr lang="en-US" dirty="0" err="1"/>
              <a:t>Đầu</a:t>
            </a:r>
            <a:r>
              <a:rPr lang="en-US" dirty="0"/>
              <a:t> </a:t>
            </a:r>
            <a:r>
              <a:rPr lang="en-US" dirty="0" err="1"/>
              <a:t>tiên</a:t>
            </a:r>
            <a:r>
              <a:rPr lang="en-US" dirty="0"/>
              <a:t> </a:t>
            </a:r>
            <a:r>
              <a:rPr lang="en-US" dirty="0" err="1"/>
              <a:t>là</a:t>
            </a:r>
            <a:r>
              <a:rPr lang="en-US" dirty="0"/>
              <a:t> </a:t>
            </a:r>
            <a:r>
              <a:rPr lang="en-US" b="1" dirty="0"/>
              <a:t>Routes</a:t>
            </a:r>
            <a:r>
              <a:rPr lang="en-US" dirty="0"/>
              <a:t>, </a:t>
            </a:r>
            <a:r>
              <a:rPr lang="en-US" dirty="0" err="1"/>
              <a:t>có</a:t>
            </a:r>
            <a:r>
              <a:rPr lang="en-US" dirty="0"/>
              <a:t> </a:t>
            </a:r>
            <a:r>
              <a:rPr lang="en-US" dirty="0" err="1"/>
              <a:t>nhiệm</a:t>
            </a:r>
            <a:r>
              <a:rPr lang="en-US" dirty="0"/>
              <a:t> </a:t>
            </a:r>
            <a:r>
              <a:rPr lang="en-US" dirty="0" err="1"/>
              <a:t>vụ</a:t>
            </a:r>
            <a:r>
              <a:rPr lang="en-US" dirty="0"/>
              <a:t> </a:t>
            </a:r>
            <a:r>
              <a:rPr lang="en-US" dirty="0" err="1"/>
              <a:t>định</a:t>
            </a:r>
            <a:r>
              <a:rPr lang="en-US" dirty="0"/>
              <a:t> </a:t>
            </a:r>
            <a:r>
              <a:rPr lang="en-US" dirty="0" err="1"/>
              <a:t>nghĩa</a:t>
            </a:r>
            <a:r>
              <a:rPr lang="en-US" dirty="0"/>
              <a:t> </a:t>
            </a:r>
            <a:r>
              <a:rPr lang="en-US" dirty="0" err="1"/>
              <a:t>các</a:t>
            </a:r>
            <a:r>
              <a:rPr lang="en-US" dirty="0"/>
              <a:t> Endpoint </a:t>
            </a:r>
            <a:r>
              <a:rPr lang="en-US" dirty="0" err="1"/>
              <a:t>và</a:t>
            </a:r>
            <a:r>
              <a:rPr lang="en-US" dirty="0"/>
              <a:t> HTTP Method.</a:t>
            </a:r>
          </a:p>
          <a:p>
            <a:r>
              <a:rPr lang="en-US" dirty="0" err="1"/>
              <a:t>Tiếp</a:t>
            </a:r>
            <a:r>
              <a:rPr lang="en-US" dirty="0"/>
              <a:t> </a:t>
            </a:r>
            <a:r>
              <a:rPr lang="en-US" dirty="0" err="1"/>
              <a:t>theo</a:t>
            </a:r>
            <a:r>
              <a:rPr lang="en-US" dirty="0"/>
              <a:t> </a:t>
            </a:r>
            <a:r>
              <a:rPr lang="en-US" dirty="0" err="1"/>
              <a:t>là</a:t>
            </a:r>
            <a:r>
              <a:rPr lang="en-US" dirty="0"/>
              <a:t> </a:t>
            </a:r>
            <a:r>
              <a:rPr lang="en-US" b="1" dirty="0"/>
              <a:t>Controllers</a:t>
            </a:r>
            <a:r>
              <a:rPr lang="en-US" dirty="0"/>
              <a:t>, </a:t>
            </a:r>
            <a:r>
              <a:rPr lang="en-US" dirty="0" err="1"/>
              <a:t>tiếp</a:t>
            </a:r>
            <a:r>
              <a:rPr lang="en-US" dirty="0"/>
              <a:t> </a:t>
            </a:r>
            <a:r>
              <a:rPr lang="en-US" dirty="0" err="1"/>
              <a:t>nhận</a:t>
            </a:r>
            <a:r>
              <a:rPr lang="en-US" dirty="0"/>
              <a:t> Request </a:t>
            </a:r>
            <a:r>
              <a:rPr lang="en-US" dirty="0" err="1"/>
              <a:t>từ</a:t>
            </a:r>
            <a:r>
              <a:rPr lang="en-US" dirty="0"/>
              <a:t> </a:t>
            </a:r>
            <a:r>
              <a:rPr lang="en-US" dirty="0" err="1"/>
              <a:t>phía</a:t>
            </a:r>
            <a:r>
              <a:rPr lang="en-US" dirty="0"/>
              <a:t> Client </a:t>
            </a:r>
            <a:r>
              <a:rPr lang="en-US" dirty="0" err="1"/>
              <a:t>và</a:t>
            </a:r>
            <a:r>
              <a:rPr lang="en-US" dirty="0"/>
              <a:t> </a:t>
            </a:r>
            <a:r>
              <a:rPr lang="en-US" dirty="0" err="1"/>
              <a:t>trả</a:t>
            </a:r>
            <a:r>
              <a:rPr lang="en-US" dirty="0"/>
              <a:t> </a:t>
            </a:r>
            <a:r>
              <a:rPr lang="en-US" dirty="0" err="1"/>
              <a:t>về</a:t>
            </a:r>
            <a:r>
              <a:rPr lang="en-US" dirty="0"/>
              <a:t> Response.</a:t>
            </a:r>
          </a:p>
          <a:p>
            <a:r>
              <a:rPr lang="en-US" dirty="0"/>
              <a:t>Sau </a:t>
            </a:r>
            <a:r>
              <a:rPr lang="en-US" dirty="0" err="1"/>
              <a:t>đó</a:t>
            </a:r>
            <a:r>
              <a:rPr lang="en-US" dirty="0"/>
              <a:t> </a:t>
            </a:r>
            <a:r>
              <a:rPr lang="en-US" dirty="0" err="1"/>
              <a:t>là</a:t>
            </a:r>
            <a:r>
              <a:rPr lang="en-US" dirty="0"/>
              <a:t> </a:t>
            </a:r>
            <a:r>
              <a:rPr lang="en-US" b="1" dirty="0"/>
              <a:t>Services</a:t>
            </a:r>
            <a:r>
              <a:rPr lang="en-US" dirty="0"/>
              <a:t>, </a:t>
            </a:r>
            <a:r>
              <a:rPr lang="en-US" dirty="0" err="1"/>
              <a:t>đây</a:t>
            </a:r>
            <a:r>
              <a:rPr lang="en-US" dirty="0"/>
              <a:t> </a:t>
            </a:r>
            <a:r>
              <a:rPr lang="en-US" dirty="0" err="1"/>
              <a:t>là</a:t>
            </a:r>
            <a:r>
              <a:rPr lang="en-US" dirty="0"/>
              <a:t> </a:t>
            </a:r>
            <a:r>
              <a:rPr lang="en-US" dirty="0" err="1"/>
              <a:t>tầng</a:t>
            </a:r>
            <a:r>
              <a:rPr lang="en-US" dirty="0"/>
              <a:t> </a:t>
            </a:r>
            <a:r>
              <a:rPr lang="en-US" dirty="0" err="1"/>
              <a:t>xử</a:t>
            </a:r>
            <a:r>
              <a:rPr lang="en-US" dirty="0"/>
              <a:t> </a:t>
            </a:r>
            <a:r>
              <a:rPr lang="en-US" dirty="0" err="1"/>
              <a:t>lý</a:t>
            </a:r>
            <a:r>
              <a:rPr lang="en-US" dirty="0"/>
              <a:t> </a:t>
            </a:r>
            <a:r>
              <a:rPr lang="en-US" dirty="0" err="1"/>
              <a:t>các</a:t>
            </a:r>
            <a:r>
              <a:rPr lang="en-US" dirty="0"/>
              <a:t> </a:t>
            </a:r>
            <a:r>
              <a:rPr lang="en-US" dirty="0" err="1"/>
              <a:t>nghiệp</a:t>
            </a:r>
            <a:r>
              <a:rPr lang="en-US" dirty="0"/>
              <a:t> </a:t>
            </a:r>
            <a:r>
              <a:rPr lang="en-US" dirty="0" err="1"/>
              <a:t>vụ</a:t>
            </a:r>
            <a:r>
              <a:rPr lang="en-US" dirty="0"/>
              <a:t> </a:t>
            </a:r>
            <a:r>
              <a:rPr lang="en-US" dirty="0" err="1"/>
              <a:t>chính</a:t>
            </a:r>
            <a:r>
              <a:rPr lang="en-US" dirty="0"/>
              <a:t> </a:t>
            </a:r>
            <a:r>
              <a:rPr lang="en-US" dirty="0" err="1"/>
              <a:t>của</a:t>
            </a:r>
            <a:r>
              <a:rPr lang="en-US" dirty="0"/>
              <a:t> </a:t>
            </a:r>
            <a:r>
              <a:rPr lang="en-US" dirty="0" err="1"/>
              <a:t>hệ</a:t>
            </a:r>
            <a:r>
              <a:rPr lang="en-US" dirty="0"/>
              <a:t> </a:t>
            </a:r>
            <a:r>
              <a:rPr lang="en-US" dirty="0" err="1"/>
              <a:t>thống</a:t>
            </a:r>
            <a:r>
              <a:rPr lang="en-US" dirty="0"/>
              <a:t>.</a:t>
            </a:r>
          </a:p>
          <a:p>
            <a:r>
              <a:rPr lang="en-US" dirty="0" err="1"/>
              <a:t>Tiếp</a:t>
            </a:r>
            <a:r>
              <a:rPr lang="en-US" dirty="0"/>
              <a:t> </a:t>
            </a:r>
            <a:r>
              <a:rPr lang="en-US" dirty="0" err="1"/>
              <a:t>theo</a:t>
            </a:r>
            <a:r>
              <a:rPr lang="en-US" dirty="0"/>
              <a:t> </a:t>
            </a:r>
            <a:r>
              <a:rPr lang="en-US" dirty="0" err="1"/>
              <a:t>là</a:t>
            </a:r>
            <a:r>
              <a:rPr lang="en-US" dirty="0"/>
              <a:t> </a:t>
            </a:r>
            <a:r>
              <a:rPr lang="en-US" b="1" dirty="0"/>
              <a:t>Models</a:t>
            </a:r>
            <a:r>
              <a:rPr lang="en-US" dirty="0"/>
              <a:t>, </a:t>
            </a:r>
            <a:r>
              <a:rPr lang="en-US" dirty="0" err="1"/>
              <a:t>chịu</a:t>
            </a:r>
            <a:r>
              <a:rPr lang="en-US" dirty="0"/>
              <a:t> </a:t>
            </a:r>
            <a:r>
              <a:rPr lang="en-US" dirty="0" err="1"/>
              <a:t>trách</a:t>
            </a:r>
            <a:r>
              <a:rPr lang="en-US" dirty="0"/>
              <a:t> </a:t>
            </a:r>
            <a:r>
              <a:rPr lang="en-US" dirty="0" err="1"/>
              <a:t>nhiệm</a:t>
            </a:r>
            <a:r>
              <a:rPr lang="en-US" dirty="0"/>
              <a:t> </a:t>
            </a:r>
            <a:r>
              <a:rPr lang="en-US" dirty="0" err="1"/>
              <a:t>thao</a:t>
            </a:r>
            <a:r>
              <a:rPr lang="en-US" dirty="0"/>
              <a:t> </a:t>
            </a:r>
            <a:r>
              <a:rPr lang="en-US" dirty="0" err="1"/>
              <a:t>tác</a:t>
            </a:r>
            <a:r>
              <a:rPr lang="en-US" dirty="0"/>
              <a:t> </a:t>
            </a:r>
            <a:r>
              <a:rPr lang="en-US" dirty="0" err="1"/>
              <a:t>và</a:t>
            </a:r>
            <a:r>
              <a:rPr lang="en-US" dirty="0"/>
              <a:t> </a:t>
            </a:r>
            <a:r>
              <a:rPr lang="en-US" dirty="0" err="1"/>
              <a:t>truy</a:t>
            </a:r>
            <a:r>
              <a:rPr lang="en-US" dirty="0"/>
              <a:t> </a:t>
            </a:r>
            <a:r>
              <a:rPr lang="en-US" dirty="0" err="1"/>
              <a:t>vấn</a:t>
            </a:r>
            <a:r>
              <a:rPr lang="en-US" dirty="0"/>
              <a:t> </a:t>
            </a:r>
            <a:r>
              <a:rPr lang="en-US" dirty="0" err="1"/>
              <a:t>dữ</a:t>
            </a:r>
            <a:r>
              <a:rPr lang="en-US" dirty="0"/>
              <a:t> </a:t>
            </a:r>
            <a:r>
              <a:rPr lang="en-US" dirty="0" err="1"/>
              <a:t>liệu</a:t>
            </a:r>
            <a:r>
              <a:rPr lang="en-US" dirty="0"/>
              <a:t>.</a:t>
            </a:r>
          </a:p>
          <a:p>
            <a:r>
              <a:rPr lang="en-US" dirty="0" err="1"/>
              <a:t>Cuối</a:t>
            </a:r>
            <a:r>
              <a:rPr lang="en-US" dirty="0"/>
              <a:t> </a:t>
            </a:r>
            <a:r>
              <a:rPr lang="en-US" dirty="0" err="1"/>
              <a:t>cùng</a:t>
            </a:r>
            <a:r>
              <a:rPr lang="en-US" dirty="0"/>
              <a:t> </a:t>
            </a:r>
            <a:r>
              <a:rPr lang="en-US" dirty="0" err="1"/>
              <a:t>là</a:t>
            </a:r>
            <a:r>
              <a:rPr lang="en-US" dirty="0"/>
              <a:t> </a:t>
            </a:r>
            <a:r>
              <a:rPr lang="en-US" b="1" dirty="0"/>
              <a:t>SQL Server</a:t>
            </a:r>
            <a:r>
              <a:rPr lang="en-US" dirty="0"/>
              <a:t>, </a:t>
            </a:r>
            <a:r>
              <a:rPr lang="en-US" dirty="0" err="1"/>
              <a:t>nơi</a:t>
            </a:r>
            <a:r>
              <a:rPr lang="en-US" dirty="0"/>
              <a:t> </a:t>
            </a:r>
            <a:r>
              <a:rPr lang="en-US" dirty="0" err="1"/>
              <a:t>lưu</a:t>
            </a:r>
            <a:r>
              <a:rPr lang="en-US" dirty="0"/>
              <a:t> </a:t>
            </a:r>
            <a:r>
              <a:rPr lang="en-US" dirty="0" err="1"/>
              <a:t>trữ</a:t>
            </a:r>
            <a:r>
              <a:rPr lang="en-US" dirty="0"/>
              <a:t> </a:t>
            </a:r>
            <a:r>
              <a:rPr lang="en-US" dirty="0" err="1"/>
              <a:t>dữ</a:t>
            </a:r>
            <a:r>
              <a:rPr lang="en-US" dirty="0"/>
              <a:t> </a:t>
            </a:r>
            <a:r>
              <a:rPr lang="en-US" dirty="0" err="1"/>
              <a:t>liệu</a:t>
            </a:r>
            <a:r>
              <a:rPr lang="en-US" dirty="0"/>
              <a:t>.</a:t>
            </a:r>
          </a:p>
          <a:p>
            <a:r>
              <a:rPr lang="en-US" dirty="0" err="1"/>
              <a:t>Việc</a:t>
            </a:r>
            <a:r>
              <a:rPr lang="en-US" dirty="0"/>
              <a:t> </a:t>
            </a:r>
            <a:r>
              <a:rPr lang="en-US" dirty="0" err="1"/>
              <a:t>phân</a:t>
            </a:r>
            <a:r>
              <a:rPr lang="en-US" dirty="0"/>
              <a:t> </a:t>
            </a:r>
            <a:r>
              <a:rPr lang="en-US" dirty="0" err="1"/>
              <a:t>tầng</a:t>
            </a:r>
            <a:r>
              <a:rPr lang="en-US" dirty="0"/>
              <a:t> </a:t>
            </a:r>
            <a:r>
              <a:rPr lang="en-US" dirty="0" err="1"/>
              <a:t>như</a:t>
            </a:r>
            <a:r>
              <a:rPr lang="en-US" dirty="0"/>
              <a:t> </a:t>
            </a:r>
            <a:r>
              <a:rPr lang="en-US" dirty="0" err="1"/>
              <a:t>vậy</a:t>
            </a:r>
            <a:r>
              <a:rPr lang="en-US" dirty="0"/>
              <a:t> </a:t>
            </a:r>
            <a:r>
              <a:rPr lang="en-US" dirty="0" err="1"/>
              <a:t>giúp</a:t>
            </a:r>
            <a:r>
              <a:rPr lang="en-US" dirty="0"/>
              <a:t> </a:t>
            </a:r>
            <a:r>
              <a:rPr lang="en-US" b="1" dirty="0" err="1"/>
              <a:t>phân</a:t>
            </a:r>
            <a:r>
              <a:rPr lang="en-US" b="1" dirty="0"/>
              <a:t> </a:t>
            </a:r>
            <a:r>
              <a:rPr lang="en-US" b="1" dirty="0" err="1"/>
              <a:t>tách</a:t>
            </a:r>
            <a:r>
              <a:rPr lang="en-US" b="1" dirty="0"/>
              <a:t> </a:t>
            </a:r>
            <a:r>
              <a:rPr lang="en-US" b="1" dirty="0" err="1"/>
              <a:t>trách</a:t>
            </a:r>
            <a:r>
              <a:rPr lang="en-US" b="1" dirty="0"/>
              <a:t> </a:t>
            </a:r>
            <a:r>
              <a:rPr lang="en-US" b="1" dirty="0" err="1"/>
              <a:t>nhiệm</a:t>
            </a:r>
            <a:r>
              <a:rPr lang="en-US" dirty="0"/>
              <a:t>, </a:t>
            </a:r>
            <a:r>
              <a:rPr lang="en-US" dirty="0" err="1"/>
              <a:t>dễ</a:t>
            </a:r>
            <a:r>
              <a:rPr lang="en-US" dirty="0"/>
              <a:t> </a:t>
            </a:r>
            <a:r>
              <a:rPr lang="en-US" dirty="0" err="1"/>
              <a:t>bảo</a:t>
            </a:r>
            <a:r>
              <a:rPr lang="en-US" dirty="0"/>
              <a:t> </a:t>
            </a:r>
            <a:r>
              <a:rPr lang="en-US" dirty="0" err="1"/>
              <a:t>trì</a:t>
            </a:r>
            <a:r>
              <a:rPr lang="en-US" dirty="0"/>
              <a:t>, </a:t>
            </a:r>
            <a:r>
              <a:rPr lang="en-US" dirty="0" err="1"/>
              <a:t>dễ</a:t>
            </a:r>
            <a:r>
              <a:rPr lang="en-US" dirty="0"/>
              <a:t> </a:t>
            </a:r>
            <a:r>
              <a:rPr lang="en-US" dirty="0" err="1"/>
              <a:t>kiểm</a:t>
            </a:r>
            <a:r>
              <a:rPr lang="en-US" dirty="0"/>
              <a:t> </a:t>
            </a:r>
            <a:r>
              <a:rPr lang="en-US" dirty="0" err="1"/>
              <a:t>thử</a:t>
            </a:r>
            <a:r>
              <a:rPr lang="en-US" dirty="0"/>
              <a:t> </a:t>
            </a:r>
            <a:r>
              <a:rPr lang="en-US" dirty="0" err="1"/>
              <a:t>và</a:t>
            </a:r>
            <a:r>
              <a:rPr lang="en-US" dirty="0"/>
              <a:t> </a:t>
            </a:r>
            <a:r>
              <a:rPr lang="en-US" dirty="0" err="1"/>
              <a:t>dễ</a:t>
            </a:r>
            <a:r>
              <a:rPr lang="en-US" dirty="0"/>
              <a:t> </a:t>
            </a:r>
            <a:r>
              <a:rPr lang="en-US" dirty="0" err="1"/>
              <a:t>mở</a:t>
            </a:r>
            <a:r>
              <a:rPr lang="en-US" dirty="0"/>
              <a:t> </a:t>
            </a:r>
            <a:r>
              <a:rPr lang="en-US" dirty="0" err="1"/>
              <a:t>rộng</a:t>
            </a:r>
            <a:r>
              <a:rPr lang="en-US" dirty="0"/>
              <a:t> </a:t>
            </a:r>
            <a:r>
              <a:rPr lang="en-US" dirty="0" err="1"/>
              <a:t>hệ</a:t>
            </a:r>
            <a:r>
              <a:rPr lang="en-US" dirty="0"/>
              <a:t> </a:t>
            </a:r>
            <a:r>
              <a:rPr lang="en-US" dirty="0" err="1"/>
              <a:t>thống</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10</a:t>
            </a:fld>
            <a:endParaRPr lang="en-US"/>
          </a:p>
        </p:txBody>
      </p:sp>
    </p:spTree>
    <p:extLst>
      <p:ext uri="{BB962C8B-B14F-4D97-AF65-F5344CB8AC3E}">
        <p14:creationId xmlns:p14="http://schemas.microsoft.com/office/powerpoint/2010/main" val="3407468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Đối</a:t>
            </a:r>
            <a:r>
              <a:rPr lang="en-US" dirty="0"/>
              <a:t> </a:t>
            </a:r>
            <a:r>
              <a:rPr lang="en-US" dirty="0" err="1"/>
              <a:t>với</a:t>
            </a:r>
            <a:r>
              <a:rPr lang="en-US" dirty="0"/>
              <a:t> </a:t>
            </a:r>
            <a:r>
              <a:rPr lang="en-US" dirty="0" err="1"/>
              <a:t>giao</a:t>
            </a:r>
            <a:r>
              <a:rPr lang="en-US" dirty="0"/>
              <a:t> </a:t>
            </a:r>
            <a:r>
              <a:rPr lang="en-US" dirty="0" err="1"/>
              <a:t>tiếp</a:t>
            </a:r>
            <a:r>
              <a:rPr lang="en-US" dirty="0"/>
              <a:t> </a:t>
            </a:r>
            <a:r>
              <a:rPr lang="en-US" dirty="0" err="1"/>
              <a:t>giữa</a:t>
            </a:r>
            <a:r>
              <a:rPr lang="en-US" dirty="0"/>
              <a:t> Frontend </a:t>
            </a:r>
            <a:r>
              <a:rPr lang="en-US" dirty="0" err="1"/>
              <a:t>và</a:t>
            </a:r>
            <a:r>
              <a:rPr lang="en-US" dirty="0"/>
              <a:t> Backend, </a:t>
            </a:r>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a:t>
            </a:r>
            <a:r>
              <a:rPr lang="en-US" b="1" dirty="0"/>
              <a:t>RESTful API</a:t>
            </a:r>
            <a:r>
              <a:rPr lang="en-US" dirty="0"/>
              <a:t>.</a:t>
            </a:r>
          </a:p>
          <a:p>
            <a:r>
              <a:rPr lang="en-US" dirty="0"/>
              <a:t>Frontend React </a:t>
            </a:r>
            <a:r>
              <a:rPr lang="en-US" dirty="0" err="1"/>
              <a:t>sẽ</a:t>
            </a:r>
            <a:r>
              <a:rPr lang="en-US" dirty="0"/>
              <a:t> </a:t>
            </a:r>
            <a:r>
              <a:rPr lang="en-US" dirty="0" err="1"/>
              <a:t>gửi</a:t>
            </a:r>
            <a:r>
              <a:rPr lang="en-US" dirty="0"/>
              <a:t> Request </a:t>
            </a:r>
            <a:r>
              <a:rPr lang="en-US" dirty="0" err="1"/>
              <a:t>đến</a:t>
            </a:r>
            <a:r>
              <a:rPr lang="en-US" dirty="0"/>
              <a:t> Backend Node.js </a:t>
            </a:r>
            <a:r>
              <a:rPr lang="en-US" dirty="0" err="1"/>
              <a:t>thông</a:t>
            </a:r>
            <a:r>
              <a:rPr lang="en-US" dirty="0"/>
              <a:t> qua </a:t>
            </a:r>
            <a:r>
              <a:rPr lang="en-US" dirty="0" err="1"/>
              <a:t>các</a:t>
            </a:r>
            <a:r>
              <a:rPr lang="en-US" dirty="0"/>
              <a:t> API.</a:t>
            </a:r>
          </a:p>
          <a:p>
            <a:r>
              <a:rPr lang="en-US" dirty="0" err="1"/>
              <a:t>Ví</a:t>
            </a:r>
            <a:r>
              <a:rPr lang="en-US" dirty="0"/>
              <a:t> </a:t>
            </a:r>
            <a:r>
              <a:rPr lang="en-US" dirty="0" err="1"/>
              <a:t>dụ</a:t>
            </a:r>
            <a:r>
              <a:rPr lang="en-US" dirty="0"/>
              <a:t>:</a:t>
            </a:r>
          </a:p>
          <a:p>
            <a:r>
              <a:rPr lang="en-US" b="1" dirty="0"/>
              <a:t>GET</a:t>
            </a:r>
            <a:r>
              <a:rPr lang="en-US" dirty="0"/>
              <a:t> </a:t>
            </a:r>
            <a:r>
              <a:rPr lang="en-US" dirty="0" err="1"/>
              <a:t>dùng</a:t>
            </a:r>
            <a:r>
              <a:rPr lang="en-US" dirty="0"/>
              <a:t> </a:t>
            </a:r>
            <a:r>
              <a:rPr lang="en-US" dirty="0" err="1"/>
              <a:t>để</a:t>
            </a:r>
            <a:r>
              <a:rPr lang="en-US" dirty="0"/>
              <a:t> </a:t>
            </a:r>
            <a:r>
              <a:rPr lang="en-US" dirty="0" err="1"/>
              <a:t>lấy</a:t>
            </a:r>
            <a:r>
              <a:rPr lang="en-US" dirty="0"/>
              <a:t> </a:t>
            </a:r>
            <a:r>
              <a:rPr lang="en-US" dirty="0" err="1"/>
              <a:t>dữ</a:t>
            </a:r>
            <a:r>
              <a:rPr lang="en-US" dirty="0"/>
              <a:t> </a:t>
            </a:r>
            <a:r>
              <a:rPr lang="en-US" dirty="0" err="1"/>
              <a:t>liệu</a:t>
            </a:r>
            <a:r>
              <a:rPr lang="en-US" dirty="0"/>
              <a:t>.</a:t>
            </a:r>
          </a:p>
          <a:p>
            <a:r>
              <a:rPr lang="en-US" b="1" dirty="0"/>
              <a:t>POST</a:t>
            </a:r>
            <a:r>
              <a:rPr lang="en-US" dirty="0"/>
              <a:t> </a:t>
            </a:r>
            <a:r>
              <a:rPr lang="en-US" dirty="0" err="1"/>
              <a:t>dùng</a:t>
            </a:r>
            <a:r>
              <a:rPr lang="en-US" dirty="0"/>
              <a:t> </a:t>
            </a:r>
            <a:r>
              <a:rPr lang="en-US" dirty="0" err="1"/>
              <a:t>để</a:t>
            </a:r>
            <a:r>
              <a:rPr lang="en-US" dirty="0"/>
              <a:t> </a:t>
            </a:r>
            <a:r>
              <a:rPr lang="en-US" dirty="0" err="1"/>
              <a:t>tạo</a:t>
            </a:r>
            <a:r>
              <a:rPr lang="en-US" dirty="0"/>
              <a:t> </a:t>
            </a:r>
            <a:r>
              <a:rPr lang="en-US" dirty="0" err="1"/>
              <a:t>dữ</a:t>
            </a:r>
            <a:r>
              <a:rPr lang="en-US" dirty="0"/>
              <a:t> </a:t>
            </a:r>
            <a:r>
              <a:rPr lang="en-US" dirty="0" err="1"/>
              <a:t>liệu</a:t>
            </a:r>
            <a:r>
              <a:rPr lang="en-US" dirty="0"/>
              <a:t> </a:t>
            </a:r>
            <a:r>
              <a:rPr lang="en-US" dirty="0" err="1"/>
              <a:t>mới</a:t>
            </a:r>
            <a:r>
              <a:rPr lang="en-US" dirty="0"/>
              <a:t>.</a:t>
            </a:r>
          </a:p>
          <a:p>
            <a:r>
              <a:rPr lang="en-US" b="1" dirty="0"/>
              <a:t>PUT</a:t>
            </a:r>
            <a:r>
              <a:rPr lang="en-US" dirty="0"/>
              <a:t> </a:t>
            </a:r>
            <a:r>
              <a:rPr lang="en-US" dirty="0" err="1"/>
              <a:t>dùng</a:t>
            </a:r>
            <a:r>
              <a:rPr lang="en-US" dirty="0"/>
              <a:t> </a:t>
            </a:r>
            <a:r>
              <a:rPr lang="en-US" dirty="0" err="1"/>
              <a:t>để</a:t>
            </a:r>
            <a:r>
              <a:rPr lang="en-US" dirty="0"/>
              <a:t> </a:t>
            </a:r>
            <a:r>
              <a:rPr lang="en-US" dirty="0" err="1"/>
              <a:t>cập</a:t>
            </a:r>
            <a:r>
              <a:rPr lang="en-US" dirty="0"/>
              <a:t> </a:t>
            </a:r>
            <a:r>
              <a:rPr lang="en-US" dirty="0" err="1"/>
              <a:t>nhật</a:t>
            </a:r>
            <a:r>
              <a:rPr lang="en-US" dirty="0"/>
              <a:t> </a:t>
            </a:r>
            <a:r>
              <a:rPr lang="en-US" dirty="0" err="1"/>
              <a:t>dữ</a:t>
            </a:r>
            <a:r>
              <a:rPr lang="en-US" dirty="0"/>
              <a:t> </a:t>
            </a:r>
            <a:r>
              <a:rPr lang="en-US" dirty="0" err="1"/>
              <a:t>liệu</a:t>
            </a:r>
            <a:r>
              <a:rPr lang="en-US" dirty="0"/>
              <a:t>.</a:t>
            </a:r>
          </a:p>
          <a:p>
            <a:r>
              <a:rPr lang="en-US" dirty="0" err="1"/>
              <a:t>Và</a:t>
            </a:r>
            <a:r>
              <a:rPr lang="en-US" dirty="0"/>
              <a:t> </a:t>
            </a:r>
            <a:r>
              <a:rPr lang="en-US" b="1" dirty="0"/>
              <a:t>DELETE</a:t>
            </a:r>
            <a:r>
              <a:rPr lang="en-US" dirty="0"/>
              <a:t> </a:t>
            </a:r>
            <a:r>
              <a:rPr lang="en-US" dirty="0" err="1"/>
              <a:t>dùng</a:t>
            </a:r>
            <a:r>
              <a:rPr lang="en-US" dirty="0"/>
              <a:t> </a:t>
            </a:r>
            <a:r>
              <a:rPr lang="en-US" dirty="0" err="1"/>
              <a:t>để</a:t>
            </a:r>
            <a:r>
              <a:rPr lang="en-US" dirty="0"/>
              <a:t> </a:t>
            </a:r>
            <a:r>
              <a:rPr lang="en-US" dirty="0" err="1"/>
              <a:t>xóa</a:t>
            </a:r>
            <a:r>
              <a:rPr lang="en-US" dirty="0"/>
              <a:t> </a:t>
            </a:r>
            <a:r>
              <a:rPr lang="en-US" dirty="0" err="1"/>
              <a:t>dữ</a:t>
            </a:r>
            <a:r>
              <a:rPr lang="en-US" dirty="0"/>
              <a:t> </a:t>
            </a:r>
            <a:r>
              <a:rPr lang="en-US" dirty="0" err="1"/>
              <a:t>liệu</a:t>
            </a:r>
            <a:r>
              <a:rPr lang="en-US" dirty="0"/>
              <a:t>.</a:t>
            </a:r>
          </a:p>
          <a:p>
            <a:r>
              <a:rPr lang="en-US" dirty="0" err="1"/>
              <a:t>Ví</a:t>
            </a:r>
            <a:r>
              <a:rPr lang="en-US" dirty="0"/>
              <a:t> </a:t>
            </a:r>
            <a:r>
              <a:rPr lang="en-US" dirty="0" err="1"/>
              <a:t>dụ</a:t>
            </a:r>
            <a:r>
              <a:rPr lang="en-US" dirty="0"/>
              <a:t> </a:t>
            </a:r>
            <a:r>
              <a:rPr lang="en-US" dirty="0" err="1"/>
              <a:t>với</a:t>
            </a:r>
            <a:r>
              <a:rPr lang="en-US" dirty="0"/>
              <a:t> </a:t>
            </a:r>
            <a:r>
              <a:rPr lang="en-US" dirty="0" err="1"/>
              <a:t>tài</a:t>
            </a:r>
            <a:r>
              <a:rPr lang="en-US" dirty="0"/>
              <a:t> </a:t>
            </a:r>
            <a:r>
              <a:rPr lang="en-US" dirty="0" err="1"/>
              <a:t>nguyên</a:t>
            </a:r>
            <a:r>
              <a:rPr lang="en-US" dirty="0"/>
              <a:t> </a:t>
            </a:r>
            <a:r>
              <a:rPr lang="en-US" dirty="0" err="1"/>
              <a:t>đề</a:t>
            </a:r>
            <a:r>
              <a:rPr lang="en-US" dirty="0"/>
              <a:t> </a:t>
            </a:r>
            <a:r>
              <a:rPr lang="en-US" dirty="0" err="1"/>
              <a:t>tài</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/topics</a:t>
            </a:r>
            <a:r>
              <a:rPr lang="en-US" dirty="0"/>
              <a:t> </a:t>
            </a:r>
            <a:r>
              <a:rPr lang="en-US" dirty="0" err="1"/>
              <a:t>để</a:t>
            </a:r>
            <a:r>
              <a:rPr lang="en-US" dirty="0"/>
              <a:t> </a:t>
            </a:r>
            <a:r>
              <a:rPr lang="en-US" dirty="0" err="1"/>
              <a:t>lấy</a:t>
            </a:r>
            <a:r>
              <a:rPr lang="en-US" dirty="0"/>
              <a:t> </a:t>
            </a:r>
            <a:r>
              <a:rPr lang="en-US" dirty="0" err="1"/>
              <a:t>hoặc</a:t>
            </a:r>
            <a:r>
              <a:rPr lang="en-US" dirty="0"/>
              <a:t> </a:t>
            </a:r>
            <a:r>
              <a:rPr lang="en-US" dirty="0" err="1"/>
              <a:t>tạo</a:t>
            </a:r>
            <a:r>
              <a:rPr lang="en-US" dirty="0"/>
              <a:t> </a:t>
            </a:r>
            <a:r>
              <a:rPr lang="en-US" dirty="0" err="1"/>
              <a:t>đề</a:t>
            </a:r>
            <a:r>
              <a:rPr lang="en-US" dirty="0"/>
              <a:t> </a:t>
            </a:r>
            <a:r>
              <a:rPr lang="en-US" dirty="0" err="1"/>
              <a:t>tài</a:t>
            </a:r>
            <a:r>
              <a:rPr lang="en-US" dirty="0"/>
              <a:t>, </a:t>
            </a:r>
            <a:r>
              <a:rPr lang="en-US" dirty="0" err="1"/>
              <a:t>và</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/topics/:id</a:t>
            </a:r>
            <a:r>
              <a:rPr lang="en-US" dirty="0"/>
              <a:t> </a:t>
            </a:r>
            <a:r>
              <a:rPr lang="en-US" dirty="0" err="1"/>
              <a:t>để</a:t>
            </a:r>
            <a:r>
              <a:rPr lang="en-US" dirty="0"/>
              <a:t> </a:t>
            </a:r>
            <a:r>
              <a:rPr lang="en-US" dirty="0" err="1"/>
              <a:t>cập</a:t>
            </a:r>
            <a:r>
              <a:rPr lang="en-US" dirty="0"/>
              <a:t> </a:t>
            </a:r>
            <a:r>
              <a:rPr lang="en-US" dirty="0" err="1"/>
              <a:t>nhật</a:t>
            </a:r>
            <a:r>
              <a:rPr lang="en-US" dirty="0"/>
              <a:t> </a:t>
            </a:r>
            <a:r>
              <a:rPr lang="en-US" dirty="0" err="1"/>
              <a:t>hoặc</a:t>
            </a:r>
            <a:r>
              <a:rPr lang="en-US" dirty="0"/>
              <a:t> </a:t>
            </a:r>
            <a:r>
              <a:rPr lang="en-US" dirty="0" err="1"/>
              <a:t>xóa</a:t>
            </a:r>
            <a:r>
              <a:rPr lang="en-US" dirty="0"/>
              <a:t> </a:t>
            </a:r>
            <a:r>
              <a:rPr lang="en-US" dirty="0" err="1"/>
              <a:t>một</a:t>
            </a:r>
            <a:r>
              <a:rPr lang="en-US" dirty="0"/>
              <a:t> </a:t>
            </a:r>
            <a:r>
              <a:rPr lang="en-US" dirty="0" err="1"/>
              <a:t>đề</a:t>
            </a:r>
            <a:r>
              <a:rPr lang="en-US" dirty="0"/>
              <a:t> </a:t>
            </a:r>
            <a:r>
              <a:rPr lang="en-US" dirty="0" err="1"/>
              <a:t>tài</a:t>
            </a:r>
            <a:r>
              <a:rPr lang="en-US" dirty="0"/>
              <a:t> </a:t>
            </a:r>
            <a:r>
              <a:rPr lang="en-US" dirty="0" err="1"/>
              <a:t>cụ</a:t>
            </a:r>
            <a:r>
              <a:rPr lang="en-US" dirty="0"/>
              <a:t> </a:t>
            </a:r>
            <a:r>
              <a:rPr lang="en-US" dirty="0" err="1"/>
              <a:t>thể</a:t>
            </a:r>
            <a:r>
              <a:rPr lang="en-US" dirty="0"/>
              <a:t>.</a:t>
            </a:r>
          </a:p>
          <a:p>
            <a:r>
              <a:rPr lang="en-US" dirty="0" err="1"/>
              <a:t>Bên</a:t>
            </a:r>
            <a:r>
              <a:rPr lang="en-US" dirty="0"/>
              <a:t> </a:t>
            </a:r>
            <a:r>
              <a:rPr lang="en-US" dirty="0" err="1"/>
              <a:t>cạnh</a:t>
            </a:r>
            <a:r>
              <a:rPr lang="en-US" dirty="0"/>
              <a:t> </a:t>
            </a:r>
            <a:r>
              <a:rPr lang="en-US" dirty="0" err="1"/>
              <a:t>đó</a:t>
            </a:r>
            <a:r>
              <a:rPr lang="en-US" dirty="0"/>
              <a:t>, </a:t>
            </a:r>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a:t>
            </a:r>
            <a:r>
              <a:rPr lang="en-US" b="1" dirty="0"/>
              <a:t>JWT Authentication</a:t>
            </a:r>
            <a:r>
              <a:rPr lang="en-US" dirty="0"/>
              <a:t> </a:t>
            </a:r>
            <a:r>
              <a:rPr lang="en-US" dirty="0" err="1"/>
              <a:t>để</a:t>
            </a:r>
            <a:r>
              <a:rPr lang="en-US" dirty="0"/>
              <a:t> </a:t>
            </a:r>
            <a:r>
              <a:rPr lang="en-US" dirty="0" err="1"/>
              <a:t>xác</a:t>
            </a:r>
            <a:r>
              <a:rPr lang="en-US" dirty="0"/>
              <a:t> </a:t>
            </a:r>
            <a:r>
              <a:rPr lang="en-US" dirty="0" err="1"/>
              <a:t>thực</a:t>
            </a:r>
            <a:r>
              <a:rPr lang="en-US" dirty="0"/>
              <a:t>.</a:t>
            </a:r>
          </a:p>
          <a:p>
            <a:r>
              <a:rPr lang="en-US" dirty="0"/>
              <a:t>Khi </a:t>
            </a:r>
            <a:r>
              <a:rPr lang="en-US" dirty="0" err="1"/>
              <a:t>người</a:t>
            </a:r>
            <a:r>
              <a:rPr lang="en-US" dirty="0"/>
              <a:t> </a:t>
            </a:r>
            <a:r>
              <a:rPr lang="en-US" dirty="0" err="1"/>
              <a:t>dùng</a:t>
            </a:r>
            <a:r>
              <a:rPr lang="en-US" dirty="0"/>
              <a:t> </a:t>
            </a:r>
            <a:r>
              <a:rPr lang="en-US" dirty="0" err="1"/>
              <a:t>đăng</a:t>
            </a:r>
            <a:r>
              <a:rPr lang="en-US" dirty="0"/>
              <a:t> </a:t>
            </a:r>
            <a:r>
              <a:rPr lang="en-US" dirty="0" err="1"/>
              <a:t>nhập</a:t>
            </a:r>
            <a:r>
              <a:rPr lang="en-US" dirty="0"/>
              <a:t> </a:t>
            </a:r>
            <a:r>
              <a:rPr lang="en-US" dirty="0" err="1"/>
              <a:t>thành</a:t>
            </a:r>
            <a:r>
              <a:rPr lang="en-US" dirty="0"/>
              <a:t> </a:t>
            </a:r>
            <a:r>
              <a:rPr lang="en-US" dirty="0" err="1"/>
              <a:t>công</a:t>
            </a:r>
            <a:r>
              <a:rPr lang="en-US" dirty="0"/>
              <a:t>, </a:t>
            </a:r>
            <a:r>
              <a:rPr lang="en-US" dirty="0" err="1"/>
              <a:t>hệ</a:t>
            </a:r>
            <a:r>
              <a:rPr lang="en-US" dirty="0"/>
              <a:t> </a:t>
            </a:r>
            <a:r>
              <a:rPr lang="en-US" dirty="0" err="1"/>
              <a:t>thống</a:t>
            </a:r>
            <a:r>
              <a:rPr lang="en-US" dirty="0"/>
              <a:t> </a:t>
            </a:r>
            <a:r>
              <a:rPr lang="en-US" dirty="0" err="1"/>
              <a:t>tạo</a:t>
            </a:r>
            <a:r>
              <a:rPr lang="en-US" dirty="0"/>
              <a:t> </a:t>
            </a:r>
            <a:r>
              <a:rPr lang="en-US" dirty="0" err="1"/>
              <a:t>ra</a:t>
            </a:r>
            <a:r>
              <a:rPr lang="en-US" dirty="0"/>
              <a:t> </a:t>
            </a:r>
            <a:r>
              <a:rPr lang="en-US" dirty="0" err="1"/>
              <a:t>một</a:t>
            </a:r>
            <a:r>
              <a:rPr lang="en-US" dirty="0"/>
              <a:t> JWT.</a:t>
            </a:r>
          </a:p>
          <a:p>
            <a:r>
              <a:rPr lang="en-US" dirty="0"/>
              <a:t>Client </a:t>
            </a:r>
            <a:r>
              <a:rPr lang="en-US" dirty="0" err="1"/>
              <a:t>sẽ</a:t>
            </a:r>
            <a:r>
              <a:rPr lang="en-US" dirty="0"/>
              <a:t> </a:t>
            </a:r>
            <a:r>
              <a:rPr lang="en-US" dirty="0" err="1"/>
              <a:t>gửi</a:t>
            </a:r>
            <a:r>
              <a:rPr lang="en-US" dirty="0"/>
              <a:t> token </a:t>
            </a:r>
            <a:r>
              <a:rPr lang="en-US" dirty="0" err="1"/>
              <a:t>này</a:t>
            </a:r>
            <a:r>
              <a:rPr lang="en-US" dirty="0"/>
              <a:t> </a:t>
            </a:r>
            <a:r>
              <a:rPr lang="en-US" dirty="0" err="1"/>
              <a:t>trong</a:t>
            </a:r>
            <a:r>
              <a:rPr lang="en-US" dirty="0"/>
              <a:t> </a:t>
            </a:r>
            <a:r>
              <a:rPr lang="en-US" dirty="0" err="1"/>
              <a:t>các</a:t>
            </a:r>
            <a:r>
              <a:rPr lang="en-US" dirty="0"/>
              <a:t> request </a:t>
            </a:r>
            <a:r>
              <a:rPr lang="en-US" dirty="0" err="1"/>
              <a:t>tiếp</a:t>
            </a:r>
            <a:r>
              <a:rPr lang="en-US" dirty="0"/>
              <a:t> </a:t>
            </a:r>
            <a:r>
              <a:rPr lang="en-US" dirty="0" err="1"/>
              <a:t>theo.</a:t>
            </a:r>
            <a:endParaRPr lang="en-US" dirty="0"/>
          </a:p>
          <a:p>
            <a:r>
              <a:rPr lang="en-US" dirty="0"/>
              <a:t>Backend </a:t>
            </a:r>
            <a:r>
              <a:rPr lang="en-US" dirty="0" err="1"/>
              <a:t>kiểm</a:t>
            </a:r>
            <a:r>
              <a:rPr lang="en-US" dirty="0"/>
              <a:t> </a:t>
            </a:r>
            <a:r>
              <a:rPr lang="en-US" dirty="0" err="1"/>
              <a:t>tra</a:t>
            </a:r>
            <a:r>
              <a:rPr lang="en-US" dirty="0"/>
              <a:t> token </a:t>
            </a:r>
            <a:r>
              <a:rPr lang="en-US" dirty="0" err="1"/>
              <a:t>và</a:t>
            </a:r>
            <a:r>
              <a:rPr lang="en-US" dirty="0"/>
              <a:t> </a:t>
            </a:r>
            <a:r>
              <a:rPr lang="en-US" dirty="0" err="1"/>
              <a:t>xác</a:t>
            </a:r>
            <a:r>
              <a:rPr lang="en-US" dirty="0"/>
              <a:t> </a:t>
            </a:r>
            <a:r>
              <a:rPr lang="en-US" dirty="0" err="1"/>
              <a:t>định</a:t>
            </a:r>
            <a:r>
              <a:rPr lang="en-US" dirty="0"/>
              <a:t> role </a:t>
            </a:r>
            <a:r>
              <a:rPr lang="en-US" dirty="0" err="1"/>
              <a:t>của</a:t>
            </a:r>
            <a:r>
              <a:rPr lang="en-US" dirty="0"/>
              <a:t> </a:t>
            </a:r>
            <a:r>
              <a:rPr lang="en-US" dirty="0" err="1"/>
              <a:t>người</a:t>
            </a:r>
            <a:r>
              <a:rPr lang="en-US" dirty="0"/>
              <a:t> </a:t>
            </a:r>
            <a:r>
              <a:rPr lang="en-US" dirty="0" err="1"/>
              <a:t>dùng</a:t>
            </a:r>
            <a:r>
              <a:rPr lang="en-US" dirty="0"/>
              <a:t> </a:t>
            </a:r>
            <a:r>
              <a:rPr lang="en-US" dirty="0" err="1"/>
              <a:t>trước</a:t>
            </a:r>
            <a:r>
              <a:rPr lang="en-US" dirty="0"/>
              <a:t> </a:t>
            </a:r>
            <a:r>
              <a:rPr lang="en-US" dirty="0" err="1"/>
              <a:t>khi</a:t>
            </a:r>
            <a:r>
              <a:rPr lang="en-US" dirty="0"/>
              <a:t> </a:t>
            </a:r>
            <a:r>
              <a:rPr lang="en-US" dirty="0" err="1"/>
              <a:t>cho</a:t>
            </a:r>
            <a:r>
              <a:rPr lang="en-US" dirty="0"/>
              <a:t> </a:t>
            </a:r>
            <a:r>
              <a:rPr lang="en-US" dirty="0" err="1"/>
              <a:t>phép</a:t>
            </a:r>
            <a:r>
              <a:rPr lang="en-US" dirty="0"/>
              <a:t> </a:t>
            </a:r>
            <a:r>
              <a:rPr lang="en-US" dirty="0" err="1"/>
              <a:t>truy</a:t>
            </a:r>
            <a:r>
              <a:rPr lang="en-US" dirty="0"/>
              <a:t> </a:t>
            </a:r>
            <a:r>
              <a:rPr lang="en-US" dirty="0" err="1"/>
              <a:t>cập</a:t>
            </a:r>
            <a:r>
              <a:rPr lang="en-US" dirty="0"/>
              <a:t> </a:t>
            </a:r>
            <a:r>
              <a:rPr lang="en-US" dirty="0" err="1"/>
              <a:t>chức</a:t>
            </a:r>
            <a:r>
              <a:rPr lang="en-US" dirty="0"/>
              <a:t> </a:t>
            </a:r>
            <a:r>
              <a:rPr lang="en-US" dirty="0" err="1"/>
              <a:t>năng</a:t>
            </a:r>
            <a:r>
              <a:rPr lang="en-US" dirty="0"/>
              <a:t>.</a:t>
            </a:r>
          </a:p>
          <a:p>
            <a:r>
              <a:rPr lang="en-US" dirty="0" err="1"/>
              <a:t>Nhờ</a:t>
            </a:r>
            <a:r>
              <a:rPr lang="en-US" dirty="0"/>
              <a:t> </a:t>
            </a:r>
            <a:r>
              <a:rPr lang="en-US" dirty="0" err="1"/>
              <a:t>vậy</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phân</a:t>
            </a:r>
            <a:r>
              <a:rPr lang="en-US" dirty="0"/>
              <a:t> </a:t>
            </a:r>
            <a:r>
              <a:rPr lang="en-US" dirty="0" err="1"/>
              <a:t>quyền</a:t>
            </a:r>
            <a:r>
              <a:rPr lang="en-US" dirty="0"/>
              <a:t> </a:t>
            </a:r>
            <a:r>
              <a:rPr lang="en-US" dirty="0" err="1"/>
              <a:t>giữa</a:t>
            </a:r>
            <a:r>
              <a:rPr lang="en-US" dirty="0"/>
              <a:t> </a:t>
            </a:r>
            <a:r>
              <a:rPr lang="en-US" b="1" dirty="0"/>
              <a:t>Admin, Teacher </a:t>
            </a:r>
            <a:r>
              <a:rPr lang="en-US" b="1" dirty="0" err="1"/>
              <a:t>và</a:t>
            </a:r>
            <a:r>
              <a:rPr lang="en-US" b="1" dirty="0"/>
              <a:t> Student</a:t>
            </a:r>
            <a:r>
              <a:rPr lang="en-US" dirty="0"/>
              <a:t>.</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11</a:t>
            </a:fld>
            <a:endParaRPr lang="en-US"/>
          </a:p>
        </p:txBody>
      </p:sp>
    </p:spTree>
    <p:extLst>
      <p:ext uri="{BB962C8B-B14F-4D97-AF65-F5344CB8AC3E}">
        <p14:creationId xmlns:p14="http://schemas.microsoft.com/office/powerpoint/2010/main" val="4150562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b="1" dirty="0" err="1"/>
              <a:t>quy</a:t>
            </a:r>
            <a:r>
              <a:rPr lang="en-US" b="1" dirty="0"/>
              <a:t> </a:t>
            </a:r>
            <a:r>
              <a:rPr lang="en-US" b="1" dirty="0" err="1"/>
              <a:t>trình</a:t>
            </a:r>
            <a:r>
              <a:rPr lang="en-US" b="1" dirty="0"/>
              <a:t> </a:t>
            </a:r>
            <a:r>
              <a:rPr lang="en-US" b="1" dirty="0" err="1"/>
              <a:t>phát</a:t>
            </a:r>
            <a:r>
              <a:rPr lang="en-US" b="1" dirty="0"/>
              <a:t> </a:t>
            </a:r>
            <a:r>
              <a:rPr lang="en-US" b="1" dirty="0" err="1"/>
              <a:t>triển</a:t>
            </a:r>
            <a:r>
              <a:rPr lang="en-US" b="1" dirty="0"/>
              <a:t> </a:t>
            </a:r>
            <a:r>
              <a:rPr lang="en-US" b="1" dirty="0" err="1"/>
              <a:t>và</a:t>
            </a:r>
            <a:r>
              <a:rPr lang="en-US" b="1" dirty="0"/>
              <a:t> </a:t>
            </a:r>
            <a:r>
              <a:rPr lang="en-US" b="1" dirty="0" err="1"/>
              <a:t>kiểm</a:t>
            </a:r>
            <a:r>
              <a:rPr lang="en-US" b="1" dirty="0"/>
              <a:t> </a:t>
            </a:r>
            <a:r>
              <a:rPr lang="en-US" b="1" dirty="0" err="1"/>
              <a:t>thử</a:t>
            </a:r>
            <a:r>
              <a:rPr lang="en-US" b="1" dirty="0"/>
              <a:t> </a:t>
            </a:r>
            <a:r>
              <a:rPr lang="en-US" b="1" dirty="0" err="1"/>
              <a:t>hệ</a:t>
            </a:r>
            <a:r>
              <a:rPr lang="en-US" b="1" dirty="0"/>
              <a:t> </a:t>
            </a:r>
            <a:r>
              <a:rPr lang="en-US" b="1" dirty="0" err="1"/>
              <a:t>thống</a:t>
            </a:r>
            <a:r>
              <a:rPr lang="en-US" dirty="0"/>
              <a:t>.</a:t>
            </a:r>
          </a:p>
          <a:p>
            <a:r>
              <a:rPr lang="en-US" dirty="0"/>
              <a:t>Quy </a:t>
            </a:r>
            <a:r>
              <a:rPr lang="en-US" dirty="0" err="1"/>
              <a:t>trình</a:t>
            </a:r>
            <a:r>
              <a:rPr lang="en-US" dirty="0"/>
              <a:t> </a:t>
            </a:r>
            <a:r>
              <a:rPr lang="en-US" dirty="0" err="1"/>
              <a:t>phát</a:t>
            </a:r>
            <a:r>
              <a:rPr lang="en-US" dirty="0"/>
              <a:t> </a:t>
            </a:r>
            <a:r>
              <a:rPr lang="en-US" dirty="0" err="1"/>
              <a:t>triển</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theo</a:t>
            </a:r>
            <a:r>
              <a:rPr lang="en-US" dirty="0"/>
              <a:t> </a:t>
            </a:r>
            <a:r>
              <a:rPr lang="en-US" dirty="0" err="1"/>
              <a:t>các</a:t>
            </a:r>
            <a:r>
              <a:rPr lang="en-US" dirty="0"/>
              <a:t> </a:t>
            </a:r>
            <a:r>
              <a:rPr lang="en-US" dirty="0" err="1"/>
              <a:t>bước</a:t>
            </a:r>
            <a:r>
              <a:rPr lang="en-US" dirty="0"/>
              <a:t> </a:t>
            </a:r>
            <a:r>
              <a:rPr lang="en-US" dirty="0" err="1"/>
              <a:t>gồm</a:t>
            </a:r>
            <a:r>
              <a:rPr lang="en-US" dirty="0"/>
              <a:t>:</a:t>
            </a:r>
          </a:p>
          <a:p>
            <a:r>
              <a:rPr lang="en-US" b="1" dirty="0" err="1"/>
              <a:t>Phân</a:t>
            </a:r>
            <a:r>
              <a:rPr lang="en-US" b="1" dirty="0"/>
              <a:t> </a:t>
            </a:r>
            <a:r>
              <a:rPr lang="en-US" b="1" dirty="0" err="1"/>
              <a:t>tích</a:t>
            </a:r>
            <a:r>
              <a:rPr lang="en-US" b="1" dirty="0"/>
              <a:t> </a:t>
            </a:r>
            <a:r>
              <a:rPr lang="en-US" b="1" dirty="0" err="1"/>
              <a:t>yêu</a:t>
            </a:r>
            <a:r>
              <a:rPr lang="en-US" b="1" dirty="0"/>
              <a:t> </a:t>
            </a:r>
            <a:r>
              <a:rPr lang="en-US" b="1" dirty="0" err="1"/>
              <a:t>cầu</a:t>
            </a:r>
            <a:r>
              <a:rPr lang="en-US" b="1" dirty="0"/>
              <a:t> → </a:t>
            </a:r>
            <a:r>
              <a:rPr lang="en-US" b="1" dirty="0" err="1"/>
              <a:t>Thiết</a:t>
            </a:r>
            <a:r>
              <a:rPr lang="en-US" b="1" dirty="0"/>
              <a:t> </a:t>
            </a:r>
            <a:r>
              <a:rPr lang="en-US" b="1" dirty="0" err="1"/>
              <a:t>kế</a:t>
            </a:r>
            <a:r>
              <a:rPr lang="en-US" b="1" dirty="0"/>
              <a:t> </a:t>
            </a:r>
            <a:r>
              <a:rPr lang="en-US" b="1" dirty="0" err="1"/>
              <a:t>hệ</a:t>
            </a:r>
            <a:r>
              <a:rPr lang="en-US" b="1" dirty="0"/>
              <a:t> </a:t>
            </a:r>
            <a:r>
              <a:rPr lang="en-US" b="1" dirty="0" err="1"/>
              <a:t>thống</a:t>
            </a:r>
            <a:r>
              <a:rPr lang="en-US" b="1" dirty="0"/>
              <a:t> → </a:t>
            </a:r>
            <a:r>
              <a:rPr lang="en-US" b="1" dirty="0" err="1"/>
              <a:t>Phát</a:t>
            </a:r>
            <a:r>
              <a:rPr lang="en-US" b="1" dirty="0"/>
              <a:t> </a:t>
            </a:r>
            <a:r>
              <a:rPr lang="en-US" b="1" dirty="0" err="1"/>
              <a:t>triển</a:t>
            </a:r>
            <a:r>
              <a:rPr lang="en-US" b="1" dirty="0"/>
              <a:t> </a:t>
            </a:r>
            <a:r>
              <a:rPr lang="en-US" b="1" dirty="0" err="1"/>
              <a:t>và</a:t>
            </a:r>
            <a:r>
              <a:rPr lang="en-US" b="1" dirty="0"/>
              <a:t> </a:t>
            </a:r>
            <a:r>
              <a:rPr lang="en-US" b="1" dirty="0" err="1"/>
              <a:t>mã</a:t>
            </a:r>
            <a:r>
              <a:rPr lang="en-US" b="1" dirty="0"/>
              <a:t> </a:t>
            </a:r>
            <a:r>
              <a:rPr lang="en-US" b="1" dirty="0" err="1"/>
              <a:t>hóa</a:t>
            </a:r>
            <a:r>
              <a:rPr lang="en-US" b="1" dirty="0"/>
              <a:t> → </a:t>
            </a:r>
            <a:r>
              <a:rPr lang="en-US" b="1" dirty="0" err="1"/>
              <a:t>Kiểm</a:t>
            </a:r>
            <a:r>
              <a:rPr lang="en-US" b="1" dirty="0"/>
              <a:t> </a:t>
            </a:r>
            <a:r>
              <a:rPr lang="en-US" b="1" dirty="0" err="1"/>
              <a:t>thử</a:t>
            </a:r>
            <a:r>
              <a:rPr lang="en-US" b="1" dirty="0"/>
              <a:t> → </a:t>
            </a:r>
            <a:r>
              <a:rPr lang="en-US" b="1" dirty="0" err="1"/>
              <a:t>Triển</a:t>
            </a:r>
            <a:r>
              <a:rPr lang="en-US" b="1" dirty="0"/>
              <a:t> </a:t>
            </a:r>
            <a:r>
              <a:rPr lang="en-US" b="1" dirty="0" err="1"/>
              <a:t>khai</a:t>
            </a:r>
            <a:r>
              <a:rPr lang="en-US" b="1" dirty="0"/>
              <a:t> </a:t>
            </a:r>
            <a:r>
              <a:rPr lang="en-US" b="1" dirty="0" err="1"/>
              <a:t>và</a:t>
            </a:r>
            <a:r>
              <a:rPr lang="en-US" b="1" dirty="0"/>
              <a:t> </a:t>
            </a:r>
            <a:r>
              <a:rPr lang="en-US" b="1" dirty="0" err="1"/>
              <a:t>bảo</a:t>
            </a:r>
            <a:r>
              <a:rPr lang="en-US" b="1" dirty="0"/>
              <a:t> </a:t>
            </a:r>
            <a:r>
              <a:rPr lang="en-US" b="1" dirty="0" err="1"/>
              <a:t>trì</a:t>
            </a:r>
            <a:r>
              <a:rPr lang="en-US" b="1" dirty="0"/>
              <a:t>.</a:t>
            </a:r>
            <a:endParaRPr lang="en-US" dirty="0"/>
          </a:p>
          <a:p>
            <a:r>
              <a:rPr lang="en-US" dirty="0"/>
              <a:t>Trong </a:t>
            </a:r>
            <a:r>
              <a:rPr lang="en-US" dirty="0" err="1"/>
              <a:t>quá</a:t>
            </a:r>
            <a:r>
              <a:rPr lang="en-US" dirty="0"/>
              <a:t> </a:t>
            </a:r>
            <a:r>
              <a:rPr lang="en-US" dirty="0" err="1"/>
              <a:t>trình</a:t>
            </a:r>
            <a:r>
              <a:rPr lang="en-US" dirty="0"/>
              <a:t> </a:t>
            </a:r>
            <a:r>
              <a:rPr lang="en-US" dirty="0" err="1"/>
              <a:t>kiểm</a:t>
            </a:r>
            <a:r>
              <a:rPr lang="en-US" dirty="0"/>
              <a:t> </a:t>
            </a:r>
            <a:r>
              <a:rPr lang="en-US" dirty="0" err="1"/>
              <a:t>thử</a:t>
            </a:r>
            <a:r>
              <a:rPr lang="en-US" dirty="0"/>
              <a:t>, </a:t>
            </a:r>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b="1" dirty="0"/>
              <a:t>Test Cases</a:t>
            </a:r>
            <a:r>
              <a:rPr lang="en-US" dirty="0"/>
              <a:t> </a:t>
            </a:r>
            <a:r>
              <a:rPr lang="en-US" dirty="0" err="1"/>
              <a:t>để</a:t>
            </a:r>
            <a:r>
              <a:rPr lang="en-US" dirty="0"/>
              <a:t> </a:t>
            </a:r>
            <a:r>
              <a:rPr lang="en-US" dirty="0" err="1"/>
              <a:t>kiểm</a:t>
            </a:r>
            <a:r>
              <a:rPr lang="en-US" dirty="0"/>
              <a:t> </a:t>
            </a:r>
            <a:r>
              <a:rPr lang="en-US" dirty="0" err="1"/>
              <a:t>tra</a:t>
            </a:r>
            <a:r>
              <a:rPr lang="en-US" dirty="0"/>
              <a:t> </a:t>
            </a:r>
            <a:r>
              <a:rPr lang="en-US" dirty="0" err="1"/>
              <a:t>các</a:t>
            </a:r>
            <a:r>
              <a:rPr lang="en-US" dirty="0"/>
              <a:t> </a:t>
            </a:r>
            <a:r>
              <a:rPr lang="en-US" dirty="0" err="1"/>
              <a:t>chức</a:t>
            </a:r>
            <a:r>
              <a:rPr lang="en-US" dirty="0"/>
              <a:t> </a:t>
            </a:r>
            <a:r>
              <a:rPr lang="en-US" dirty="0" err="1"/>
              <a:t>năng</a:t>
            </a:r>
            <a:r>
              <a:rPr lang="en-US" dirty="0"/>
              <a:t>.</a:t>
            </a:r>
          </a:p>
          <a:p>
            <a:r>
              <a:rPr lang="en-US" dirty="0" err="1"/>
              <a:t>Mục</a:t>
            </a:r>
            <a:r>
              <a:rPr lang="en-US" dirty="0"/>
              <a:t> </a:t>
            </a:r>
            <a:r>
              <a:rPr lang="en-US" dirty="0" err="1"/>
              <a:t>tiêu</a:t>
            </a:r>
            <a:r>
              <a:rPr lang="en-US" dirty="0"/>
              <a:t> </a:t>
            </a:r>
            <a:r>
              <a:rPr lang="en-US" dirty="0" err="1"/>
              <a:t>của</a:t>
            </a:r>
            <a:r>
              <a:rPr lang="en-US" dirty="0"/>
              <a:t> </a:t>
            </a:r>
            <a:r>
              <a:rPr lang="en-US" dirty="0" err="1"/>
              <a:t>việc</a:t>
            </a:r>
            <a:r>
              <a:rPr lang="en-US" dirty="0"/>
              <a:t> </a:t>
            </a:r>
            <a:r>
              <a:rPr lang="en-US" dirty="0" err="1"/>
              <a:t>kiểm</a:t>
            </a:r>
            <a:r>
              <a:rPr lang="en-US" dirty="0"/>
              <a:t> </a:t>
            </a:r>
            <a:r>
              <a:rPr lang="en-US" dirty="0" err="1"/>
              <a:t>thử</a:t>
            </a:r>
            <a:r>
              <a:rPr lang="en-US" dirty="0"/>
              <a:t> </a:t>
            </a:r>
            <a:r>
              <a:rPr lang="en-US" dirty="0" err="1"/>
              <a:t>là</a:t>
            </a:r>
            <a:r>
              <a:rPr lang="en-US" dirty="0"/>
              <a:t> </a:t>
            </a:r>
            <a:r>
              <a:rPr lang="en-US" dirty="0" err="1"/>
              <a:t>đảm</a:t>
            </a:r>
            <a:r>
              <a:rPr lang="en-US" dirty="0"/>
              <a:t> </a:t>
            </a:r>
            <a:r>
              <a:rPr lang="en-US" dirty="0" err="1"/>
              <a:t>bảo</a:t>
            </a:r>
            <a:r>
              <a:rPr lang="en-US" dirty="0"/>
              <a:t> </a:t>
            </a:r>
            <a:r>
              <a:rPr lang="en-US" dirty="0" err="1"/>
              <a:t>chức</a:t>
            </a:r>
            <a:r>
              <a:rPr lang="en-US" dirty="0"/>
              <a:t> </a:t>
            </a:r>
            <a:r>
              <a:rPr lang="en-US" dirty="0" err="1"/>
              <a:t>năng</a:t>
            </a:r>
            <a:r>
              <a:rPr lang="en-US" dirty="0"/>
              <a:t> </a:t>
            </a:r>
            <a:r>
              <a:rPr lang="en-US" dirty="0" err="1"/>
              <a:t>hoạt</a:t>
            </a:r>
            <a:r>
              <a:rPr lang="en-US" dirty="0"/>
              <a:t> </a:t>
            </a:r>
            <a:r>
              <a:rPr lang="en-US" dirty="0" err="1"/>
              <a:t>động</a:t>
            </a:r>
            <a:r>
              <a:rPr lang="en-US" dirty="0"/>
              <a:t> </a:t>
            </a:r>
            <a:r>
              <a:rPr lang="en-US" dirty="0" err="1"/>
              <a:t>đúng</a:t>
            </a:r>
            <a:r>
              <a:rPr lang="en-US" dirty="0"/>
              <a:t>, </a:t>
            </a:r>
            <a:r>
              <a:rPr lang="en-US" dirty="0" err="1"/>
              <a:t>phát</a:t>
            </a:r>
            <a:r>
              <a:rPr lang="en-US" dirty="0"/>
              <a:t> </a:t>
            </a:r>
            <a:r>
              <a:rPr lang="en-US" dirty="0" err="1"/>
              <a:t>hiện</a:t>
            </a:r>
            <a:r>
              <a:rPr lang="en-US" dirty="0"/>
              <a:t> </a:t>
            </a:r>
            <a:r>
              <a:rPr lang="en-US" dirty="0" err="1"/>
              <a:t>lỗi</a:t>
            </a:r>
            <a:r>
              <a:rPr lang="en-US" dirty="0"/>
              <a:t> </a:t>
            </a:r>
            <a:r>
              <a:rPr lang="en-US" dirty="0" err="1"/>
              <a:t>sớm</a:t>
            </a:r>
            <a:r>
              <a:rPr lang="en-US" dirty="0"/>
              <a:t> </a:t>
            </a:r>
            <a:r>
              <a:rPr lang="en-US" dirty="0" err="1"/>
              <a:t>và</a:t>
            </a:r>
            <a:r>
              <a:rPr lang="en-US" dirty="0"/>
              <a:t> </a:t>
            </a:r>
            <a:r>
              <a:rPr lang="en-US" dirty="0" err="1"/>
              <a:t>cải</a:t>
            </a:r>
            <a:r>
              <a:rPr lang="en-US" dirty="0"/>
              <a:t> </a:t>
            </a:r>
            <a:r>
              <a:rPr lang="en-US" dirty="0" err="1"/>
              <a:t>thiện</a:t>
            </a:r>
            <a:r>
              <a:rPr lang="en-US" dirty="0"/>
              <a:t> </a:t>
            </a:r>
            <a:r>
              <a:rPr lang="en-US" dirty="0" err="1"/>
              <a:t>trải</a:t>
            </a:r>
            <a:r>
              <a:rPr lang="en-US" dirty="0"/>
              <a:t> </a:t>
            </a:r>
            <a:r>
              <a:rPr lang="en-US" dirty="0" err="1"/>
              <a:t>nghiệm</a:t>
            </a:r>
            <a:r>
              <a:rPr lang="en-US" dirty="0"/>
              <a:t> </a:t>
            </a:r>
            <a:r>
              <a:rPr lang="en-US" dirty="0" err="1"/>
              <a:t>của</a:t>
            </a:r>
            <a:r>
              <a:rPr lang="en-US" dirty="0"/>
              <a:t> </a:t>
            </a:r>
            <a:r>
              <a:rPr lang="en-US" dirty="0" err="1"/>
              <a:t>người</a:t>
            </a:r>
            <a:r>
              <a:rPr lang="en-US" dirty="0"/>
              <a:t> </a:t>
            </a:r>
            <a:r>
              <a:rPr lang="en-US" dirty="0" err="1"/>
              <a:t>sử</a:t>
            </a:r>
            <a:r>
              <a:rPr lang="en-US" dirty="0"/>
              <a:t> </a:t>
            </a:r>
            <a:r>
              <a:rPr lang="en-US" dirty="0" err="1"/>
              <a:t>dụng</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12</a:t>
            </a:fld>
            <a:endParaRPr lang="en-US"/>
          </a:p>
        </p:txBody>
      </p:sp>
    </p:spTree>
    <p:extLst>
      <p:ext uri="{BB962C8B-B14F-4D97-AF65-F5344CB8AC3E}">
        <p14:creationId xmlns:p14="http://schemas.microsoft.com/office/powerpoint/2010/main" val="489563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Đây</a:t>
            </a:r>
            <a:r>
              <a:rPr lang="en-US" dirty="0"/>
              <a:t> </a:t>
            </a:r>
            <a:r>
              <a:rPr lang="en-US" dirty="0" err="1"/>
              <a:t>là</a:t>
            </a:r>
            <a:r>
              <a:rPr lang="en-US" dirty="0"/>
              <a:t> </a:t>
            </a:r>
            <a:r>
              <a:rPr lang="en-US" dirty="0" err="1"/>
              <a:t>phần</a:t>
            </a:r>
            <a:r>
              <a:rPr lang="en-US" dirty="0"/>
              <a:t> </a:t>
            </a:r>
            <a:r>
              <a:rPr lang="en-US" b="1" dirty="0" err="1"/>
              <a:t>giao</a:t>
            </a:r>
            <a:r>
              <a:rPr lang="en-US" b="1" dirty="0"/>
              <a:t> </a:t>
            </a:r>
            <a:r>
              <a:rPr lang="en-US" b="1" dirty="0" err="1"/>
              <a:t>diện</a:t>
            </a:r>
            <a:r>
              <a:rPr lang="en-US" b="1" dirty="0"/>
              <a:t> </a:t>
            </a:r>
            <a:r>
              <a:rPr lang="en-US" b="1" dirty="0" err="1"/>
              <a:t>chính</a:t>
            </a:r>
            <a:r>
              <a:rPr lang="en-US" b="1" dirty="0"/>
              <a:t> </a:t>
            </a:r>
            <a:r>
              <a:rPr lang="en-US" b="1" dirty="0" err="1"/>
              <a:t>của</a:t>
            </a:r>
            <a:r>
              <a:rPr lang="en-US" b="1" dirty="0"/>
              <a:t> </a:t>
            </a:r>
            <a:r>
              <a:rPr lang="en-US" b="1" dirty="0" err="1"/>
              <a:t>hệ</a:t>
            </a:r>
            <a:r>
              <a:rPr lang="en-US" b="1" dirty="0"/>
              <a:t> </a:t>
            </a:r>
            <a:r>
              <a:rPr lang="en-US" b="1" dirty="0" err="1"/>
              <a:t>thống</a:t>
            </a:r>
            <a:r>
              <a:rPr lang="en-US" dirty="0"/>
              <a:t>.</a:t>
            </a:r>
          </a:p>
          <a:p>
            <a:r>
              <a:rPr lang="en-US" dirty="0"/>
              <a:t>Dashboard </a:t>
            </a:r>
            <a:r>
              <a:rPr lang="en-US" dirty="0" err="1"/>
              <a:t>cung</a:t>
            </a:r>
            <a:r>
              <a:rPr lang="en-US" dirty="0"/>
              <a:t> </a:t>
            </a:r>
            <a:r>
              <a:rPr lang="en-US" dirty="0" err="1"/>
              <a:t>cấp</a:t>
            </a:r>
            <a:r>
              <a:rPr lang="en-US" dirty="0"/>
              <a:t> </a:t>
            </a:r>
            <a:r>
              <a:rPr lang="en-US" dirty="0" err="1"/>
              <a:t>cái</a:t>
            </a:r>
            <a:r>
              <a:rPr lang="en-US" dirty="0"/>
              <a:t> </a:t>
            </a:r>
            <a:r>
              <a:rPr lang="en-US" dirty="0" err="1"/>
              <a:t>nhìn</a:t>
            </a:r>
            <a:r>
              <a:rPr lang="en-US" dirty="0"/>
              <a:t> </a:t>
            </a:r>
            <a:r>
              <a:rPr lang="en-US" dirty="0" err="1"/>
              <a:t>tổng</a:t>
            </a:r>
            <a:r>
              <a:rPr lang="en-US" dirty="0"/>
              <a:t> </a:t>
            </a:r>
            <a:r>
              <a:rPr lang="en-US" dirty="0" err="1"/>
              <a:t>quan</a:t>
            </a:r>
            <a:r>
              <a:rPr lang="en-US" dirty="0"/>
              <a:t> </a:t>
            </a:r>
            <a:r>
              <a:rPr lang="en-US" dirty="0" err="1"/>
              <a:t>và</a:t>
            </a:r>
            <a:r>
              <a:rPr lang="en-US" dirty="0"/>
              <a:t> </a:t>
            </a:r>
            <a:r>
              <a:rPr lang="en-US" dirty="0" err="1"/>
              <a:t>các</a:t>
            </a:r>
            <a:r>
              <a:rPr lang="en-US" dirty="0"/>
              <a:t> </a:t>
            </a:r>
            <a:r>
              <a:rPr lang="en-US" dirty="0" err="1"/>
              <a:t>thông</a:t>
            </a:r>
            <a:r>
              <a:rPr lang="en-US" dirty="0"/>
              <a:t> </a:t>
            </a:r>
            <a:r>
              <a:rPr lang="en-US" dirty="0" err="1"/>
              <a:t>báo</a:t>
            </a:r>
            <a:r>
              <a:rPr lang="en-US" dirty="0"/>
              <a:t> </a:t>
            </a:r>
            <a:r>
              <a:rPr lang="en-US" dirty="0" err="1"/>
              <a:t>cần</a:t>
            </a:r>
            <a:r>
              <a:rPr lang="en-US" dirty="0"/>
              <a:t> </a:t>
            </a:r>
            <a:r>
              <a:rPr lang="en-US" dirty="0" err="1"/>
              <a:t>thiết</a:t>
            </a:r>
            <a:r>
              <a:rPr lang="en-US" dirty="0"/>
              <a:t> </a:t>
            </a:r>
            <a:r>
              <a:rPr lang="en-US" dirty="0" err="1"/>
              <a:t>cho</a:t>
            </a:r>
            <a:r>
              <a:rPr lang="en-US" dirty="0"/>
              <a:t> </a:t>
            </a:r>
            <a:r>
              <a:rPr lang="en-US" dirty="0" err="1"/>
              <a:t>người</a:t>
            </a:r>
            <a:r>
              <a:rPr lang="en-US" dirty="0"/>
              <a:t> </a:t>
            </a:r>
            <a:r>
              <a:rPr lang="en-US" dirty="0" err="1"/>
              <a:t>dùng</a:t>
            </a:r>
            <a:r>
              <a:rPr lang="en-US" dirty="0"/>
              <a:t>.</a:t>
            </a:r>
          </a:p>
          <a:p>
            <a:r>
              <a:rPr lang="en-US" dirty="0" err="1"/>
              <a:t>Đối</a:t>
            </a:r>
            <a:r>
              <a:rPr lang="en-US" dirty="0"/>
              <a:t> </a:t>
            </a:r>
            <a:r>
              <a:rPr lang="en-US" dirty="0" err="1"/>
              <a:t>với</a:t>
            </a:r>
            <a:r>
              <a:rPr lang="en-US" dirty="0"/>
              <a:t> </a:t>
            </a:r>
            <a:r>
              <a:rPr lang="en-US" dirty="0" err="1"/>
              <a:t>quản</a:t>
            </a:r>
            <a:r>
              <a:rPr lang="en-US" dirty="0"/>
              <a:t> </a:t>
            </a:r>
            <a:r>
              <a:rPr lang="en-US" dirty="0" err="1"/>
              <a:t>lý</a:t>
            </a:r>
            <a:r>
              <a:rPr lang="en-US" dirty="0"/>
              <a:t> </a:t>
            </a:r>
            <a:r>
              <a:rPr lang="en-US" dirty="0" err="1"/>
              <a:t>đề</a:t>
            </a:r>
            <a:r>
              <a:rPr lang="en-US" dirty="0"/>
              <a:t> </a:t>
            </a:r>
            <a:r>
              <a:rPr lang="en-US" dirty="0" err="1"/>
              <a:t>tài</a:t>
            </a:r>
            <a:r>
              <a:rPr lang="en-US" dirty="0"/>
              <a:t>, </a:t>
            </a:r>
            <a:r>
              <a:rPr lang="en-US" dirty="0" err="1"/>
              <a:t>người</a:t>
            </a:r>
            <a:r>
              <a:rPr lang="en-US" dirty="0"/>
              <a:t> </a:t>
            </a:r>
            <a:r>
              <a:rPr lang="en-US" dirty="0" err="1"/>
              <a:t>dùng</a:t>
            </a:r>
            <a:r>
              <a:rPr lang="en-US" dirty="0"/>
              <a:t> </a:t>
            </a:r>
            <a:r>
              <a:rPr lang="en-US" dirty="0" err="1"/>
              <a:t>có</a:t>
            </a:r>
            <a:r>
              <a:rPr lang="en-US" dirty="0"/>
              <a:t> </a:t>
            </a:r>
            <a:r>
              <a:rPr lang="en-US" dirty="0" err="1"/>
              <a:t>thể</a:t>
            </a:r>
            <a:r>
              <a:rPr lang="en-US" dirty="0"/>
              <a:t> </a:t>
            </a:r>
            <a:r>
              <a:rPr lang="en-US" dirty="0" err="1"/>
              <a:t>tìm</a:t>
            </a:r>
            <a:r>
              <a:rPr lang="en-US" dirty="0"/>
              <a:t> </a:t>
            </a:r>
            <a:r>
              <a:rPr lang="en-US" dirty="0" err="1"/>
              <a:t>kiếm</a:t>
            </a:r>
            <a:r>
              <a:rPr lang="en-US" dirty="0"/>
              <a:t> </a:t>
            </a:r>
            <a:r>
              <a:rPr lang="en-US" dirty="0" err="1"/>
              <a:t>và</a:t>
            </a:r>
            <a:r>
              <a:rPr lang="en-US" dirty="0"/>
              <a:t> </a:t>
            </a:r>
            <a:r>
              <a:rPr lang="en-US" dirty="0" err="1"/>
              <a:t>theo</a:t>
            </a:r>
            <a:r>
              <a:rPr lang="en-US" dirty="0"/>
              <a:t> </a:t>
            </a:r>
            <a:r>
              <a:rPr lang="en-US" dirty="0" err="1"/>
              <a:t>dõi</a:t>
            </a:r>
            <a:r>
              <a:rPr lang="en-US" dirty="0"/>
              <a:t> </a:t>
            </a:r>
            <a:r>
              <a:rPr lang="en-US" dirty="0" err="1"/>
              <a:t>các</a:t>
            </a:r>
            <a:r>
              <a:rPr lang="en-US" dirty="0"/>
              <a:t> </a:t>
            </a:r>
            <a:r>
              <a:rPr lang="en-US" dirty="0" err="1"/>
              <a:t>đề</a:t>
            </a:r>
            <a:r>
              <a:rPr lang="en-US" dirty="0"/>
              <a:t> </a:t>
            </a:r>
            <a:r>
              <a:rPr lang="en-US" dirty="0" err="1"/>
              <a:t>tài</a:t>
            </a:r>
            <a:r>
              <a:rPr lang="en-US" dirty="0"/>
              <a:t>.</a:t>
            </a:r>
          </a:p>
          <a:p>
            <a:r>
              <a:rPr lang="en-US" dirty="0" err="1"/>
              <a:t>Đối</a:t>
            </a:r>
            <a:r>
              <a:rPr lang="en-US" dirty="0"/>
              <a:t> </a:t>
            </a:r>
            <a:r>
              <a:rPr lang="en-US" dirty="0" err="1"/>
              <a:t>với</a:t>
            </a:r>
            <a:r>
              <a:rPr lang="en-US" dirty="0"/>
              <a:t> </a:t>
            </a:r>
            <a:r>
              <a:rPr lang="en-US" dirty="0" err="1"/>
              <a:t>quản</a:t>
            </a:r>
            <a:r>
              <a:rPr lang="en-US" dirty="0"/>
              <a:t> </a:t>
            </a:r>
            <a:r>
              <a:rPr lang="en-US" dirty="0" err="1"/>
              <a:t>lý</a:t>
            </a:r>
            <a:r>
              <a:rPr lang="en-US" dirty="0"/>
              <a:t> </a:t>
            </a:r>
            <a:r>
              <a:rPr lang="en-US" dirty="0" err="1"/>
              <a:t>nhóm</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thể</a:t>
            </a:r>
            <a:r>
              <a:rPr lang="en-US" dirty="0"/>
              <a:t> </a:t>
            </a:r>
            <a:r>
              <a:rPr lang="en-US" dirty="0" err="1"/>
              <a:t>tạo</a:t>
            </a:r>
            <a:r>
              <a:rPr lang="en-US" dirty="0"/>
              <a:t> </a:t>
            </a:r>
            <a:r>
              <a:rPr lang="en-US" dirty="0" err="1"/>
              <a:t>nhóm</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các</a:t>
            </a:r>
            <a:r>
              <a:rPr lang="en-US" dirty="0"/>
              <a:t> </a:t>
            </a:r>
            <a:r>
              <a:rPr lang="en-US" dirty="0" err="1"/>
              <a:t>thành</a:t>
            </a:r>
            <a:r>
              <a:rPr lang="en-US" dirty="0"/>
              <a:t> </a:t>
            </a:r>
            <a:r>
              <a:rPr lang="en-US" dirty="0" err="1"/>
              <a:t>viên</a:t>
            </a:r>
            <a:r>
              <a:rPr lang="en-US" dirty="0"/>
              <a:t>.</a:t>
            </a:r>
          </a:p>
          <a:p>
            <a:r>
              <a:rPr lang="en-US" dirty="0" err="1"/>
              <a:t>Ngoài</a:t>
            </a:r>
            <a:r>
              <a:rPr lang="en-US" dirty="0"/>
              <a:t> </a:t>
            </a:r>
            <a:r>
              <a:rPr lang="en-US" dirty="0" err="1"/>
              <a:t>ra</a:t>
            </a:r>
            <a:r>
              <a:rPr lang="en-US" dirty="0"/>
              <a:t>, </a:t>
            </a:r>
            <a:r>
              <a:rPr lang="en-US" dirty="0" err="1"/>
              <a:t>hệ</a:t>
            </a:r>
            <a:r>
              <a:rPr lang="en-US" dirty="0"/>
              <a:t> </a:t>
            </a:r>
            <a:r>
              <a:rPr lang="en-US" dirty="0" err="1"/>
              <a:t>thống</a:t>
            </a:r>
            <a:r>
              <a:rPr lang="en-US" dirty="0"/>
              <a:t> </a:t>
            </a:r>
            <a:r>
              <a:rPr lang="en-US" dirty="0" err="1"/>
              <a:t>có</a:t>
            </a:r>
            <a:r>
              <a:rPr lang="en-US" dirty="0"/>
              <a:t> </a:t>
            </a:r>
            <a:r>
              <a:rPr lang="en-US" dirty="0" err="1"/>
              <a:t>chức</a:t>
            </a:r>
            <a:r>
              <a:rPr lang="en-US" dirty="0"/>
              <a:t> </a:t>
            </a:r>
            <a:r>
              <a:rPr lang="en-US" dirty="0" err="1"/>
              <a:t>năng</a:t>
            </a:r>
            <a:r>
              <a:rPr lang="en-US" dirty="0"/>
              <a:t> </a:t>
            </a:r>
            <a:r>
              <a:rPr lang="en-US" b="1" dirty="0" err="1"/>
              <a:t>nộp</a:t>
            </a:r>
            <a:r>
              <a:rPr lang="en-US" b="1" dirty="0"/>
              <a:t> </a:t>
            </a:r>
            <a:r>
              <a:rPr lang="en-US" b="1" dirty="0" err="1"/>
              <a:t>báo</a:t>
            </a:r>
            <a:r>
              <a:rPr lang="en-US" b="1" dirty="0"/>
              <a:t> </a:t>
            </a:r>
            <a:r>
              <a:rPr lang="en-US" b="1" dirty="0" err="1"/>
              <a:t>cáo</a:t>
            </a:r>
            <a:r>
              <a:rPr lang="en-US" b="1" dirty="0"/>
              <a:t> </a:t>
            </a:r>
            <a:r>
              <a:rPr lang="en-US" b="1" dirty="0" err="1"/>
              <a:t>và</a:t>
            </a:r>
            <a:r>
              <a:rPr lang="en-US" b="1" dirty="0"/>
              <a:t> </a:t>
            </a:r>
            <a:r>
              <a:rPr lang="en-US" b="1" dirty="0" err="1"/>
              <a:t>đồ</a:t>
            </a:r>
            <a:r>
              <a:rPr lang="en-US" b="1" dirty="0"/>
              <a:t> </a:t>
            </a:r>
            <a:r>
              <a:rPr lang="en-US" b="1" dirty="0" err="1"/>
              <a:t>án</a:t>
            </a:r>
            <a:r>
              <a:rPr lang="en-US" dirty="0"/>
              <a:t>, </a:t>
            </a:r>
            <a:r>
              <a:rPr lang="en-US" dirty="0" err="1"/>
              <a:t>cho</a:t>
            </a:r>
            <a:r>
              <a:rPr lang="en-US" dirty="0"/>
              <a:t> </a:t>
            </a:r>
            <a:r>
              <a:rPr lang="en-US" dirty="0" err="1"/>
              <a:t>phép</a:t>
            </a:r>
            <a:r>
              <a:rPr lang="en-US" dirty="0"/>
              <a:t> </a:t>
            </a:r>
            <a:r>
              <a:rPr lang="en-US" dirty="0" err="1"/>
              <a:t>sinh</a:t>
            </a:r>
            <a:r>
              <a:rPr lang="en-US" dirty="0"/>
              <a:t> </a:t>
            </a:r>
            <a:r>
              <a:rPr lang="en-US" dirty="0" err="1"/>
              <a:t>viên</a:t>
            </a:r>
            <a:r>
              <a:rPr lang="en-US" dirty="0"/>
              <a:t> </a:t>
            </a:r>
            <a:r>
              <a:rPr lang="en-US" dirty="0" err="1"/>
              <a:t>gửi</a:t>
            </a:r>
            <a:r>
              <a:rPr lang="en-US" dirty="0"/>
              <a:t> </a:t>
            </a:r>
            <a:r>
              <a:rPr lang="en-US" dirty="0" err="1"/>
              <a:t>báo</a:t>
            </a:r>
            <a:r>
              <a:rPr lang="en-US" dirty="0"/>
              <a:t> </a:t>
            </a:r>
            <a:r>
              <a:rPr lang="en-US" dirty="0" err="1"/>
              <a:t>cáo</a:t>
            </a:r>
            <a:r>
              <a:rPr lang="en-US" dirty="0"/>
              <a:t> </a:t>
            </a:r>
            <a:r>
              <a:rPr lang="en-US" dirty="0" err="1"/>
              <a:t>cũng</a:t>
            </a:r>
            <a:r>
              <a:rPr lang="en-US" dirty="0"/>
              <a:t> </a:t>
            </a:r>
            <a:r>
              <a:rPr lang="en-US" dirty="0" err="1"/>
              <a:t>như</a:t>
            </a:r>
            <a:r>
              <a:rPr lang="en-US" dirty="0"/>
              <a:t> </a:t>
            </a:r>
            <a:r>
              <a:rPr lang="en-US" dirty="0" err="1"/>
              <a:t>sản</a:t>
            </a:r>
            <a:r>
              <a:rPr lang="en-US" dirty="0"/>
              <a:t> </a:t>
            </a:r>
            <a:r>
              <a:rPr lang="en-US" dirty="0" err="1"/>
              <a:t>phẩm</a:t>
            </a:r>
            <a:r>
              <a:rPr lang="en-US" dirty="0"/>
              <a:t> </a:t>
            </a:r>
            <a:r>
              <a:rPr lang="en-US" dirty="0" err="1"/>
              <a:t>cuối</a:t>
            </a:r>
            <a:r>
              <a:rPr lang="en-US" dirty="0"/>
              <a:t>.</a:t>
            </a:r>
          </a:p>
          <a:p>
            <a:r>
              <a:rPr lang="en-US" dirty="0"/>
              <a:t>Sinh </a:t>
            </a:r>
            <a:r>
              <a:rPr lang="en-US" dirty="0" err="1"/>
              <a:t>viên</a:t>
            </a:r>
            <a:r>
              <a:rPr lang="en-US" dirty="0"/>
              <a:t> </a:t>
            </a:r>
            <a:r>
              <a:rPr lang="en-US" dirty="0" err="1"/>
              <a:t>cũng</a:t>
            </a:r>
            <a:r>
              <a:rPr lang="en-US" dirty="0"/>
              <a:t> </a:t>
            </a:r>
            <a:r>
              <a:rPr lang="en-US" dirty="0" err="1"/>
              <a:t>có</a:t>
            </a:r>
            <a:r>
              <a:rPr lang="en-US" dirty="0"/>
              <a:t> </a:t>
            </a:r>
            <a:r>
              <a:rPr lang="en-US" dirty="0" err="1"/>
              <a:t>thể</a:t>
            </a:r>
            <a:r>
              <a:rPr lang="en-US" dirty="0"/>
              <a:t> </a:t>
            </a:r>
            <a:r>
              <a:rPr lang="en-US" dirty="0" err="1"/>
              <a:t>theo</a:t>
            </a:r>
            <a:r>
              <a:rPr lang="en-US" dirty="0"/>
              <a:t> </a:t>
            </a:r>
            <a:r>
              <a:rPr lang="en-US" dirty="0" err="1"/>
              <a:t>dõi</a:t>
            </a:r>
            <a:r>
              <a:rPr lang="en-US" dirty="0"/>
              <a:t> </a:t>
            </a:r>
            <a:r>
              <a:rPr lang="en-US" dirty="0" err="1"/>
              <a:t>tiến</a:t>
            </a:r>
            <a:r>
              <a:rPr lang="en-US" dirty="0"/>
              <a:t> </a:t>
            </a:r>
            <a:r>
              <a:rPr lang="en-US" dirty="0" err="1"/>
              <a:t>độ</a:t>
            </a:r>
            <a:r>
              <a:rPr lang="en-US" dirty="0"/>
              <a:t> </a:t>
            </a:r>
            <a:r>
              <a:rPr lang="en-US" dirty="0" err="1"/>
              <a:t>thông</a:t>
            </a:r>
            <a:r>
              <a:rPr lang="en-US" dirty="0"/>
              <a:t> qua </a:t>
            </a:r>
            <a:r>
              <a:rPr lang="en-US" dirty="0" err="1"/>
              <a:t>các</a:t>
            </a:r>
            <a:r>
              <a:rPr lang="en-US" dirty="0"/>
              <a:t> milestone </a:t>
            </a:r>
            <a:r>
              <a:rPr lang="en-US" dirty="0" err="1"/>
              <a:t>và</a:t>
            </a:r>
            <a:r>
              <a:rPr lang="en-US" dirty="0"/>
              <a:t> </a:t>
            </a:r>
            <a:r>
              <a:rPr lang="en-US" dirty="0" err="1"/>
              <a:t>nhận</a:t>
            </a:r>
            <a:r>
              <a:rPr lang="en-US" dirty="0"/>
              <a:t> </a:t>
            </a:r>
            <a:r>
              <a:rPr lang="en-US" dirty="0" err="1"/>
              <a:t>phản</a:t>
            </a:r>
            <a:r>
              <a:rPr lang="en-US" dirty="0"/>
              <a:t> </a:t>
            </a:r>
            <a:r>
              <a:rPr lang="en-US" dirty="0" err="1"/>
              <a:t>hồi</a:t>
            </a:r>
            <a:r>
              <a:rPr lang="en-US" dirty="0"/>
              <a:t> </a:t>
            </a:r>
            <a:r>
              <a:rPr lang="en-US" dirty="0" err="1"/>
              <a:t>từ</a:t>
            </a:r>
            <a:r>
              <a:rPr lang="en-US" dirty="0"/>
              <a:t> </a:t>
            </a:r>
            <a:r>
              <a:rPr lang="en-US" dirty="0" err="1"/>
              <a:t>giảng</a:t>
            </a:r>
            <a:r>
              <a:rPr lang="en-US" dirty="0"/>
              <a:t> </a:t>
            </a:r>
            <a:r>
              <a:rPr lang="en-US" dirty="0" err="1"/>
              <a:t>viên</a:t>
            </a:r>
            <a:r>
              <a:rPr lang="en-US" dirty="0"/>
              <a:t>.</a:t>
            </a:r>
          </a:p>
          <a:p>
            <a:r>
              <a:rPr lang="en-US" dirty="0" err="1"/>
              <a:t>Phần</a:t>
            </a:r>
            <a:r>
              <a:rPr lang="en-US" dirty="0"/>
              <a:t> </a:t>
            </a:r>
            <a:r>
              <a:rPr lang="en-US" dirty="0" err="1"/>
              <a:t>giao</a:t>
            </a:r>
            <a:r>
              <a:rPr lang="en-US" dirty="0"/>
              <a:t> </a:t>
            </a:r>
            <a:r>
              <a:rPr lang="en-US" dirty="0" err="1"/>
              <a:t>diện</a:t>
            </a:r>
            <a:r>
              <a:rPr lang="en-US" dirty="0"/>
              <a:t> </a:t>
            </a:r>
            <a:r>
              <a:rPr lang="en-US" dirty="0" err="1"/>
              <a:t>được</a:t>
            </a:r>
            <a:r>
              <a:rPr lang="en-US" dirty="0"/>
              <a:t> </a:t>
            </a:r>
            <a:r>
              <a:rPr lang="en-US" dirty="0" err="1"/>
              <a:t>xây</a:t>
            </a:r>
            <a:r>
              <a:rPr lang="en-US" dirty="0"/>
              <a:t> </a:t>
            </a:r>
            <a:r>
              <a:rPr lang="en-US" dirty="0" err="1"/>
              <a:t>dựng</a:t>
            </a:r>
            <a:r>
              <a:rPr lang="en-US" dirty="0"/>
              <a:t> </a:t>
            </a:r>
            <a:r>
              <a:rPr lang="en-US" dirty="0" err="1"/>
              <a:t>nhằm</a:t>
            </a:r>
            <a:r>
              <a:rPr lang="en-US" dirty="0"/>
              <a:t> </a:t>
            </a:r>
            <a:r>
              <a:rPr lang="en-US" dirty="0" err="1"/>
              <a:t>giúp</a:t>
            </a:r>
            <a:r>
              <a:rPr lang="en-US" dirty="0"/>
              <a:t> </a:t>
            </a:r>
            <a:r>
              <a:rPr lang="en-US" dirty="0" err="1"/>
              <a:t>các</a:t>
            </a:r>
            <a:r>
              <a:rPr lang="en-US" dirty="0"/>
              <a:t> </a:t>
            </a:r>
            <a:r>
              <a:rPr lang="en-US" dirty="0" err="1"/>
              <a:t>thao</a:t>
            </a:r>
            <a:r>
              <a:rPr lang="en-US" dirty="0"/>
              <a:t> </a:t>
            </a:r>
            <a:r>
              <a:rPr lang="en-US" dirty="0" err="1"/>
              <a:t>tác</a:t>
            </a:r>
            <a:r>
              <a:rPr lang="en-US" dirty="0"/>
              <a:t> </a:t>
            </a:r>
            <a:r>
              <a:rPr lang="en-US" dirty="0" err="1"/>
              <a:t>quản</a:t>
            </a:r>
            <a:r>
              <a:rPr lang="en-US" dirty="0"/>
              <a:t> </a:t>
            </a:r>
            <a:r>
              <a:rPr lang="en-US" dirty="0" err="1"/>
              <a:t>lý</a:t>
            </a:r>
            <a:r>
              <a:rPr lang="en-US" dirty="0"/>
              <a:t> </a:t>
            </a:r>
            <a:r>
              <a:rPr lang="en-US" dirty="0" err="1"/>
              <a:t>và</a:t>
            </a:r>
            <a:r>
              <a:rPr lang="en-US" dirty="0"/>
              <a:t> </a:t>
            </a:r>
            <a:r>
              <a:rPr lang="en-US" dirty="0" err="1"/>
              <a:t>nộp</a:t>
            </a:r>
            <a:r>
              <a:rPr lang="en-US" dirty="0"/>
              <a:t> </a:t>
            </a:r>
            <a:r>
              <a:rPr lang="en-US" dirty="0" err="1"/>
              <a:t>bài</a:t>
            </a:r>
            <a:r>
              <a:rPr lang="en-US" dirty="0"/>
              <a:t> </a:t>
            </a:r>
            <a:r>
              <a:rPr lang="en-US" dirty="0" err="1"/>
              <a:t>trở</a:t>
            </a:r>
            <a:r>
              <a:rPr lang="en-US" dirty="0"/>
              <a:t> </a:t>
            </a:r>
            <a:r>
              <a:rPr lang="en-US" dirty="0" err="1"/>
              <a:t>nên</a:t>
            </a:r>
            <a:r>
              <a:rPr lang="en-US" dirty="0"/>
              <a:t> </a:t>
            </a:r>
            <a:r>
              <a:rPr lang="en-US" dirty="0" err="1"/>
              <a:t>tập</a:t>
            </a:r>
            <a:r>
              <a:rPr lang="en-US" dirty="0"/>
              <a:t> </a:t>
            </a:r>
            <a:r>
              <a:rPr lang="en-US" dirty="0" err="1"/>
              <a:t>trung</a:t>
            </a:r>
            <a:r>
              <a:rPr lang="en-US" dirty="0"/>
              <a:t> </a:t>
            </a:r>
            <a:r>
              <a:rPr lang="en-US" dirty="0" err="1"/>
              <a:t>và</a:t>
            </a:r>
            <a:r>
              <a:rPr lang="en-US" dirty="0"/>
              <a:t> </a:t>
            </a:r>
            <a:r>
              <a:rPr lang="en-US" dirty="0" err="1"/>
              <a:t>thuận</a:t>
            </a:r>
            <a:r>
              <a:rPr lang="en-US" dirty="0"/>
              <a:t> </a:t>
            </a:r>
            <a:r>
              <a:rPr lang="en-US" dirty="0" err="1"/>
              <a:t>tiện</a:t>
            </a:r>
            <a:r>
              <a:rPr lang="en-US" dirty="0"/>
              <a:t> </a:t>
            </a:r>
            <a:r>
              <a:rPr lang="en-US" dirty="0" err="1"/>
              <a:t>hơn</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13</a:t>
            </a:fld>
            <a:endParaRPr lang="en-US"/>
          </a:p>
        </p:txBody>
      </p:sp>
    </p:spTree>
    <p:extLst>
      <p:ext uri="{BB962C8B-B14F-4D97-AF65-F5344CB8AC3E}">
        <p14:creationId xmlns:p14="http://schemas.microsoft.com/office/powerpoint/2010/main" val="3494215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Tiếp</a:t>
            </a:r>
            <a:r>
              <a:rPr lang="en-US" dirty="0"/>
              <a:t> </a:t>
            </a:r>
            <a:r>
              <a:rPr lang="en-US" dirty="0" err="1"/>
              <a:t>theo</a:t>
            </a:r>
            <a:r>
              <a:rPr lang="en-US" dirty="0"/>
              <a:t> </a:t>
            </a:r>
            <a:r>
              <a:rPr lang="en-US" dirty="0" err="1"/>
              <a:t>là</a:t>
            </a:r>
            <a:r>
              <a:rPr lang="en-US" dirty="0"/>
              <a:t> </a:t>
            </a:r>
            <a:r>
              <a:rPr lang="en-US" dirty="0" err="1"/>
              <a:t>hai</a:t>
            </a:r>
            <a:r>
              <a:rPr lang="en-US" dirty="0"/>
              <a:t> </a:t>
            </a:r>
            <a:r>
              <a:rPr lang="en-US" dirty="0" err="1"/>
              <a:t>công</a:t>
            </a:r>
            <a:r>
              <a:rPr lang="en-US" dirty="0"/>
              <a:t> </a:t>
            </a:r>
            <a:r>
              <a:rPr lang="en-US" dirty="0" err="1"/>
              <a:t>nghệ</a:t>
            </a:r>
            <a:r>
              <a:rPr lang="en-US" dirty="0"/>
              <a:t> </a:t>
            </a:r>
            <a:r>
              <a:rPr lang="en-US" dirty="0" err="1"/>
              <a:t>hỗ</a:t>
            </a:r>
            <a:r>
              <a:rPr lang="en-US" dirty="0"/>
              <a:t> </a:t>
            </a:r>
            <a:r>
              <a:rPr lang="en-US" dirty="0" err="1"/>
              <a:t>trợ</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và</a:t>
            </a:r>
            <a:r>
              <a:rPr lang="en-US" dirty="0"/>
              <a:t> </a:t>
            </a:r>
            <a:r>
              <a:rPr lang="en-US" dirty="0" err="1"/>
              <a:t>triển</a:t>
            </a:r>
            <a:r>
              <a:rPr lang="en-US" dirty="0"/>
              <a:t> </a:t>
            </a:r>
            <a:r>
              <a:rPr lang="en-US" dirty="0" err="1"/>
              <a:t>khai</a:t>
            </a:r>
            <a:r>
              <a:rPr lang="en-US" dirty="0"/>
              <a:t> </a:t>
            </a:r>
            <a:r>
              <a:rPr lang="en-US" dirty="0" err="1"/>
              <a:t>hệ</a:t>
            </a:r>
            <a:r>
              <a:rPr lang="en-US" dirty="0"/>
              <a:t> </a:t>
            </a:r>
            <a:r>
              <a:rPr lang="en-US" dirty="0" err="1"/>
              <a:t>thống</a:t>
            </a:r>
            <a:r>
              <a:rPr lang="en-US" dirty="0"/>
              <a:t> </a:t>
            </a:r>
            <a:r>
              <a:rPr lang="en-US" dirty="0" err="1"/>
              <a:t>là</a:t>
            </a:r>
            <a:r>
              <a:rPr lang="en-US" dirty="0"/>
              <a:t> </a:t>
            </a:r>
            <a:r>
              <a:rPr lang="en-US" b="1" dirty="0"/>
              <a:t>Swagger </a:t>
            </a:r>
            <a:r>
              <a:rPr lang="en-US" b="1" dirty="0" err="1"/>
              <a:t>và</a:t>
            </a:r>
            <a:r>
              <a:rPr lang="en-US" b="1" dirty="0"/>
              <a:t> Docker</a:t>
            </a:r>
            <a:r>
              <a:rPr lang="en-US" dirty="0"/>
              <a:t>.</a:t>
            </a:r>
          </a:p>
          <a:p>
            <a:r>
              <a:rPr lang="en-US" dirty="0" err="1"/>
              <a:t>Đầu</a:t>
            </a:r>
            <a:r>
              <a:rPr lang="en-US" dirty="0"/>
              <a:t> </a:t>
            </a:r>
            <a:r>
              <a:rPr lang="en-US" dirty="0" err="1"/>
              <a:t>tiên</a:t>
            </a:r>
            <a:r>
              <a:rPr lang="en-US" dirty="0"/>
              <a:t>, </a:t>
            </a:r>
            <a:r>
              <a:rPr lang="en-US" b="1" dirty="0"/>
              <a:t>Swagger/</a:t>
            </a:r>
            <a:r>
              <a:rPr lang="en-US" b="1" dirty="0" err="1"/>
              <a:t>OpenAPI</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mô</a:t>
            </a:r>
            <a:r>
              <a:rPr lang="en-US" dirty="0"/>
              <a:t> </a:t>
            </a:r>
            <a:r>
              <a:rPr lang="en-US" dirty="0" err="1"/>
              <a:t>tả</a:t>
            </a:r>
            <a:r>
              <a:rPr lang="en-US" dirty="0"/>
              <a:t> </a:t>
            </a:r>
            <a:r>
              <a:rPr lang="en-US" dirty="0" err="1"/>
              <a:t>và</a:t>
            </a:r>
            <a:r>
              <a:rPr lang="en-US" dirty="0"/>
              <a:t> </a:t>
            </a:r>
            <a:r>
              <a:rPr lang="en-US" dirty="0" err="1"/>
              <a:t>kiểm</a:t>
            </a:r>
            <a:r>
              <a:rPr lang="en-US" dirty="0"/>
              <a:t> </a:t>
            </a:r>
            <a:r>
              <a:rPr lang="en-US" dirty="0" err="1"/>
              <a:t>thử</a:t>
            </a:r>
            <a:r>
              <a:rPr lang="en-US" dirty="0"/>
              <a:t> </a:t>
            </a:r>
            <a:r>
              <a:rPr lang="en-US" dirty="0" err="1"/>
              <a:t>các</a:t>
            </a:r>
            <a:r>
              <a:rPr lang="en-US" dirty="0"/>
              <a:t> API.</a:t>
            </a:r>
          </a:p>
          <a:p>
            <a:r>
              <a:rPr lang="en-US" dirty="0"/>
              <a:t>Thông qua Swagger, </a:t>
            </a:r>
            <a:r>
              <a:rPr lang="en-US" dirty="0" err="1"/>
              <a:t>nhóm</a:t>
            </a:r>
            <a:r>
              <a:rPr lang="en-US" dirty="0"/>
              <a:t> </a:t>
            </a:r>
            <a:r>
              <a:rPr lang="en-US" dirty="0" err="1"/>
              <a:t>phát</a:t>
            </a:r>
            <a:r>
              <a:rPr lang="en-US" dirty="0"/>
              <a:t> </a:t>
            </a:r>
            <a:r>
              <a:rPr lang="en-US" dirty="0" err="1"/>
              <a:t>triển</a:t>
            </a:r>
            <a:r>
              <a:rPr lang="en-US" dirty="0"/>
              <a:t> </a:t>
            </a:r>
            <a:r>
              <a:rPr lang="en-US" dirty="0" err="1"/>
              <a:t>có</a:t>
            </a:r>
            <a:r>
              <a:rPr lang="en-US" dirty="0"/>
              <a:t> </a:t>
            </a:r>
            <a:r>
              <a:rPr lang="en-US" dirty="0" err="1"/>
              <a:t>thể</a:t>
            </a:r>
            <a:r>
              <a:rPr lang="en-US" dirty="0"/>
              <a:t> </a:t>
            </a:r>
            <a:r>
              <a:rPr lang="en-US" dirty="0" err="1"/>
              <a:t>xem</a:t>
            </a:r>
            <a:r>
              <a:rPr lang="en-US" dirty="0"/>
              <a:t> </a:t>
            </a:r>
            <a:r>
              <a:rPr lang="en-US" dirty="0" err="1"/>
              <a:t>tài</a:t>
            </a:r>
            <a:r>
              <a:rPr lang="en-US" dirty="0"/>
              <a:t> </a:t>
            </a:r>
            <a:r>
              <a:rPr lang="en-US" dirty="0" err="1"/>
              <a:t>liệu</a:t>
            </a:r>
            <a:r>
              <a:rPr lang="en-US" dirty="0"/>
              <a:t> API, </a:t>
            </a:r>
            <a:r>
              <a:rPr lang="en-US" dirty="0" err="1"/>
              <a:t>thử</a:t>
            </a:r>
            <a:r>
              <a:rPr lang="en-US" dirty="0"/>
              <a:t> </a:t>
            </a:r>
            <a:r>
              <a:rPr lang="en-US" dirty="0" err="1"/>
              <a:t>nghiệm</a:t>
            </a:r>
            <a:r>
              <a:rPr lang="en-US" dirty="0"/>
              <a:t> </a:t>
            </a:r>
            <a:r>
              <a:rPr lang="en-US" dirty="0" err="1"/>
              <a:t>trực</a:t>
            </a:r>
            <a:r>
              <a:rPr lang="en-US" dirty="0"/>
              <a:t> </a:t>
            </a:r>
            <a:r>
              <a:rPr lang="en-US" dirty="0" err="1"/>
              <a:t>tiếp</a:t>
            </a:r>
            <a:r>
              <a:rPr lang="en-US" dirty="0"/>
              <a:t> </a:t>
            </a:r>
            <a:r>
              <a:rPr lang="en-US" dirty="0" err="1"/>
              <a:t>các</a:t>
            </a:r>
            <a:r>
              <a:rPr lang="en-US" dirty="0"/>
              <a:t> endpoint </a:t>
            </a:r>
            <a:r>
              <a:rPr lang="en-US" dirty="0" err="1"/>
              <a:t>và</a:t>
            </a:r>
            <a:r>
              <a:rPr lang="en-US" dirty="0"/>
              <a:t> </a:t>
            </a:r>
            <a:r>
              <a:rPr lang="en-US" dirty="0" err="1"/>
              <a:t>hỗ</a:t>
            </a:r>
            <a:r>
              <a:rPr lang="en-US" dirty="0"/>
              <a:t> </a:t>
            </a:r>
            <a:r>
              <a:rPr lang="en-US" dirty="0" err="1"/>
              <a:t>trợ</a:t>
            </a:r>
            <a:r>
              <a:rPr lang="en-US" dirty="0"/>
              <a:t> </a:t>
            </a:r>
            <a:r>
              <a:rPr lang="en-US" dirty="0" err="1"/>
              <a:t>phối</a:t>
            </a:r>
            <a:r>
              <a:rPr lang="en-US" dirty="0"/>
              <a:t> </a:t>
            </a:r>
            <a:r>
              <a:rPr lang="en-US" dirty="0" err="1"/>
              <a:t>hợp</a:t>
            </a:r>
            <a:r>
              <a:rPr lang="en-US" dirty="0"/>
              <a:t> </a:t>
            </a:r>
            <a:r>
              <a:rPr lang="en-US" dirty="0" err="1"/>
              <a:t>giữa</a:t>
            </a:r>
            <a:r>
              <a:rPr lang="en-US" dirty="0"/>
              <a:t> Frontend </a:t>
            </a:r>
            <a:r>
              <a:rPr lang="en-US" dirty="0" err="1"/>
              <a:t>và</a:t>
            </a:r>
            <a:r>
              <a:rPr lang="en-US" dirty="0"/>
              <a:t> Backend.</a:t>
            </a:r>
          </a:p>
          <a:p>
            <a:r>
              <a:rPr lang="en-US" dirty="0" err="1"/>
              <a:t>Tiếp</a:t>
            </a:r>
            <a:r>
              <a:rPr lang="en-US" dirty="0"/>
              <a:t> </a:t>
            </a:r>
            <a:r>
              <a:rPr lang="en-US" dirty="0" err="1"/>
              <a:t>theo</a:t>
            </a:r>
            <a:r>
              <a:rPr lang="en-US" dirty="0"/>
              <a:t> </a:t>
            </a:r>
            <a:r>
              <a:rPr lang="en-US" dirty="0" err="1"/>
              <a:t>là</a:t>
            </a:r>
            <a:r>
              <a:rPr lang="en-US" dirty="0"/>
              <a:t> </a:t>
            </a:r>
            <a:r>
              <a:rPr lang="en-US" b="1" dirty="0"/>
              <a:t>Docker</a:t>
            </a:r>
            <a:r>
              <a:rPr lang="en-US" dirty="0"/>
              <a:t>.</a:t>
            </a:r>
          </a:p>
          <a:p>
            <a:r>
              <a:rPr lang="en-US" dirty="0"/>
              <a:t>Docker </a:t>
            </a:r>
            <a:r>
              <a:rPr lang="en-US" dirty="0" err="1"/>
              <a:t>giúp</a:t>
            </a:r>
            <a:r>
              <a:rPr lang="en-US" dirty="0"/>
              <a:t> </a:t>
            </a:r>
            <a:r>
              <a:rPr lang="en-US" dirty="0" err="1"/>
              <a:t>đóng</a:t>
            </a:r>
            <a:r>
              <a:rPr lang="en-US" dirty="0"/>
              <a:t> </a:t>
            </a:r>
            <a:r>
              <a:rPr lang="en-US" dirty="0" err="1"/>
              <a:t>gói</a:t>
            </a:r>
            <a:r>
              <a:rPr lang="en-US" dirty="0"/>
              <a:t> </a:t>
            </a:r>
            <a:r>
              <a:rPr lang="en-US" dirty="0" err="1"/>
              <a:t>ứng</a:t>
            </a:r>
            <a:r>
              <a:rPr lang="en-US" dirty="0"/>
              <a:t> </a:t>
            </a:r>
            <a:r>
              <a:rPr lang="en-US" dirty="0" err="1"/>
              <a:t>dụng</a:t>
            </a:r>
            <a:r>
              <a:rPr lang="en-US" dirty="0"/>
              <a:t> </a:t>
            </a:r>
            <a:r>
              <a:rPr lang="en-US" dirty="0" err="1"/>
              <a:t>cùng</a:t>
            </a:r>
            <a:r>
              <a:rPr lang="en-US" dirty="0"/>
              <a:t> </a:t>
            </a:r>
            <a:r>
              <a:rPr lang="en-US" dirty="0" err="1"/>
              <a:t>các</a:t>
            </a:r>
            <a:r>
              <a:rPr lang="en-US" dirty="0"/>
              <a:t> dependency </a:t>
            </a:r>
            <a:r>
              <a:rPr lang="en-US" dirty="0" err="1"/>
              <a:t>vào</a:t>
            </a:r>
            <a:r>
              <a:rPr lang="en-US" dirty="0"/>
              <a:t> container, </a:t>
            </a:r>
            <a:r>
              <a:rPr lang="en-US" dirty="0" err="1"/>
              <a:t>từ</a:t>
            </a:r>
            <a:r>
              <a:rPr lang="en-US" dirty="0"/>
              <a:t> </a:t>
            </a:r>
            <a:r>
              <a:rPr lang="en-US" dirty="0" err="1"/>
              <a:t>đó</a:t>
            </a:r>
            <a:r>
              <a:rPr lang="en-US" dirty="0"/>
              <a:t> </a:t>
            </a:r>
            <a:r>
              <a:rPr lang="en-US" dirty="0" err="1"/>
              <a:t>đảm</a:t>
            </a:r>
            <a:r>
              <a:rPr lang="en-US" dirty="0"/>
              <a:t> </a:t>
            </a:r>
            <a:r>
              <a:rPr lang="en-US" dirty="0" err="1"/>
              <a:t>bảo</a:t>
            </a:r>
            <a:r>
              <a:rPr lang="en-US" dirty="0"/>
              <a:t> </a:t>
            </a:r>
            <a:r>
              <a:rPr lang="en-US" dirty="0" err="1"/>
              <a:t>môi</a:t>
            </a:r>
            <a:r>
              <a:rPr lang="en-US" dirty="0"/>
              <a:t> </a:t>
            </a:r>
            <a:r>
              <a:rPr lang="en-US" dirty="0" err="1"/>
              <a:t>trường</a:t>
            </a:r>
            <a:r>
              <a:rPr lang="en-US" dirty="0"/>
              <a:t> </a:t>
            </a:r>
            <a:r>
              <a:rPr lang="en-US" dirty="0" err="1"/>
              <a:t>chạy</a:t>
            </a:r>
            <a:r>
              <a:rPr lang="en-US" dirty="0"/>
              <a:t> </a:t>
            </a:r>
            <a:r>
              <a:rPr lang="en-US" dirty="0" err="1"/>
              <a:t>nhất</a:t>
            </a:r>
            <a:r>
              <a:rPr lang="en-US" dirty="0"/>
              <a:t> </a:t>
            </a:r>
            <a:r>
              <a:rPr lang="en-US" dirty="0" err="1"/>
              <a:t>quán</a:t>
            </a:r>
            <a:r>
              <a:rPr lang="en-US" dirty="0"/>
              <a:t> </a:t>
            </a:r>
            <a:r>
              <a:rPr lang="en-US" dirty="0" err="1"/>
              <a:t>trên</a:t>
            </a:r>
            <a:r>
              <a:rPr lang="en-US" dirty="0"/>
              <a:t> </a:t>
            </a:r>
            <a:r>
              <a:rPr lang="en-US" dirty="0" err="1"/>
              <a:t>các</a:t>
            </a:r>
            <a:r>
              <a:rPr lang="en-US" dirty="0"/>
              <a:t> </a:t>
            </a:r>
            <a:r>
              <a:rPr lang="en-US" dirty="0" err="1"/>
              <a:t>máy</a:t>
            </a:r>
            <a:r>
              <a:rPr lang="en-US" dirty="0"/>
              <a:t> </a:t>
            </a:r>
            <a:r>
              <a:rPr lang="en-US" dirty="0" err="1"/>
              <a:t>khác</a:t>
            </a:r>
            <a:r>
              <a:rPr lang="en-US" dirty="0"/>
              <a:t> </a:t>
            </a:r>
            <a:r>
              <a:rPr lang="en-US" dirty="0" err="1"/>
              <a:t>nhau</a:t>
            </a:r>
            <a:r>
              <a:rPr lang="en-US" dirty="0"/>
              <a:t>.</a:t>
            </a:r>
          </a:p>
          <a:p>
            <a:r>
              <a:rPr lang="en-US" dirty="0" err="1"/>
              <a:t>Nhờ</a:t>
            </a:r>
            <a:r>
              <a:rPr lang="en-US" dirty="0"/>
              <a:t> </a:t>
            </a:r>
            <a:r>
              <a:rPr lang="en-US" dirty="0" err="1"/>
              <a:t>đó</a:t>
            </a:r>
            <a:r>
              <a:rPr lang="en-US" dirty="0"/>
              <a:t>, </a:t>
            </a:r>
            <a:r>
              <a:rPr lang="en-US" dirty="0" err="1"/>
              <a:t>quá</a:t>
            </a:r>
            <a:r>
              <a:rPr lang="en-US" dirty="0"/>
              <a:t> </a:t>
            </a:r>
            <a:r>
              <a:rPr lang="en-US" dirty="0" err="1"/>
              <a:t>trình</a:t>
            </a:r>
            <a:r>
              <a:rPr lang="en-US" dirty="0"/>
              <a:t> </a:t>
            </a:r>
            <a:r>
              <a:rPr lang="en-US" dirty="0" err="1"/>
              <a:t>triển</a:t>
            </a:r>
            <a:r>
              <a:rPr lang="en-US" dirty="0"/>
              <a:t> </a:t>
            </a:r>
            <a:r>
              <a:rPr lang="en-US" dirty="0" err="1"/>
              <a:t>khai</a:t>
            </a:r>
            <a:r>
              <a:rPr lang="en-US" dirty="0"/>
              <a:t> </a:t>
            </a:r>
            <a:r>
              <a:rPr lang="en-US" dirty="0" err="1"/>
              <a:t>ứng</a:t>
            </a:r>
            <a:r>
              <a:rPr lang="en-US" dirty="0"/>
              <a:t> </a:t>
            </a:r>
            <a:r>
              <a:rPr lang="en-US" dirty="0" err="1"/>
              <a:t>dụng</a:t>
            </a:r>
            <a:r>
              <a:rPr lang="en-US" dirty="0"/>
              <a:t> </a:t>
            </a:r>
            <a:r>
              <a:rPr lang="en-US" dirty="0" err="1"/>
              <a:t>sẽ</a:t>
            </a:r>
            <a:r>
              <a:rPr lang="en-US" dirty="0"/>
              <a:t> </a:t>
            </a:r>
            <a:r>
              <a:rPr lang="en-US" dirty="0" err="1"/>
              <a:t>nhanh</a:t>
            </a:r>
            <a:r>
              <a:rPr lang="en-US" dirty="0"/>
              <a:t> </a:t>
            </a:r>
            <a:r>
              <a:rPr lang="en-US" dirty="0" err="1"/>
              <a:t>chóng</a:t>
            </a:r>
            <a:r>
              <a:rPr lang="en-US" dirty="0"/>
              <a:t> </a:t>
            </a:r>
            <a:r>
              <a:rPr lang="en-US" dirty="0" err="1"/>
              <a:t>và</a:t>
            </a:r>
            <a:r>
              <a:rPr lang="en-US" dirty="0"/>
              <a:t> </a:t>
            </a:r>
            <a:r>
              <a:rPr lang="en-US" dirty="0" err="1"/>
              <a:t>dễ</a:t>
            </a:r>
            <a:r>
              <a:rPr lang="en-US" dirty="0"/>
              <a:t> </a:t>
            </a:r>
            <a:r>
              <a:rPr lang="en-US" dirty="0" err="1"/>
              <a:t>mở</a:t>
            </a:r>
            <a:r>
              <a:rPr lang="en-US" dirty="0"/>
              <a:t> </a:t>
            </a:r>
            <a:r>
              <a:rPr lang="en-US" dirty="0" err="1"/>
              <a:t>rộng</a:t>
            </a:r>
            <a:r>
              <a:rPr lang="en-US" dirty="0"/>
              <a:t> </a:t>
            </a:r>
            <a:r>
              <a:rPr lang="en-US" dirty="0" err="1"/>
              <a:t>hơn</a:t>
            </a:r>
            <a:r>
              <a:rPr lang="en-US" dirty="0"/>
              <a:t>.</a:t>
            </a:r>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14</a:t>
            </a:fld>
            <a:endParaRPr lang="en-US"/>
          </a:p>
        </p:txBody>
      </p:sp>
    </p:spTree>
    <p:extLst>
      <p:ext uri="{BB962C8B-B14F-4D97-AF65-F5344CB8AC3E}">
        <p14:creationId xmlns:p14="http://schemas.microsoft.com/office/powerpoint/2010/main" val="2760382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Cuối</a:t>
            </a:r>
            <a:r>
              <a:rPr lang="en-US" dirty="0"/>
              <a:t> </a:t>
            </a:r>
            <a:r>
              <a:rPr lang="en-US" dirty="0" err="1"/>
              <a:t>cùng</a:t>
            </a:r>
            <a:r>
              <a:rPr lang="en-US" dirty="0"/>
              <a:t> </a:t>
            </a:r>
            <a:r>
              <a:rPr lang="en-US" dirty="0" err="1"/>
              <a:t>là</a:t>
            </a:r>
            <a:r>
              <a:rPr lang="en-US" dirty="0"/>
              <a:t> </a:t>
            </a:r>
            <a:r>
              <a:rPr lang="en-US" b="1" dirty="0" err="1"/>
              <a:t>kết</a:t>
            </a:r>
            <a:r>
              <a:rPr lang="en-US" b="1" dirty="0"/>
              <a:t> </a:t>
            </a:r>
            <a:r>
              <a:rPr lang="en-US" b="1" dirty="0" err="1"/>
              <a:t>luận</a:t>
            </a:r>
            <a:r>
              <a:rPr lang="en-US" b="1" dirty="0"/>
              <a:t> </a:t>
            </a:r>
            <a:r>
              <a:rPr lang="en-US" b="1" dirty="0" err="1"/>
              <a:t>và</a:t>
            </a:r>
            <a:r>
              <a:rPr lang="en-US" b="1" dirty="0"/>
              <a:t> </a:t>
            </a:r>
            <a:r>
              <a:rPr lang="en-US" b="1" dirty="0" err="1"/>
              <a:t>hướng</a:t>
            </a:r>
            <a:r>
              <a:rPr lang="en-US" b="1" dirty="0"/>
              <a:t> </a:t>
            </a:r>
            <a:r>
              <a:rPr lang="en-US" b="1" dirty="0" err="1"/>
              <a:t>phát</a:t>
            </a:r>
            <a:r>
              <a:rPr lang="en-US" b="1" dirty="0"/>
              <a:t> </a:t>
            </a:r>
            <a:r>
              <a:rPr lang="en-US" b="1" dirty="0" err="1"/>
              <a:t>triển</a:t>
            </a:r>
            <a:r>
              <a:rPr lang="en-US" b="1" dirty="0"/>
              <a:t> </a:t>
            </a:r>
            <a:r>
              <a:rPr lang="en-US" b="1" dirty="0" err="1"/>
              <a:t>của</a:t>
            </a:r>
            <a:r>
              <a:rPr lang="en-US" b="1" dirty="0"/>
              <a:t> </a:t>
            </a:r>
            <a:r>
              <a:rPr lang="en-US" b="1" dirty="0" err="1"/>
              <a:t>đề</a:t>
            </a:r>
            <a:r>
              <a:rPr lang="en-US" b="1" dirty="0"/>
              <a:t> </a:t>
            </a:r>
            <a:r>
              <a:rPr lang="en-US" b="1" dirty="0" err="1"/>
              <a:t>tài</a:t>
            </a:r>
            <a:r>
              <a:rPr lang="en-US" dirty="0"/>
              <a:t>.</a:t>
            </a:r>
          </a:p>
          <a:p>
            <a:r>
              <a:rPr lang="en-US" dirty="0"/>
              <a:t>Sau </a:t>
            </a:r>
            <a:r>
              <a:rPr lang="en-US" dirty="0" err="1"/>
              <a:t>quá</a:t>
            </a:r>
            <a:r>
              <a:rPr lang="en-US" dirty="0"/>
              <a:t> </a:t>
            </a:r>
            <a:r>
              <a:rPr lang="en-US" dirty="0" err="1"/>
              <a:t>trình</a:t>
            </a:r>
            <a:r>
              <a:rPr lang="en-US" dirty="0"/>
              <a:t> </a:t>
            </a:r>
            <a:r>
              <a:rPr lang="en-US" dirty="0" err="1"/>
              <a:t>thực</a:t>
            </a:r>
            <a:r>
              <a:rPr lang="en-US" dirty="0"/>
              <a:t> </a:t>
            </a:r>
            <a:r>
              <a:rPr lang="en-US" dirty="0" err="1"/>
              <a:t>hiện</a:t>
            </a:r>
            <a:r>
              <a:rPr lang="en-US" dirty="0"/>
              <a:t>, </a:t>
            </a:r>
            <a:r>
              <a:rPr lang="en-US" dirty="0" err="1"/>
              <a:t>dự</a:t>
            </a:r>
            <a:r>
              <a:rPr lang="en-US" dirty="0"/>
              <a:t> </a:t>
            </a:r>
            <a:r>
              <a:rPr lang="en-US" dirty="0" err="1"/>
              <a:t>án</a:t>
            </a:r>
            <a:r>
              <a:rPr lang="en-US" dirty="0"/>
              <a:t> </a:t>
            </a:r>
            <a:r>
              <a:rPr lang="en-US" dirty="0" err="1"/>
              <a:t>đã</a:t>
            </a:r>
            <a:r>
              <a:rPr lang="en-US" dirty="0"/>
              <a:t> </a:t>
            </a:r>
            <a:r>
              <a:rPr lang="en-US" dirty="0" err="1"/>
              <a:t>hoàn</a:t>
            </a:r>
            <a:r>
              <a:rPr lang="en-US" dirty="0"/>
              <a:t> </a:t>
            </a:r>
            <a:r>
              <a:rPr lang="en-US" dirty="0" err="1"/>
              <a:t>thành</a:t>
            </a:r>
            <a:r>
              <a:rPr lang="en-US" dirty="0"/>
              <a:t> </a:t>
            </a:r>
            <a:r>
              <a:rPr lang="en-US" dirty="0" err="1"/>
              <a:t>các</a:t>
            </a:r>
            <a:r>
              <a:rPr lang="en-US" dirty="0"/>
              <a:t> </a:t>
            </a:r>
            <a:r>
              <a:rPr lang="en-US" dirty="0" err="1"/>
              <a:t>mục</a:t>
            </a:r>
            <a:r>
              <a:rPr lang="en-US" dirty="0"/>
              <a:t> </a:t>
            </a:r>
            <a:r>
              <a:rPr lang="en-US" dirty="0" err="1"/>
              <a:t>tiêu</a:t>
            </a:r>
            <a:r>
              <a:rPr lang="en-US" dirty="0"/>
              <a:t> </a:t>
            </a:r>
            <a:r>
              <a:rPr lang="en-US" dirty="0" err="1"/>
              <a:t>chính</a:t>
            </a:r>
            <a:r>
              <a:rPr lang="en-US" dirty="0"/>
              <a:t> </a:t>
            </a:r>
            <a:r>
              <a:rPr lang="en-US" dirty="0" err="1"/>
              <a:t>là</a:t>
            </a:r>
            <a:r>
              <a:rPr lang="en-US" dirty="0"/>
              <a:t> </a:t>
            </a:r>
            <a:r>
              <a:rPr lang="en-US" dirty="0" err="1"/>
              <a:t>xây</a:t>
            </a:r>
            <a:r>
              <a:rPr lang="en-US" dirty="0"/>
              <a:t> </a:t>
            </a:r>
            <a:r>
              <a:rPr lang="en-US" dirty="0" err="1"/>
              <a:t>dựng</a:t>
            </a:r>
            <a:r>
              <a:rPr lang="en-US" dirty="0"/>
              <a:t> </a:t>
            </a:r>
            <a:r>
              <a:rPr lang="en-US" dirty="0" err="1"/>
              <a:t>một</a:t>
            </a:r>
            <a:r>
              <a:rPr lang="en-US" dirty="0"/>
              <a:t> </a:t>
            </a:r>
            <a:r>
              <a:rPr lang="en-US" dirty="0" err="1"/>
              <a:t>nền</a:t>
            </a:r>
            <a:r>
              <a:rPr lang="en-US" dirty="0"/>
              <a:t> </a:t>
            </a:r>
            <a:r>
              <a:rPr lang="en-US" dirty="0" err="1"/>
              <a:t>tảng</a:t>
            </a:r>
            <a:r>
              <a:rPr lang="en-US" dirty="0"/>
              <a:t> </a:t>
            </a:r>
            <a:r>
              <a:rPr lang="en-US" dirty="0" err="1"/>
              <a:t>quản</a:t>
            </a:r>
            <a:r>
              <a:rPr lang="en-US" dirty="0"/>
              <a:t> </a:t>
            </a:r>
            <a:r>
              <a:rPr lang="en-US" dirty="0" err="1"/>
              <a:t>lý</a:t>
            </a:r>
            <a:r>
              <a:rPr lang="en-US" dirty="0"/>
              <a:t> </a:t>
            </a:r>
            <a:r>
              <a:rPr lang="en-US" dirty="0" err="1"/>
              <a:t>đồ</a:t>
            </a:r>
            <a:r>
              <a:rPr lang="en-US" dirty="0"/>
              <a:t> </a:t>
            </a:r>
            <a:r>
              <a:rPr lang="en-US" dirty="0" err="1"/>
              <a:t>án</a:t>
            </a:r>
            <a:r>
              <a:rPr lang="en-US" dirty="0"/>
              <a:t> </a:t>
            </a:r>
            <a:r>
              <a:rPr lang="en-US" dirty="0" err="1"/>
              <a:t>tập</a:t>
            </a:r>
            <a:r>
              <a:rPr lang="en-US" dirty="0"/>
              <a:t> </a:t>
            </a:r>
            <a:r>
              <a:rPr lang="en-US" dirty="0" err="1"/>
              <a:t>trung</a:t>
            </a:r>
            <a:r>
              <a:rPr lang="en-US" dirty="0"/>
              <a:t> </a:t>
            </a:r>
            <a:r>
              <a:rPr lang="en-US" dirty="0" err="1"/>
              <a:t>dành</a:t>
            </a:r>
            <a:r>
              <a:rPr lang="en-US" dirty="0"/>
              <a:t> </a:t>
            </a:r>
            <a:r>
              <a:rPr lang="en-US" dirty="0" err="1"/>
              <a:t>cho</a:t>
            </a:r>
            <a:r>
              <a:rPr lang="en-US" dirty="0"/>
              <a:t> </a:t>
            </a:r>
            <a:r>
              <a:rPr lang="en-US" dirty="0" err="1"/>
              <a:t>sinh</a:t>
            </a:r>
            <a:r>
              <a:rPr lang="en-US" dirty="0"/>
              <a:t> </a:t>
            </a:r>
            <a:r>
              <a:rPr lang="en-US" dirty="0" err="1"/>
              <a:t>viên</a:t>
            </a:r>
            <a:r>
              <a:rPr lang="en-US" dirty="0"/>
              <a:t> TVU.</a:t>
            </a:r>
          </a:p>
          <a:p>
            <a:r>
              <a:rPr lang="en-US" dirty="0" err="1"/>
              <a:t>Hệ</a:t>
            </a:r>
            <a:r>
              <a:rPr lang="en-US" dirty="0"/>
              <a:t> </a:t>
            </a:r>
            <a:r>
              <a:rPr lang="en-US" dirty="0" err="1"/>
              <a:t>thống</a:t>
            </a:r>
            <a:r>
              <a:rPr lang="en-US" dirty="0"/>
              <a:t> </a:t>
            </a:r>
            <a:r>
              <a:rPr lang="en-US" dirty="0" err="1"/>
              <a:t>giúp</a:t>
            </a:r>
            <a:r>
              <a:rPr lang="en-US" dirty="0"/>
              <a:t> </a:t>
            </a:r>
            <a:r>
              <a:rPr lang="en-US" dirty="0" err="1"/>
              <a:t>tối</a:t>
            </a:r>
            <a:r>
              <a:rPr lang="en-US" dirty="0"/>
              <a:t> </a:t>
            </a:r>
            <a:r>
              <a:rPr lang="en-US" dirty="0" err="1"/>
              <a:t>ưu</a:t>
            </a:r>
            <a:r>
              <a:rPr lang="en-US" dirty="0"/>
              <a:t> </a:t>
            </a:r>
            <a:r>
              <a:rPr lang="en-US" dirty="0" err="1"/>
              <a:t>quy</a:t>
            </a:r>
            <a:r>
              <a:rPr lang="en-US" dirty="0"/>
              <a:t> </a:t>
            </a:r>
            <a:r>
              <a:rPr lang="en-US" dirty="0" err="1"/>
              <a:t>trình</a:t>
            </a:r>
            <a:r>
              <a:rPr lang="en-US" dirty="0"/>
              <a:t> </a:t>
            </a:r>
            <a:r>
              <a:rPr lang="en-US" dirty="0" err="1"/>
              <a:t>từ</a:t>
            </a:r>
            <a:r>
              <a:rPr lang="en-US" dirty="0"/>
              <a:t> </a:t>
            </a:r>
            <a:r>
              <a:rPr lang="en-US" dirty="0" err="1"/>
              <a:t>đăng</a:t>
            </a:r>
            <a:r>
              <a:rPr lang="en-US" dirty="0"/>
              <a:t> </a:t>
            </a:r>
            <a:r>
              <a:rPr lang="en-US" dirty="0" err="1"/>
              <a:t>ký</a:t>
            </a:r>
            <a:r>
              <a:rPr lang="en-US" dirty="0"/>
              <a:t> </a:t>
            </a:r>
            <a:r>
              <a:rPr lang="en-US" dirty="0" err="1"/>
              <a:t>đề</a:t>
            </a:r>
            <a:r>
              <a:rPr lang="en-US" dirty="0"/>
              <a:t> </a:t>
            </a:r>
            <a:r>
              <a:rPr lang="en-US" dirty="0" err="1"/>
              <a:t>tài</a:t>
            </a:r>
            <a:r>
              <a:rPr lang="en-US" dirty="0"/>
              <a:t> </a:t>
            </a:r>
            <a:r>
              <a:rPr lang="en-US" dirty="0" err="1"/>
              <a:t>cho</a:t>
            </a:r>
            <a:r>
              <a:rPr lang="en-US" dirty="0"/>
              <a:t> </a:t>
            </a:r>
            <a:r>
              <a:rPr lang="en-US" dirty="0" err="1"/>
              <a:t>đến</a:t>
            </a:r>
            <a:r>
              <a:rPr lang="en-US" dirty="0"/>
              <a:t> </a:t>
            </a:r>
            <a:r>
              <a:rPr lang="en-US" dirty="0" err="1"/>
              <a:t>nộp</a:t>
            </a:r>
            <a:r>
              <a:rPr lang="en-US" dirty="0"/>
              <a:t> </a:t>
            </a:r>
            <a:r>
              <a:rPr lang="en-US" dirty="0" err="1"/>
              <a:t>bài</a:t>
            </a:r>
            <a:r>
              <a:rPr lang="en-US" dirty="0"/>
              <a:t>, </a:t>
            </a:r>
            <a:r>
              <a:rPr lang="en-US" dirty="0" err="1"/>
              <a:t>đồng</a:t>
            </a:r>
            <a:r>
              <a:rPr lang="en-US" dirty="0"/>
              <a:t> </a:t>
            </a:r>
            <a:r>
              <a:rPr lang="en-US" dirty="0" err="1"/>
              <a:t>thời</a:t>
            </a:r>
            <a:r>
              <a:rPr lang="en-US" dirty="0"/>
              <a:t> </a:t>
            </a:r>
            <a:r>
              <a:rPr lang="en-US" dirty="0" err="1"/>
              <a:t>sử</a:t>
            </a:r>
            <a:r>
              <a:rPr lang="en-US" dirty="0"/>
              <a:t> </a:t>
            </a:r>
            <a:r>
              <a:rPr lang="en-US" dirty="0" err="1"/>
              <a:t>dụng</a:t>
            </a:r>
            <a:r>
              <a:rPr lang="en-US" dirty="0"/>
              <a:t> RESTful API </a:t>
            </a:r>
            <a:r>
              <a:rPr lang="en-US" dirty="0" err="1"/>
              <a:t>và</a:t>
            </a:r>
            <a:r>
              <a:rPr lang="en-US" dirty="0"/>
              <a:t> JWT </a:t>
            </a:r>
            <a:r>
              <a:rPr lang="en-US" dirty="0" err="1"/>
              <a:t>để</a:t>
            </a:r>
            <a:r>
              <a:rPr lang="en-US" dirty="0"/>
              <a:t> </a:t>
            </a:r>
            <a:r>
              <a:rPr lang="en-US" dirty="0" err="1"/>
              <a:t>xây</a:t>
            </a:r>
            <a:r>
              <a:rPr lang="en-US" dirty="0"/>
              <a:t> </a:t>
            </a:r>
            <a:r>
              <a:rPr lang="en-US" dirty="0" err="1"/>
              <a:t>dựng</a:t>
            </a:r>
            <a:r>
              <a:rPr lang="en-US" dirty="0"/>
              <a:t> </a:t>
            </a:r>
            <a:r>
              <a:rPr lang="en-US" dirty="0" err="1"/>
              <a:t>kiến</a:t>
            </a:r>
            <a:r>
              <a:rPr lang="en-US" dirty="0"/>
              <a:t> </a:t>
            </a:r>
            <a:r>
              <a:rPr lang="en-US" dirty="0" err="1"/>
              <a:t>trúc</a:t>
            </a:r>
            <a:r>
              <a:rPr lang="en-US" dirty="0"/>
              <a:t> </a:t>
            </a:r>
            <a:r>
              <a:rPr lang="en-US" dirty="0" err="1"/>
              <a:t>linh</a:t>
            </a:r>
            <a:r>
              <a:rPr lang="en-US" dirty="0"/>
              <a:t> </a:t>
            </a:r>
            <a:r>
              <a:rPr lang="en-US" dirty="0" err="1"/>
              <a:t>hoạt</a:t>
            </a:r>
            <a:r>
              <a:rPr lang="en-US" dirty="0"/>
              <a:t> </a:t>
            </a:r>
            <a:r>
              <a:rPr lang="en-US" dirty="0" err="1"/>
              <a:t>và</a:t>
            </a:r>
            <a:r>
              <a:rPr lang="en-US" dirty="0"/>
              <a:t> </a:t>
            </a:r>
            <a:r>
              <a:rPr lang="en-US" dirty="0" err="1"/>
              <a:t>hỗ</a:t>
            </a:r>
            <a:r>
              <a:rPr lang="en-US" dirty="0"/>
              <a:t> </a:t>
            </a:r>
            <a:r>
              <a:rPr lang="en-US" dirty="0" err="1"/>
              <a:t>trợ</a:t>
            </a:r>
            <a:r>
              <a:rPr lang="en-US" dirty="0"/>
              <a:t> </a:t>
            </a:r>
            <a:r>
              <a:rPr lang="en-US" dirty="0" err="1"/>
              <a:t>bảo</a:t>
            </a:r>
            <a:r>
              <a:rPr lang="en-US" dirty="0"/>
              <a:t> </a:t>
            </a:r>
            <a:r>
              <a:rPr lang="en-US" dirty="0" err="1"/>
              <a:t>mật</a:t>
            </a:r>
            <a:r>
              <a:rPr lang="en-US" dirty="0"/>
              <a:t>.</a:t>
            </a:r>
          </a:p>
          <a:p>
            <a:r>
              <a:rPr lang="en-US" dirty="0"/>
              <a:t>Trong </a:t>
            </a:r>
            <a:r>
              <a:rPr lang="en-US" dirty="0" err="1"/>
              <a:t>tương</a:t>
            </a:r>
            <a:r>
              <a:rPr lang="en-US" dirty="0"/>
              <a:t> lai, </a:t>
            </a:r>
            <a:r>
              <a:rPr lang="en-US" dirty="0" err="1"/>
              <a:t>hệ</a:t>
            </a:r>
            <a:r>
              <a:rPr lang="en-US" dirty="0"/>
              <a:t> </a:t>
            </a:r>
            <a:r>
              <a:rPr lang="en-US" dirty="0" err="1"/>
              <a:t>thống</a:t>
            </a:r>
            <a:r>
              <a:rPr lang="en-US" dirty="0"/>
              <a:t> </a:t>
            </a:r>
            <a:r>
              <a:rPr lang="en-US" dirty="0" err="1"/>
              <a:t>có</a:t>
            </a:r>
            <a:r>
              <a:rPr lang="en-US" dirty="0"/>
              <a:t> </a:t>
            </a:r>
            <a:r>
              <a:rPr lang="en-US" dirty="0" err="1"/>
              <a:t>thể</a:t>
            </a:r>
            <a:r>
              <a:rPr lang="en-US" dirty="0"/>
              <a:t> </a:t>
            </a:r>
            <a:r>
              <a:rPr lang="en-US" dirty="0" err="1"/>
              <a:t>phát</a:t>
            </a:r>
            <a:r>
              <a:rPr lang="en-US" dirty="0"/>
              <a:t> </a:t>
            </a:r>
            <a:r>
              <a:rPr lang="en-US" dirty="0" err="1"/>
              <a:t>triển</a:t>
            </a:r>
            <a:r>
              <a:rPr lang="en-US" dirty="0"/>
              <a:t> </a:t>
            </a:r>
            <a:r>
              <a:rPr lang="en-US" dirty="0" err="1"/>
              <a:t>thêm</a:t>
            </a:r>
            <a:r>
              <a:rPr lang="en-US" dirty="0"/>
              <a:t> </a:t>
            </a:r>
            <a:r>
              <a:rPr lang="en-US" dirty="0" err="1"/>
              <a:t>nhiều</a:t>
            </a:r>
            <a:r>
              <a:rPr lang="en-US" dirty="0"/>
              <a:t> </a:t>
            </a:r>
            <a:r>
              <a:rPr lang="en-US" dirty="0" err="1"/>
              <a:t>tính</a:t>
            </a:r>
            <a:r>
              <a:rPr lang="en-US" dirty="0"/>
              <a:t> </a:t>
            </a:r>
            <a:r>
              <a:rPr lang="en-US" dirty="0" err="1"/>
              <a:t>năng</a:t>
            </a:r>
            <a:r>
              <a:rPr lang="en-US" dirty="0"/>
              <a:t> </a:t>
            </a:r>
            <a:r>
              <a:rPr lang="en-US" dirty="0" err="1"/>
              <a:t>như</a:t>
            </a:r>
            <a:r>
              <a:rPr lang="en-US" dirty="0"/>
              <a:t> </a:t>
            </a:r>
            <a:r>
              <a:rPr lang="en-US" b="1" dirty="0"/>
              <a:t>chat, </a:t>
            </a:r>
            <a:r>
              <a:rPr lang="en-US" b="1" dirty="0" err="1"/>
              <a:t>thông</a:t>
            </a:r>
            <a:r>
              <a:rPr lang="en-US" b="1" dirty="0"/>
              <a:t> </a:t>
            </a:r>
            <a:r>
              <a:rPr lang="en-US" b="1" dirty="0" err="1"/>
              <a:t>báo</a:t>
            </a:r>
            <a:r>
              <a:rPr lang="en-US" b="1" dirty="0"/>
              <a:t> </a:t>
            </a:r>
            <a:r>
              <a:rPr lang="en-US" b="1" dirty="0" err="1"/>
              <a:t>realtime</a:t>
            </a:r>
            <a:r>
              <a:rPr lang="en-US" b="1" dirty="0"/>
              <a:t> </a:t>
            </a:r>
            <a:r>
              <a:rPr lang="en-US" b="1" dirty="0" err="1"/>
              <a:t>và</a:t>
            </a:r>
            <a:r>
              <a:rPr lang="en-US" b="1" dirty="0"/>
              <a:t> chia </a:t>
            </a:r>
            <a:r>
              <a:rPr lang="en-US" b="1" dirty="0" err="1"/>
              <a:t>sẻ</a:t>
            </a:r>
            <a:r>
              <a:rPr lang="en-US" b="1" dirty="0"/>
              <a:t> </a:t>
            </a:r>
            <a:r>
              <a:rPr lang="en-US" b="1" dirty="0" err="1"/>
              <a:t>tài</a:t>
            </a:r>
            <a:r>
              <a:rPr lang="en-US" b="1" dirty="0"/>
              <a:t> </a:t>
            </a:r>
            <a:r>
              <a:rPr lang="en-US" b="1" dirty="0" err="1"/>
              <a:t>liệu</a:t>
            </a:r>
            <a:r>
              <a:rPr lang="en-US" dirty="0"/>
              <a:t>.</a:t>
            </a:r>
          </a:p>
          <a:p>
            <a:r>
              <a:rPr lang="en-US" dirty="0" err="1"/>
              <a:t>Ngoài</a:t>
            </a:r>
            <a:r>
              <a:rPr lang="en-US" dirty="0"/>
              <a:t> </a:t>
            </a:r>
            <a:r>
              <a:rPr lang="en-US" dirty="0" err="1"/>
              <a:t>ra</a:t>
            </a:r>
            <a:r>
              <a:rPr lang="en-US" dirty="0"/>
              <a:t>, </a:t>
            </a:r>
            <a:r>
              <a:rPr lang="en-US" dirty="0" err="1"/>
              <a:t>có</a:t>
            </a:r>
            <a:r>
              <a:rPr lang="en-US" dirty="0"/>
              <a:t> </a:t>
            </a:r>
            <a:r>
              <a:rPr lang="en-US" dirty="0" err="1"/>
              <a:t>thể</a:t>
            </a:r>
            <a:r>
              <a:rPr lang="en-US" dirty="0"/>
              <a:t> </a:t>
            </a:r>
            <a:r>
              <a:rPr lang="en-US" dirty="0" err="1"/>
              <a:t>tích</a:t>
            </a:r>
            <a:r>
              <a:rPr lang="en-US" dirty="0"/>
              <a:t> </a:t>
            </a:r>
            <a:r>
              <a:rPr lang="en-US" dirty="0" err="1"/>
              <a:t>hợp</a:t>
            </a:r>
            <a:r>
              <a:rPr lang="en-US" dirty="0"/>
              <a:t> </a:t>
            </a:r>
            <a:r>
              <a:rPr lang="en-US" dirty="0" err="1"/>
              <a:t>với</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hiện</a:t>
            </a:r>
            <a:r>
              <a:rPr lang="en-US" dirty="0"/>
              <a:t> </a:t>
            </a:r>
            <a:r>
              <a:rPr lang="en-US" dirty="0" err="1"/>
              <a:t>có</a:t>
            </a:r>
            <a:r>
              <a:rPr lang="en-US" dirty="0"/>
              <a:t> </a:t>
            </a:r>
            <a:r>
              <a:rPr lang="en-US" dirty="0" err="1"/>
              <a:t>của</a:t>
            </a:r>
            <a:r>
              <a:rPr lang="en-US" dirty="0"/>
              <a:t> </a:t>
            </a:r>
            <a:r>
              <a:rPr lang="en-US" dirty="0" err="1"/>
              <a:t>trường</a:t>
            </a:r>
            <a:r>
              <a:rPr lang="en-US" dirty="0"/>
              <a:t> </a:t>
            </a:r>
            <a:r>
              <a:rPr lang="en-US" dirty="0" err="1"/>
              <a:t>như</a:t>
            </a:r>
            <a:r>
              <a:rPr lang="en-US" dirty="0"/>
              <a:t> </a:t>
            </a:r>
            <a:r>
              <a:rPr lang="en-US" b="1" dirty="0"/>
              <a:t>SIS </a:t>
            </a:r>
            <a:r>
              <a:rPr lang="en-US" b="1" dirty="0" err="1"/>
              <a:t>và</a:t>
            </a:r>
            <a:r>
              <a:rPr lang="en-US" b="1" dirty="0"/>
              <a:t> e-learning</a:t>
            </a:r>
            <a:r>
              <a:rPr lang="en-US" dirty="0"/>
              <a:t>.</a:t>
            </a:r>
          </a:p>
          <a:p>
            <a:r>
              <a:rPr lang="en-US" dirty="0" err="1"/>
              <a:t>Một</a:t>
            </a:r>
            <a:r>
              <a:rPr lang="en-US" dirty="0"/>
              <a:t> </a:t>
            </a:r>
            <a:r>
              <a:rPr lang="en-US" dirty="0" err="1"/>
              <a:t>hướng</a:t>
            </a:r>
            <a:r>
              <a:rPr lang="en-US" dirty="0"/>
              <a:t> </a:t>
            </a:r>
            <a:r>
              <a:rPr lang="en-US" dirty="0" err="1"/>
              <a:t>phát</a:t>
            </a:r>
            <a:r>
              <a:rPr lang="en-US" dirty="0"/>
              <a:t> </a:t>
            </a:r>
            <a:r>
              <a:rPr lang="en-US" dirty="0" err="1"/>
              <a:t>triển</a:t>
            </a:r>
            <a:r>
              <a:rPr lang="en-US" dirty="0"/>
              <a:t> </a:t>
            </a:r>
            <a:r>
              <a:rPr lang="en-US" dirty="0" err="1"/>
              <a:t>khác</a:t>
            </a:r>
            <a:r>
              <a:rPr lang="en-US" dirty="0"/>
              <a:t> </a:t>
            </a:r>
            <a:r>
              <a:rPr lang="en-US" dirty="0" err="1"/>
              <a:t>là</a:t>
            </a:r>
            <a:r>
              <a:rPr lang="en-US" dirty="0"/>
              <a:t> </a:t>
            </a:r>
            <a:r>
              <a:rPr lang="en-US" dirty="0" err="1"/>
              <a:t>xây</a:t>
            </a:r>
            <a:r>
              <a:rPr lang="en-US" dirty="0"/>
              <a:t> </a:t>
            </a:r>
            <a:r>
              <a:rPr lang="en-US" dirty="0" err="1"/>
              <a:t>dựng</a:t>
            </a:r>
            <a:r>
              <a:rPr lang="en-US" dirty="0"/>
              <a:t> </a:t>
            </a:r>
            <a:r>
              <a:rPr lang="en-US" b="1" dirty="0" err="1"/>
              <a:t>ứng</a:t>
            </a:r>
            <a:r>
              <a:rPr lang="en-US" b="1" dirty="0"/>
              <a:t> </a:t>
            </a:r>
            <a:r>
              <a:rPr lang="en-US" b="1" dirty="0" err="1"/>
              <a:t>dụng</a:t>
            </a:r>
            <a:r>
              <a:rPr lang="en-US" b="1" dirty="0"/>
              <a:t> di </a:t>
            </a:r>
            <a:r>
              <a:rPr lang="en-US" b="1" dirty="0" err="1"/>
              <a:t>động</a:t>
            </a:r>
            <a:r>
              <a:rPr lang="en-US" dirty="0"/>
              <a:t>, </a:t>
            </a:r>
            <a:r>
              <a:rPr lang="en-US" dirty="0" err="1"/>
              <a:t>giúp</a:t>
            </a:r>
            <a:r>
              <a:rPr lang="en-US" dirty="0"/>
              <a:t> </a:t>
            </a:r>
            <a:r>
              <a:rPr lang="en-US" dirty="0" err="1"/>
              <a:t>sinh</a:t>
            </a:r>
            <a:r>
              <a:rPr lang="en-US" dirty="0"/>
              <a:t> </a:t>
            </a:r>
            <a:r>
              <a:rPr lang="en-US" dirty="0" err="1"/>
              <a:t>viên</a:t>
            </a:r>
            <a:r>
              <a:rPr lang="en-US" dirty="0"/>
              <a:t> </a:t>
            </a:r>
            <a:r>
              <a:rPr lang="en-US" dirty="0" err="1"/>
              <a:t>và</a:t>
            </a:r>
            <a:r>
              <a:rPr lang="en-US" dirty="0"/>
              <a:t> </a:t>
            </a:r>
            <a:r>
              <a:rPr lang="en-US" dirty="0" err="1"/>
              <a:t>giảng</a:t>
            </a:r>
            <a:r>
              <a:rPr lang="en-US" dirty="0"/>
              <a:t> </a:t>
            </a:r>
            <a:r>
              <a:rPr lang="en-US" dirty="0" err="1"/>
              <a:t>viên</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hệ</a:t>
            </a:r>
            <a:r>
              <a:rPr lang="en-US" dirty="0"/>
              <a:t> </a:t>
            </a:r>
            <a:r>
              <a:rPr lang="en-US" dirty="0" err="1"/>
              <a:t>thống</a:t>
            </a:r>
            <a:r>
              <a:rPr lang="en-US" dirty="0"/>
              <a:t> </a:t>
            </a:r>
            <a:r>
              <a:rPr lang="en-US" dirty="0" err="1"/>
              <a:t>mọi</a:t>
            </a:r>
            <a:r>
              <a:rPr lang="en-US" dirty="0"/>
              <a:t> </a:t>
            </a:r>
            <a:r>
              <a:rPr lang="en-US" dirty="0" err="1"/>
              <a:t>lúc</a:t>
            </a:r>
            <a:r>
              <a:rPr lang="en-US" dirty="0"/>
              <a:t>, </a:t>
            </a:r>
            <a:r>
              <a:rPr lang="en-US" dirty="0" err="1"/>
              <a:t>mọi</a:t>
            </a:r>
            <a:r>
              <a:rPr lang="en-US" dirty="0"/>
              <a:t> </a:t>
            </a:r>
            <a:r>
              <a:rPr lang="en-US" dirty="0" err="1"/>
              <a:t>nơi</a:t>
            </a:r>
            <a:r>
              <a:rPr lang="en-US" dirty="0"/>
              <a:t>.</a:t>
            </a:r>
          </a:p>
          <a:p>
            <a:r>
              <a:rPr lang="en-US" b="1" dirty="0" err="1"/>
              <a:t>Trên</a:t>
            </a:r>
            <a:r>
              <a:rPr lang="en-US" b="1" dirty="0"/>
              <a:t> </a:t>
            </a:r>
            <a:r>
              <a:rPr lang="en-US" b="1" dirty="0" err="1"/>
              <a:t>đây</a:t>
            </a:r>
            <a:r>
              <a:rPr lang="en-US" b="1" dirty="0"/>
              <a:t> </a:t>
            </a:r>
            <a:r>
              <a:rPr lang="en-US" b="1" dirty="0" err="1"/>
              <a:t>là</a:t>
            </a:r>
            <a:r>
              <a:rPr lang="en-US" b="1" dirty="0"/>
              <a:t> </a:t>
            </a:r>
            <a:r>
              <a:rPr lang="en-US" b="1" dirty="0" err="1"/>
              <a:t>phần</a:t>
            </a:r>
            <a:r>
              <a:rPr lang="en-US" b="1" dirty="0"/>
              <a:t> </a:t>
            </a:r>
            <a:r>
              <a:rPr lang="en-US" b="1" dirty="0" err="1"/>
              <a:t>trình</a:t>
            </a:r>
            <a:r>
              <a:rPr lang="en-US" b="1" dirty="0"/>
              <a:t> </a:t>
            </a:r>
            <a:r>
              <a:rPr lang="en-US" b="1" dirty="0" err="1"/>
              <a:t>bày</a:t>
            </a:r>
            <a:r>
              <a:rPr lang="en-US" b="1" dirty="0"/>
              <a:t> </a:t>
            </a:r>
            <a:r>
              <a:rPr lang="en-US" b="1" dirty="0" err="1"/>
              <a:t>của</a:t>
            </a:r>
            <a:r>
              <a:rPr lang="en-US" b="1" dirty="0"/>
              <a:t> </a:t>
            </a:r>
            <a:r>
              <a:rPr lang="en-US" b="1" dirty="0" err="1"/>
              <a:t>em</a:t>
            </a:r>
            <a:r>
              <a:rPr lang="en-US" b="1" dirty="0"/>
              <a:t> </a:t>
            </a:r>
            <a:r>
              <a:rPr lang="en-US" b="1" dirty="0" err="1"/>
              <a:t>về</a:t>
            </a:r>
            <a:r>
              <a:rPr lang="en-US" b="1" dirty="0"/>
              <a:t> </a:t>
            </a:r>
            <a:r>
              <a:rPr lang="en-US" b="1" dirty="0" err="1"/>
              <a:t>đề</a:t>
            </a:r>
            <a:r>
              <a:rPr lang="en-US" b="1" dirty="0"/>
              <a:t> </a:t>
            </a:r>
            <a:r>
              <a:rPr lang="en-US" b="1" dirty="0" err="1"/>
              <a:t>tài</a:t>
            </a:r>
            <a:r>
              <a:rPr lang="en-US" b="1" dirty="0"/>
              <a:t> “</a:t>
            </a:r>
            <a:r>
              <a:rPr lang="en-US" b="1" dirty="0" err="1"/>
              <a:t>Xây</a:t>
            </a:r>
            <a:r>
              <a:rPr lang="en-US" b="1" dirty="0"/>
              <a:t> </a:t>
            </a:r>
            <a:r>
              <a:rPr lang="en-US" b="1" dirty="0" err="1"/>
              <a:t>dựng</a:t>
            </a:r>
            <a:r>
              <a:rPr lang="en-US" b="1" dirty="0"/>
              <a:t> Website Quản Lý </a:t>
            </a:r>
            <a:r>
              <a:rPr lang="en-US" b="1" dirty="0" err="1"/>
              <a:t>Đồ</a:t>
            </a:r>
            <a:r>
              <a:rPr lang="en-US" b="1" dirty="0"/>
              <a:t> </a:t>
            </a:r>
            <a:r>
              <a:rPr lang="en-US" b="1" dirty="0" err="1"/>
              <a:t>Án</a:t>
            </a:r>
            <a:r>
              <a:rPr lang="en-US" b="1" dirty="0"/>
              <a:t> Sinh Viên TVU”.</a:t>
            </a:r>
            <a:endParaRPr lang="en-US" dirty="0"/>
          </a:p>
          <a:p>
            <a:r>
              <a:rPr lang="en-US" b="1" dirty="0"/>
              <a:t>Em </a:t>
            </a:r>
            <a:r>
              <a:rPr lang="en-US" b="1" dirty="0" err="1"/>
              <a:t>xin</a:t>
            </a:r>
            <a:r>
              <a:rPr lang="en-US" b="1" dirty="0"/>
              <a:t> </a:t>
            </a:r>
            <a:r>
              <a:rPr lang="en-US" b="1" dirty="0" err="1"/>
              <a:t>chân</a:t>
            </a:r>
            <a:r>
              <a:rPr lang="en-US" b="1" dirty="0"/>
              <a:t> </a:t>
            </a:r>
            <a:r>
              <a:rPr lang="en-US" b="1" dirty="0" err="1"/>
              <a:t>thành</a:t>
            </a:r>
            <a:r>
              <a:rPr lang="en-US" b="1" dirty="0"/>
              <a:t> </a:t>
            </a:r>
            <a:r>
              <a:rPr lang="en-US" b="1" dirty="0" err="1"/>
              <a:t>cảm</a:t>
            </a:r>
            <a:r>
              <a:rPr lang="en-US" b="1" dirty="0"/>
              <a:t> </a:t>
            </a:r>
            <a:r>
              <a:rPr lang="en-US" b="1" dirty="0" err="1"/>
              <a:t>ơn</a:t>
            </a:r>
            <a:r>
              <a:rPr lang="en-US" b="1" dirty="0"/>
              <a:t> </a:t>
            </a:r>
            <a:r>
              <a:rPr lang="en-US" b="1" dirty="0" err="1"/>
              <a:t>quý</a:t>
            </a:r>
            <a:r>
              <a:rPr lang="en-US" b="1" dirty="0"/>
              <a:t> </a:t>
            </a:r>
            <a:r>
              <a:rPr lang="en-US" b="1" dirty="0" err="1"/>
              <a:t>thầy</a:t>
            </a:r>
            <a:r>
              <a:rPr lang="en-US" b="1" dirty="0"/>
              <a:t> </a:t>
            </a:r>
            <a:r>
              <a:rPr lang="en-US" b="1" dirty="0" err="1"/>
              <a:t>cô</a:t>
            </a:r>
            <a:r>
              <a:rPr lang="en-US" b="1" dirty="0"/>
              <a:t> </a:t>
            </a:r>
            <a:r>
              <a:rPr lang="en-US" b="1" dirty="0" err="1"/>
              <a:t>và</a:t>
            </a:r>
            <a:r>
              <a:rPr lang="en-US" b="1" dirty="0"/>
              <a:t> </a:t>
            </a:r>
            <a:r>
              <a:rPr lang="en-US" b="1" dirty="0" err="1"/>
              <a:t>các</a:t>
            </a:r>
            <a:r>
              <a:rPr lang="en-US" b="1" dirty="0"/>
              <a:t> </a:t>
            </a:r>
            <a:r>
              <a:rPr lang="en-US" b="1" dirty="0" err="1"/>
              <a:t>bạn</a:t>
            </a:r>
            <a:r>
              <a:rPr lang="en-US" b="1" dirty="0"/>
              <a:t> </a:t>
            </a:r>
            <a:r>
              <a:rPr lang="en-US" b="1" dirty="0" err="1"/>
              <a:t>đã</a:t>
            </a:r>
            <a:r>
              <a:rPr lang="en-US" b="1" dirty="0"/>
              <a:t> </a:t>
            </a:r>
            <a:r>
              <a:rPr lang="en-US" b="1" dirty="0" err="1"/>
              <a:t>lắng</a:t>
            </a:r>
            <a:r>
              <a:rPr lang="en-US" b="1" dirty="0"/>
              <a:t> </a:t>
            </a:r>
            <a:r>
              <a:rPr lang="en-US" b="1" dirty="0" err="1"/>
              <a:t>nghe</a:t>
            </a:r>
            <a:r>
              <a:rPr lang="en-US" b="1" dirty="0"/>
              <a:t>. Em </a:t>
            </a:r>
            <a:r>
              <a:rPr lang="en-US" b="1" dirty="0" err="1"/>
              <a:t>rất</a:t>
            </a:r>
            <a:r>
              <a:rPr lang="en-US" b="1" dirty="0"/>
              <a:t> </a:t>
            </a:r>
            <a:r>
              <a:rPr lang="en-US" b="1" dirty="0" err="1"/>
              <a:t>mong</a:t>
            </a:r>
            <a:r>
              <a:rPr lang="en-US" b="1" dirty="0"/>
              <a:t> </a:t>
            </a:r>
            <a:r>
              <a:rPr lang="en-US" b="1" dirty="0" err="1"/>
              <a:t>nhận</a:t>
            </a:r>
            <a:r>
              <a:rPr lang="en-US" b="1" dirty="0"/>
              <a:t> </a:t>
            </a:r>
            <a:r>
              <a:rPr lang="en-US" b="1" dirty="0" err="1"/>
              <a:t>được</a:t>
            </a:r>
            <a:r>
              <a:rPr lang="en-US" b="1" dirty="0"/>
              <a:t> </a:t>
            </a:r>
            <a:r>
              <a:rPr lang="en-US" b="1" dirty="0" err="1"/>
              <a:t>những</a:t>
            </a:r>
            <a:r>
              <a:rPr lang="en-US" b="1" dirty="0"/>
              <a:t> ý </a:t>
            </a:r>
            <a:r>
              <a:rPr lang="en-US" b="1" dirty="0" err="1"/>
              <a:t>kiến</a:t>
            </a:r>
            <a:r>
              <a:rPr lang="en-US" b="1" dirty="0"/>
              <a:t> </a:t>
            </a:r>
            <a:r>
              <a:rPr lang="en-US" b="1" dirty="0" err="1"/>
              <a:t>đóng</a:t>
            </a:r>
            <a:r>
              <a:rPr lang="en-US" b="1" dirty="0"/>
              <a:t> </a:t>
            </a:r>
            <a:r>
              <a:rPr lang="en-US" b="1" dirty="0" err="1"/>
              <a:t>góp</a:t>
            </a:r>
            <a:r>
              <a:rPr lang="en-US" b="1" dirty="0"/>
              <a:t> </a:t>
            </a:r>
            <a:r>
              <a:rPr lang="en-US" b="1" dirty="0" err="1"/>
              <a:t>và</a:t>
            </a:r>
            <a:r>
              <a:rPr lang="en-US" b="1" dirty="0"/>
              <a:t> </a:t>
            </a:r>
            <a:r>
              <a:rPr lang="en-US" b="1" dirty="0" err="1"/>
              <a:t>câu</a:t>
            </a:r>
            <a:r>
              <a:rPr lang="en-US" b="1" dirty="0"/>
              <a:t> </a:t>
            </a:r>
            <a:r>
              <a:rPr lang="en-US" b="1" dirty="0" err="1"/>
              <a:t>hỏi</a:t>
            </a:r>
            <a:r>
              <a:rPr lang="en-US" b="1" dirty="0"/>
              <a:t> </a:t>
            </a:r>
            <a:r>
              <a:rPr lang="en-US" b="1" dirty="0" err="1"/>
              <a:t>từ</a:t>
            </a:r>
            <a:r>
              <a:rPr lang="en-US" b="1" dirty="0"/>
              <a:t> </a:t>
            </a:r>
            <a:r>
              <a:rPr lang="en-US" b="1" dirty="0" err="1"/>
              <a:t>thầy</a:t>
            </a:r>
            <a:r>
              <a:rPr lang="en-US" b="1" dirty="0"/>
              <a:t> </a:t>
            </a:r>
            <a:r>
              <a:rPr lang="en-US" b="1" dirty="0" err="1"/>
              <a:t>cô</a:t>
            </a:r>
            <a:r>
              <a:rPr lang="en-US" b="1" dirty="0"/>
              <a:t>.</a:t>
            </a:r>
            <a:endParaRPr lang="en-US" dirty="0"/>
          </a:p>
          <a:p>
            <a:r>
              <a:rPr lang="en-US" b="1" dirty="0"/>
              <a:t>Em </a:t>
            </a:r>
            <a:r>
              <a:rPr lang="en-US" b="1" dirty="0" err="1"/>
              <a:t>xin</a:t>
            </a:r>
            <a:r>
              <a:rPr lang="en-US" b="1" dirty="0"/>
              <a:t> </a:t>
            </a:r>
            <a:r>
              <a:rPr lang="en-US" b="1" dirty="0" err="1"/>
              <a:t>cảm</a:t>
            </a:r>
            <a:r>
              <a:rPr lang="en-US" b="1" dirty="0"/>
              <a:t> </a:t>
            </a:r>
            <a:r>
              <a:rPr lang="en-US" b="1" dirty="0" err="1"/>
              <a:t>ơn</a:t>
            </a:r>
            <a:r>
              <a:rPr lang="en-US" b="1" dirty="0"/>
              <a:t>!</a:t>
            </a:r>
            <a:endParaRPr lang="en-US" dirty="0"/>
          </a:p>
          <a:p>
            <a:endParaRPr lang="en-US" dirty="0"/>
          </a:p>
        </p:txBody>
      </p:sp>
      <p:sp>
        <p:nvSpPr>
          <p:cNvPr id="4" name="Slide Number Placeholder 3"/>
          <p:cNvSpPr>
            <a:spLocks noGrp="1"/>
          </p:cNvSpPr>
          <p:nvPr>
            <p:ph type="sldNum" sz="quarter" idx="5"/>
          </p:nvPr>
        </p:nvSpPr>
        <p:spPr/>
        <p:txBody>
          <a:bodyPr/>
          <a:lstStyle/>
          <a:p>
            <a:fld id="{540CF78E-49A2-4F57-A466-0FBFF4DA2C4C}" type="slidenum">
              <a:rPr lang="en-US" smtClean="0"/>
              <a:t>15</a:t>
            </a:fld>
            <a:endParaRPr lang="en-US"/>
          </a:p>
        </p:txBody>
      </p:sp>
    </p:spTree>
    <p:extLst>
      <p:ext uri="{BB962C8B-B14F-4D97-AF65-F5344CB8AC3E}">
        <p14:creationId xmlns:p14="http://schemas.microsoft.com/office/powerpoint/2010/main" val="1019082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540CF78E-49A2-4F57-A466-0FBFF4DA2C4C}" type="slidenum">
              <a:rPr lang="en-US" smtClean="0"/>
              <a:t>16</a:t>
            </a:fld>
            <a:endParaRPr lang="en-US"/>
          </a:p>
        </p:txBody>
      </p:sp>
    </p:spTree>
    <p:extLst>
      <p:ext uri="{BB962C8B-B14F-4D97-AF65-F5344CB8AC3E}">
        <p14:creationId xmlns:p14="http://schemas.microsoft.com/office/powerpoint/2010/main" val="644100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png"/><Relationship Id="rId7"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4.sv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905495" y="1315441"/>
            <a:ext cx="9009410" cy="6082798"/>
            <a:chOff x="0" y="0"/>
            <a:chExt cx="3286657" cy="2219021"/>
          </a:xfrm>
        </p:grpSpPr>
        <p:sp>
          <p:nvSpPr>
            <p:cNvPr id="4" name="Freeform 4"/>
            <p:cNvSpPr/>
            <p:nvPr/>
          </p:nvSpPr>
          <p:spPr>
            <a:xfrm>
              <a:off x="0" y="0"/>
              <a:ext cx="3286657" cy="2219021"/>
            </a:xfrm>
            <a:custGeom>
              <a:avLst/>
              <a:gdLst/>
              <a:ahLst/>
              <a:cxnLst/>
              <a:rect l="l" t="t" r="r" b="b"/>
              <a:pathLst>
                <a:path w="3286657" h="2219021">
                  <a:moveTo>
                    <a:pt x="0" y="0"/>
                  </a:moveTo>
                  <a:lnTo>
                    <a:pt x="3286657" y="0"/>
                  </a:lnTo>
                  <a:lnTo>
                    <a:pt x="3286657" y="2219021"/>
                  </a:lnTo>
                  <a:lnTo>
                    <a:pt x="0" y="2219021"/>
                  </a:lnTo>
                  <a:close/>
                </a:path>
              </a:pathLst>
            </a:custGeom>
            <a:solidFill>
              <a:srgbClr val="FFFFFF"/>
            </a:solidFill>
            <a:ln>
              <a:noFill/>
            </a:ln>
            <a:effectLst>
              <a:outerShdw blurRad="190500" dist="228600" dir="2700000" algn="ctr">
                <a:srgbClr val="000000">
                  <a:alpha val="30000"/>
                </a:srgbClr>
              </a:outerShdw>
            </a:effectLst>
          </p:spPr>
        </p:sp>
      </p:grpSp>
      <p:sp>
        <p:nvSpPr>
          <p:cNvPr id="5" name="Freeform 5"/>
          <p:cNvSpPr/>
          <p:nvPr/>
        </p:nvSpPr>
        <p:spPr>
          <a:xfrm flipH="1">
            <a:off x="-2156129" y="8872350"/>
            <a:ext cx="6662470" cy="1611106"/>
          </a:xfrm>
          <a:custGeom>
            <a:avLst/>
            <a:gdLst/>
            <a:ahLst/>
            <a:cxnLst/>
            <a:rect l="l" t="t" r="r" b="b"/>
            <a:pathLst>
              <a:path w="6662470" h="1611106">
                <a:moveTo>
                  <a:pt x="6662470" y="0"/>
                </a:moveTo>
                <a:lnTo>
                  <a:pt x="0" y="0"/>
                </a:lnTo>
                <a:lnTo>
                  <a:pt x="0" y="1611107"/>
                </a:lnTo>
                <a:lnTo>
                  <a:pt x="6662470" y="1611107"/>
                </a:lnTo>
                <a:lnTo>
                  <a:pt x="666247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4791434" y="-196457"/>
            <a:ext cx="5652695" cy="1366924"/>
          </a:xfrm>
          <a:custGeom>
            <a:avLst/>
            <a:gdLst/>
            <a:ahLst/>
            <a:cxnLst/>
            <a:rect l="l" t="t" r="r" b="b"/>
            <a:pathLst>
              <a:path w="5652695" h="1366924">
                <a:moveTo>
                  <a:pt x="5652695" y="0"/>
                </a:moveTo>
                <a:lnTo>
                  <a:pt x="0" y="0"/>
                </a:lnTo>
                <a:lnTo>
                  <a:pt x="0" y="1366925"/>
                </a:lnTo>
                <a:lnTo>
                  <a:pt x="5652695" y="1366925"/>
                </a:lnTo>
                <a:lnTo>
                  <a:pt x="5652695"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61150" y="1315441"/>
            <a:ext cx="7087021" cy="7701883"/>
            <a:chOff x="0" y="0"/>
            <a:chExt cx="2585364" cy="2809668"/>
          </a:xfrm>
          <a:scene3d>
            <a:camera prst="orthographicFront">
              <a:rot lat="0" lon="0" rev="0"/>
            </a:camera>
            <a:lightRig rig="glow" dir="t">
              <a:rot lat="0" lon="0" rev="4800000"/>
            </a:lightRig>
          </a:scene3d>
        </p:grpSpPr>
        <p:sp>
          <p:nvSpPr>
            <p:cNvPr id="8" name="Freeform 8"/>
            <p:cNvSpPr/>
            <p:nvPr/>
          </p:nvSpPr>
          <p:spPr>
            <a:xfrm>
              <a:off x="0" y="0"/>
              <a:ext cx="2585364" cy="2809668"/>
            </a:xfrm>
            <a:custGeom>
              <a:avLst/>
              <a:gdLst/>
              <a:ahLst/>
              <a:cxnLst/>
              <a:rect l="l" t="t" r="r" b="b"/>
              <a:pathLst>
                <a:path w="2585364" h="2809668">
                  <a:moveTo>
                    <a:pt x="0" y="0"/>
                  </a:moveTo>
                  <a:lnTo>
                    <a:pt x="2585364" y="0"/>
                  </a:lnTo>
                  <a:lnTo>
                    <a:pt x="2585364" y="2809668"/>
                  </a:lnTo>
                  <a:lnTo>
                    <a:pt x="0" y="280966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4" name="Freeform 14"/>
          <p:cNvSpPr/>
          <p:nvPr/>
        </p:nvSpPr>
        <p:spPr>
          <a:xfrm>
            <a:off x="10692016" y="4401714"/>
            <a:ext cx="6225288" cy="3893634"/>
          </a:xfrm>
          <a:custGeom>
            <a:avLst/>
            <a:gdLst/>
            <a:ahLst/>
            <a:cxnLst/>
            <a:rect l="l" t="t" r="r" b="b"/>
            <a:pathLst>
              <a:path w="6225288" h="3893634">
                <a:moveTo>
                  <a:pt x="0" y="0"/>
                </a:moveTo>
                <a:lnTo>
                  <a:pt x="6225288" y="0"/>
                </a:lnTo>
                <a:lnTo>
                  <a:pt x="6225288" y="3893634"/>
                </a:lnTo>
                <a:lnTo>
                  <a:pt x="0" y="389363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a:off x="16100246" y="3001723"/>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Freeform 16"/>
          <p:cNvSpPr/>
          <p:nvPr/>
        </p:nvSpPr>
        <p:spPr>
          <a:xfrm rot="-203414">
            <a:off x="11173930" y="3499519"/>
            <a:ext cx="321948" cy="461574"/>
          </a:xfrm>
          <a:custGeom>
            <a:avLst/>
            <a:gdLst/>
            <a:ahLst/>
            <a:cxnLst/>
            <a:rect l="l" t="t" r="r" b="b"/>
            <a:pathLst>
              <a:path w="321948" h="461574">
                <a:moveTo>
                  <a:pt x="0" y="0"/>
                </a:moveTo>
                <a:lnTo>
                  <a:pt x="321948" y="0"/>
                </a:lnTo>
                <a:lnTo>
                  <a:pt x="321948" y="461574"/>
                </a:lnTo>
                <a:lnTo>
                  <a:pt x="0" y="461574"/>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17" name="Group 17"/>
          <p:cNvGrpSpPr/>
          <p:nvPr/>
        </p:nvGrpSpPr>
        <p:grpSpPr>
          <a:xfrm>
            <a:off x="943595" y="7790526"/>
            <a:ext cx="3544008" cy="1578444"/>
            <a:chOff x="0" y="0"/>
            <a:chExt cx="4725344" cy="2104593"/>
          </a:xfrm>
          <a:scene3d>
            <a:camera prst="orthographicFront">
              <a:rot lat="0" lon="0" rev="0"/>
            </a:camera>
            <a:lightRig rig="glow" dir="t">
              <a:rot lat="0" lon="0" rev="4800000"/>
            </a:lightRig>
          </a:scene3d>
        </p:grpSpPr>
        <p:grpSp>
          <p:nvGrpSpPr>
            <p:cNvPr id="18" name="Group 18"/>
            <p:cNvGrpSpPr/>
            <p:nvPr/>
          </p:nvGrpSpPr>
          <p:grpSpPr>
            <a:xfrm>
              <a:off x="0" y="0"/>
              <a:ext cx="4725344" cy="1913481"/>
              <a:chOff x="0" y="0"/>
              <a:chExt cx="1292864" cy="523533"/>
            </a:xfrm>
          </p:grpSpPr>
          <p:sp>
            <p:nvSpPr>
              <p:cNvPr id="19" name="Freeform 19"/>
              <p:cNvSpPr/>
              <p:nvPr/>
            </p:nvSpPr>
            <p:spPr>
              <a:xfrm>
                <a:off x="0" y="0"/>
                <a:ext cx="1292864" cy="523533"/>
              </a:xfrm>
              <a:custGeom>
                <a:avLst/>
                <a:gdLst/>
                <a:ahLst/>
                <a:cxnLst/>
                <a:rect l="l" t="t" r="r" b="b"/>
                <a:pathLst>
                  <a:path w="1292864" h="344491">
                    <a:moveTo>
                      <a:pt x="0" y="0"/>
                    </a:moveTo>
                    <a:lnTo>
                      <a:pt x="1292864" y="0"/>
                    </a:lnTo>
                    <a:lnTo>
                      <a:pt x="1292864" y="344491"/>
                    </a:lnTo>
                    <a:lnTo>
                      <a:pt x="0" y="344491"/>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txBody>
              <a:bodyPr/>
              <a:lstStyle/>
              <a:p>
                <a:endParaRPr lang="en-US" dirty="0"/>
              </a:p>
            </p:txBody>
          </p:sp>
        </p:grpSp>
        <p:sp>
          <p:nvSpPr>
            <p:cNvPr id="20" name="Freeform 20"/>
            <p:cNvSpPr/>
            <p:nvPr/>
          </p:nvSpPr>
          <p:spPr>
            <a:xfrm>
              <a:off x="289760" y="84684"/>
              <a:ext cx="988933" cy="1314201"/>
            </a:xfrm>
            <a:custGeom>
              <a:avLst/>
              <a:gdLst/>
              <a:ahLst/>
              <a:cxnLst/>
              <a:rect l="l" t="t" r="r" b="b"/>
              <a:pathLst>
                <a:path w="974589" h="659177">
                  <a:moveTo>
                    <a:pt x="0" y="0"/>
                  </a:moveTo>
                  <a:lnTo>
                    <a:pt x="974589" y="0"/>
                  </a:lnTo>
                  <a:lnTo>
                    <a:pt x="974589" y="659177"/>
                  </a:lnTo>
                  <a:lnTo>
                    <a:pt x="0" y="659177"/>
                  </a:lnTo>
                  <a:lnTo>
                    <a:pt x="0" y="0"/>
                  </a:lnTo>
                  <a:close/>
                </a:path>
              </a:pathLst>
            </a:custGeom>
            <a:blipFill>
              <a:blip>
                <a:extLst>
                  <a:ext uri="{96DAC541-7B7A-43D3-8B79-37D633B846F1}">
                    <asvg:svgBlip xmlns:asvg="http://schemas.microsoft.com/office/drawing/2016/SVG/main" r:embed="rId7"/>
                  </a:ext>
                </a:extLst>
              </a:blip>
              <a:stretch>
                <a:fillRect/>
              </a:stretch>
            </a:blipFill>
            <a:ln>
              <a:noFill/>
            </a:ln>
            <a:effectLst>
              <a:outerShdw blurRad="190500" dist="228600" dir="2700000" algn="ctr">
                <a:srgbClr val="000000">
                  <a:alpha val="30000"/>
                </a:srgbClr>
              </a:outerShdw>
            </a:effectLst>
            <a:sp3d prstMaterial="matte">
              <a:bevelT w="127000" h="63500"/>
            </a:sp3d>
          </p:spPr>
          <p:txBody>
            <a:bodyPr/>
            <a:lstStyle/>
            <a:p>
              <a:endParaRPr lang="en-US" dirty="0"/>
            </a:p>
          </p:txBody>
        </p:sp>
        <p:sp>
          <p:nvSpPr>
            <p:cNvPr id="21" name="TextBox 21"/>
            <p:cNvSpPr txBox="1"/>
            <p:nvPr/>
          </p:nvSpPr>
          <p:spPr>
            <a:xfrm>
              <a:off x="1583848" y="250240"/>
              <a:ext cx="2836341" cy="1854353"/>
            </a:xfrm>
            <a:prstGeom prst="rect">
              <a:avLst/>
            </a:prstGeom>
            <a:ln>
              <a:noFill/>
            </a:ln>
            <a:effectLst>
              <a:outerShdw blurRad="190500" dist="228600" dir="2700000" algn="ctr">
                <a:srgbClr val="000000">
                  <a:alpha val="30000"/>
                </a:srgbClr>
              </a:outerShdw>
            </a:effectLst>
            <a:sp3d prstMaterial="matte">
              <a:bevelT w="127000" h="63500"/>
            </a:sp3d>
          </p:spPr>
          <p:txBody>
            <a:bodyPr lIns="0" tIns="0" rIns="0" bIns="0" rtlCol="0" anchor="t">
              <a:spAutoFit/>
            </a:bodyPr>
            <a:lstStyle/>
            <a:p>
              <a:pPr algn="l">
                <a:lnSpc>
                  <a:spcPts val="2239"/>
                </a:lnSpc>
                <a:spcBef>
                  <a:spcPct val="0"/>
                </a:spcBef>
              </a:pPr>
              <a:r>
                <a:rPr lang="en-US" sz="1599" dirty="0">
                  <a:solidFill>
                    <a:srgbClr val="000000"/>
                  </a:solidFill>
                  <a:latin typeface="Cabin"/>
                  <a:ea typeface="Cabin"/>
                  <a:cs typeface="Cabin"/>
                  <a:sym typeface="Cabin"/>
                </a:rPr>
                <a:t>S</a:t>
              </a:r>
              <a:r>
                <a:rPr lang="en-US" sz="1599" b="1" dirty="0">
                  <a:solidFill>
                    <a:srgbClr val="000000"/>
                  </a:solidFill>
                  <a:latin typeface="Cabin Bold"/>
                  <a:ea typeface="Cabin Bold"/>
                  <a:cs typeface="Cabin Bold"/>
                  <a:sym typeface="Cabin Bold"/>
                </a:rPr>
                <a:t>inh </a:t>
              </a:r>
              <a:r>
                <a:rPr lang="en-US" sz="1599" b="1" dirty="0" err="1">
                  <a:solidFill>
                    <a:srgbClr val="000000"/>
                  </a:solidFill>
                  <a:latin typeface="Cabin Bold"/>
                  <a:ea typeface="Cabin Bold"/>
                  <a:cs typeface="Cabin Bold"/>
                  <a:sym typeface="Cabin Bold"/>
                </a:rPr>
                <a:t>viên</a:t>
              </a:r>
              <a:r>
                <a:rPr lang="en-US" sz="1599" b="1" dirty="0">
                  <a:solidFill>
                    <a:srgbClr val="000000"/>
                  </a:solidFill>
                  <a:latin typeface="Cabin Bold"/>
                  <a:ea typeface="Cabin Bold"/>
                  <a:cs typeface="Cabin Bold"/>
                  <a:sym typeface="Cabin Bold"/>
                </a:rPr>
                <a:t> </a:t>
              </a:r>
              <a:r>
                <a:rPr lang="en-US" sz="1599" b="1" dirty="0" err="1">
                  <a:solidFill>
                    <a:srgbClr val="000000"/>
                  </a:solidFill>
                  <a:latin typeface="Cabin Bold"/>
                  <a:ea typeface="Cabin Bold"/>
                  <a:cs typeface="Cabin Bold"/>
                  <a:sym typeface="Cabin Bold"/>
                </a:rPr>
                <a:t>thực</a:t>
              </a:r>
              <a:r>
                <a:rPr lang="en-US" sz="1599" b="1" dirty="0">
                  <a:solidFill>
                    <a:srgbClr val="000000"/>
                  </a:solidFill>
                  <a:latin typeface="Cabin Bold"/>
                  <a:ea typeface="Cabin Bold"/>
                  <a:cs typeface="Cabin Bold"/>
                  <a:sym typeface="Cabin Bold"/>
                </a:rPr>
                <a:t> </a:t>
              </a:r>
              <a:r>
                <a:rPr lang="en-US" sz="1599" b="1" dirty="0" err="1">
                  <a:solidFill>
                    <a:srgbClr val="000000"/>
                  </a:solidFill>
                  <a:latin typeface="Cabin Bold"/>
                  <a:ea typeface="Cabin Bold"/>
                  <a:cs typeface="Cabin Bold"/>
                  <a:sym typeface="Cabin Bold"/>
                </a:rPr>
                <a:t>hiện</a:t>
              </a:r>
              <a:r>
                <a:rPr lang="en-US" sz="1599" b="1" dirty="0">
                  <a:solidFill>
                    <a:srgbClr val="000000"/>
                  </a:solidFill>
                  <a:latin typeface="Cabin Bold"/>
                  <a:ea typeface="Cabin Bold"/>
                  <a:cs typeface="Cabin Bold"/>
                  <a:sym typeface="Cabin Bold"/>
                </a:rPr>
                <a:t>:</a:t>
              </a:r>
              <a:r>
                <a:rPr lang="en-US" sz="1599" dirty="0">
                  <a:solidFill>
                    <a:srgbClr val="000000"/>
                  </a:solidFill>
                  <a:latin typeface="Cabin"/>
                  <a:ea typeface="Cabin"/>
                  <a:cs typeface="Cabin"/>
                  <a:sym typeface="Cabin"/>
                </a:rPr>
                <a:t> Thạch Thị Ngọc Trâm</a:t>
              </a:r>
              <a:endParaRPr lang="vi-VN" sz="1599" dirty="0">
                <a:solidFill>
                  <a:srgbClr val="000000"/>
                </a:solidFill>
                <a:latin typeface="Cabin"/>
                <a:ea typeface="Cabin"/>
                <a:cs typeface="Cabin"/>
                <a:sym typeface="Cabin"/>
              </a:endParaRPr>
            </a:p>
            <a:p>
              <a:pPr algn="l">
                <a:lnSpc>
                  <a:spcPts val="2239"/>
                </a:lnSpc>
                <a:spcBef>
                  <a:spcPct val="0"/>
                </a:spcBef>
              </a:pPr>
              <a:r>
                <a:rPr lang="vi-VN" sz="1599" dirty="0">
                  <a:solidFill>
                    <a:srgbClr val="000000"/>
                  </a:solidFill>
                  <a:latin typeface="Cabin"/>
                  <a:ea typeface="Cabin"/>
                  <a:cs typeface="Cabin"/>
                  <a:sym typeface="Cabin"/>
                </a:rPr>
                <a:t>Phan Hoàng Dinh</a:t>
              </a:r>
            </a:p>
            <a:p>
              <a:pPr algn="l">
                <a:lnSpc>
                  <a:spcPts val="2239"/>
                </a:lnSpc>
                <a:spcBef>
                  <a:spcPct val="0"/>
                </a:spcBef>
              </a:pPr>
              <a:r>
                <a:rPr lang="vi-VN" sz="1599" dirty="0">
                  <a:solidFill>
                    <a:srgbClr val="000000"/>
                  </a:solidFill>
                  <a:latin typeface="Cabin"/>
                  <a:ea typeface="Cabin"/>
                  <a:cs typeface="Cabin"/>
                  <a:sym typeface="Cabin"/>
                </a:rPr>
                <a:t>Huỳnh Dương Tấn Phát</a:t>
              </a:r>
            </a:p>
            <a:p>
              <a:pPr algn="l">
                <a:lnSpc>
                  <a:spcPts val="2239"/>
                </a:lnSpc>
                <a:spcBef>
                  <a:spcPct val="0"/>
                </a:spcBef>
              </a:pPr>
              <a:endParaRPr lang="en-US" sz="1599" dirty="0">
                <a:solidFill>
                  <a:srgbClr val="000000"/>
                </a:solidFill>
                <a:latin typeface="Cabin"/>
                <a:ea typeface="Cabin"/>
                <a:cs typeface="Cabin"/>
                <a:sym typeface="Cabin"/>
              </a:endParaRPr>
            </a:p>
          </p:txBody>
        </p:sp>
      </p:grpSp>
      <p:sp>
        <p:nvSpPr>
          <p:cNvPr id="22" name="Freeform 22"/>
          <p:cNvSpPr/>
          <p:nvPr/>
        </p:nvSpPr>
        <p:spPr>
          <a:xfrm>
            <a:off x="12690344" y="1991652"/>
            <a:ext cx="2228632" cy="1815322"/>
          </a:xfrm>
          <a:custGeom>
            <a:avLst/>
            <a:gdLst/>
            <a:ahLst/>
            <a:cxnLst/>
            <a:rect l="l" t="t" r="r" b="b"/>
            <a:pathLst>
              <a:path w="2228632" h="1815322">
                <a:moveTo>
                  <a:pt x="0" y="0"/>
                </a:moveTo>
                <a:lnTo>
                  <a:pt x="2228632" y="0"/>
                </a:lnTo>
                <a:lnTo>
                  <a:pt x="2228632" y="1815322"/>
                </a:lnTo>
                <a:lnTo>
                  <a:pt x="0" y="181532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3" name="TextBox 23"/>
          <p:cNvSpPr txBox="1"/>
          <p:nvPr/>
        </p:nvSpPr>
        <p:spPr>
          <a:xfrm>
            <a:off x="657981" y="2451466"/>
            <a:ext cx="9504437" cy="3176960"/>
          </a:xfrm>
          <a:prstGeom prst="rect">
            <a:avLst/>
          </a:prstGeom>
        </p:spPr>
        <p:txBody>
          <a:bodyPr lIns="0" tIns="0" rIns="0" bIns="0" rtlCol="0" anchor="t">
            <a:spAutoFit/>
          </a:bodyPr>
          <a:lstStyle/>
          <a:p>
            <a:pPr algn="ctr">
              <a:lnSpc>
                <a:spcPts val="8399"/>
              </a:lnSpc>
            </a:pPr>
            <a:r>
              <a:rPr lang="en-US" sz="6999" b="1" spc="-104" dirty="0" err="1">
                <a:solidFill>
                  <a:srgbClr val="003EA8"/>
                </a:solidFill>
                <a:latin typeface="Muli Bold"/>
                <a:ea typeface="Muli Bold"/>
                <a:cs typeface="Muli Bold"/>
                <a:sym typeface="Muli Bold"/>
              </a:rPr>
              <a:t>Xây</a:t>
            </a:r>
            <a:r>
              <a:rPr lang="en-US" sz="6999" b="1" spc="-104" dirty="0">
                <a:solidFill>
                  <a:srgbClr val="003EA8"/>
                </a:solidFill>
                <a:latin typeface="Muli Bold"/>
                <a:ea typeface="Muli Bold"/>
                <a:cs typeface="Muli Bold"/>
                <a:sym typeface="Muli Bold"/>
              </a:rPr>
              <a:t> </a:t>
            </a:r>
            <a:r>
              <a:rPr lang="en-US" sz="6999" b="1" spc="-104" dirty="0" err="1">
                <a:solidFill>
                  <a:srgbClr val="003EA8"/>
                </a:solidFill>
                <a:latin typeface="Muli Bold"/>
                <a:ea typeface="Muli Bold"/>
                <a:cs typeface="Muli Bold"/>
                <a:sym typeface="Muli Bold"/>
              </a:rPr>
              <a:t>Dựng</a:t>
            </a:r>
            <a:r>
              <a:rPr lang="en-US" sz="6999" b="1" spc="-104" dirty="0">
                <a:solidFill>
                  <a:srgbClr val="003EA8"/>
                </a:solidFill>
                <a:latin typeface="Muli Bold"/>
                <a:ea typeface="Muli Bold"/>
                <a:cs typeface="Muli Bold"/>
                <a:sym typeface="Muli Bold"/>
              </a:rPr>
              <a:t> Website</a:t>
            </a:r>
            <a:r>
              <a:rPr lang="vi-VN" sz="6999" b="1" spc="-104" dirty="0">
                <a:solidFill>
                  <a:srgbClr val="003EA8"/>
                </a:solidFill>
                <a:latin typeface="Muli Bold"/>
                <a:ea typeface="Muli Bold"/>
                <a:cs typeface="Muli Bold"/>
                <a:sym typeface="Muli Bold"/>
              </a:rPr>
              <a:t> </a:t>
            </a:r>
            <a:r>
              <a:rPr lang="en-US" sz="6999" b="1" spc="-104" dirty="0">
                <a:solidFill>
                  <a:srgbClr val="003EA8"/>
                </a:solidFill>
                <a:latin typeface="Muli Bold"/>
                <a:ea typeface="Muli Bold"/>
                <a:cs typeface="Muli Bold"/>
                <a:sym typeface="Muli Bold"/>
              </a:rPr>
              <a:t>Quản Lý </a:t>
            </a:r>
            <a:r>
              <a:rPr lang="en-US" sz="6999" b="1" spc="-104" dirty="0" err="1">
                <a:solidFill>
                  <a:srgbClr val="003EA8"/>
                </a:solidFill>
                <a:latin typeface="Muli Bold"/>
                <a:ea typeface="Muli Bold"/>
                <a:cs typeface="Muli Bold"/>
                <a:sym typeface="Muli Bold"/>
              </a:rPr>
              <a:t>Đồ</a:t>
            </a:r>
            <a:r>
              <a:rPr lang="en-US" sz="6999" b="1" spc="-104" dirty="0">
                <a:solidFill>
                  <a:srgbClr val="003EA8"/>
                </a:solidFill>
                <a:latin typeface="Muli Bold"/>
                <a:ea typeface="Muli Bold"/>
                <a:cs typeface="Muli Bold"/>
                <a:sym typeface="Muli Bold"/>
              </a:rPr>
              <a:t> </a:t>
            </a:r>
            <a:r>
              <a:rPr lang="en-US" sz="6999" b="1" spc="-104" dirty="0" err="1">
                <a:solidFill>
                  <a:srgbClr val="003EA8"/>
                </a:solidFill>
                <a:latin typeface="Muli Bold"/>
                <a:ea typeface="Muli Bold"/>
                <a:cs typeface="Muli Bold"/>
                <a:sym typeface="Muli Bold"/>
              </a:rPr>
              <a:t>Án</a:t>
            </a:r>
            <a:r>
              <a:rPr lang="en-US" sz="6999" b="1" spc="-104" dirty="0">
                <a:solidFill>
                  <a:srgbClr val="003EA8"/>
                </a:solidFill>
                <a:latin typeface="Muli Bold"/>
                <a:ea typeface="Muli Bold"/>
                <a:cs typeface="Muli Bold"/>
                <a:sym typeface="Muli Bold"/>
              </a:rPr>
              <a:t> </a:t>
            </a:r>
          </a:p>
          <a:p>
            <a:pPr algn="ctr">
              <a:lnSpc>
                <a:spcPts val="8399"/>
              </a:lnSpc>
            </a:pPr>
            <a:r>
              <a:rPr lang="en-US" sz="6999" b="1" spc="-104" dirty="0">
                <a:solidFill>
                  <a:srgbClr val="003EA8"/>
                </a:solidFill>
                <a:latin typeface="Muli Bold"/>
                <a:ea typeface="Muli Bold"/>
                <a:cs typeface="Muli Bold"/>
                <a:sym typeface="Muli Bold"/>
              </a:rPr>
              <a:t>Sinh Viên TVU</a:t>
            </a:r>
          </a:p>
        </p:txBody>
      </p:sp>
      <p:grpSp>
        <p:nvGrpSpPr>
          <p:cNvPr id="24" name="Group 24"/>
          <p:cNvGrpSpPr/>
          <p:nvPr/>
        </p:nvGrpSpPr>
        <p:grpSpPr>
          <a:xfrm>
            <a:off x="13259381" y="2137148"/>
            <a:ext cx="1112026" cy="1112026"/>
            <a:chOff x="0" y="0"/>
            <a:chExt cx="1482702" cy="1482702"/>
          </a:xfrm>
        </p:grpSpPr>
        <p:grpSp>
          <p:nvGrpSpPr>
            <p:cNvPr id="25" name="Group 25"/>
            <p:cNvGrpSpPr/>
            <p:nvPr/>
          </p:nvGrpSpPr>
          <p:grpSpPr>
            <a:xfrm>
              <a:off x="0" y="0"/>
              <a:ext cx="1482702" cy="148270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3080"/>
                  </a:lnSpc>
                </a:pPr>
                <a:endParaRPr/>
              </a:p>
            </p:txBody>
          </p:sp>
        </p:grpSp>
        <p:sp>
          <p:nvSpPr>
            <p:cNvPr id="28" name="Freeform 28"/>
            <p:cNvSpPr/>
            <p:nvPr/>
          </p:nvSpPr>
          <p:spPr>
            <a:xfrm>
              <a:off x="42303" y="34742"/>
              <a:ext cx="1398096" cy="1398096"/>
            </a:xfrm>
            <a:custGeom>
              <a:avLst/>
              <a:gdLst/>
              <a:ahLst/>
              <a:cxnLst/>
              <a:rect l="l" t="t" r="r" b="b"/>
              <a:pathLst>
                <a:path w="1398096" h="1398096">
                  <a:moveTo>
                    <a:pt x="0" y="0"/>
                  </a:moveTo>
                  <a:lnTo>
                    <a:pt x="1398096" y="0"/>
                  </a:lnTo>
                  <a:lnTo>
                    <a:pt x="1398096" y="1398095"/>
                  </a:lnTo>
                  <a:lnTo>
                    <a:pt x="0" y="1398095"/>
                  </a:lnTo>
                  <a:lnTo>
                    <a:pt x="0" y="0"/>
                  </a:lnTo>
                  <a:close/>
                </a:path>
              </a:pathLst>
            </a:custGeom>
            <a:blipFill>
              <a:blip r:embed="rId9"/>
              <a:stretch>
                <a:fillRect/>
              </a:stretch>
            </a:blipFill>
          </p:spPr>
        </p:sp>
      </p:grpSp>
      <p:sp>
        <p:nvSpPr>
          <p:cNvPr id="29" name="TextBox 29"/>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txBody>
          <a:bodyPr/>
          <a:lstStyle/>
          <a:p>
            <a:endParaRPr lang="en-US" dirty="0"/>
          </a:p>
        </p:txBody>
      </p:sp>
      <p:graphicFrame>
        <p:nvGraphicFramePr>
          <p:cNvPr id="3" name="Table 3"/>
          <p:cNvGraphicFramePr>
            <a:graphicFrameLocks noGrp="1"/>
          </p:cNvGraphicFramePr>
          <p:nvPr>
            <p:extLst>
              <p:ext uri="{D42A27DB-BD31-4B8C-83A1-F6EECF244321}">
                <p14:modId xmlns:p14="http://schemas.microsoft.com/office/powerpoint/2010/main" val="1350811735"/>
              </p:ext>
            </p:extLst>
          </p:nvPr>
        </p:nvGraphicFramePr>
        <p:xfrm>
          <a:off x="884167" y="3764153"/>
          <a:ext cx="16439375" cy="4838054"/>
        </p:xfrm>
        <a:graphic>
          <a:graphicData uri="http://schemas.openxmlformats.org/drawingml/2006/table">
            <a:tbl>
              <a:tblPr>
                <a:effectLst>
                  <a:outerShdw blurRad="50800" dist="38100" dir="8100000" algn="tr" rotWithShape="0">
                    <a:prstClr val="black">
                      <a:alpha val="40000"/>
                    </a:prstClr>
                  </a:outerShdw>
                  <a:reflection blurRad="6350" stA="52000" endA="300" endPos="35000" dir="5400000" sy="-100000" algn="bl" rotWithShape="0"/>
                </a:effectLst>
              </a:tblPr>
              <a:tblGrid>
                <a:gridCol w="8252482">
                  <a:extLst>
                    <a:ext uri="{9D8B030D-6E8A-4147-A177-3AD203B41FA5}">
                      <a16:colId xmlns:a16="http://schemas.microsoft.com/office/drawing/2014/main" val="20000"/>
                    </a:ext>
                  </a:extLst>
                </a:gridCol>
                <a:gridCol w="8186893">
                  <a:extLst>
                    <a:ext uri="{9D8B030D-6E8A-4147-A177-3AD203B41FA5}">
                      <a16:colId xmlns:a16="http://schemas.microsoft.com/office/drawing/2014/main" val="20001"/>
                    </a:ext>
                  </a:extLst>
                </a:gridCol>
              </a:tblGrid>
              <a:tr h="1705971">
                <a:tc>
                  <a:txBody>
                    <a:bodyPr/>
                    <a:lstStyle/>
                    <a:p>
                      <a:pPr algn="l">
                        <a:lnSpc>
                          <a:spcPts val="3079"/>
                        </a:lnSpc>
                        <a:defRPr/>
                      </a:pPr>
                      <a:r>
                        <a:rPr lang="en-US" sz="2199" b="1" dirty="0">
                          <a:solidFill>
                            <a:srgbClr val="000000"/>
                          </a:solidFill>
                          <a:latin typeface="Cabin Bold"/>
                          <a:ea typeface="Cabin Bold"/>
                          <a:cs typeface="Cabin Bold"/>
                          <a:sym typeface="Cabin Bold"/>
                        </a:rPr>
                        <a:t>Quy </a:t>
                      </a:r>
                      <a:r>
                        <a:rPr lang="en-US" sz="2199" b="1" dirty="0" err="1">
                          <a:solidFill>
                            <a:srgbClr val="000000"/>
                          </a:solidFill>
                          <a:latin typeface="Cabin Bold"/>
                          <a:ea typeface="Cabin Bold"/>
                          <a:cs typeface="Cabin Bold"/>
                          <a:sym typeface="Cabin Bold"/>
                        </a:rPr>
                        <a:t>trình</a:t>
                      </a:r>
                      <a:r>
                        <a:rPr lang="en-US" sz="2199" b="1" dirty="0">
                          <a:solidFill>
                            <a:srgbClr val="000000"/>
                          </a:solidFill>
                          <a:latin typeface="Cabin Bold"/>
                          <a:ea typeface="Cabin Bold"/>
                          <a:cs typeface="Cabin Bold"/>
                          <a:sym typeface="Cabin Bold"/>
                        </a:rPr>
                        <a:t> </a:t>
                      </a:r>
                      <a:r>
                        <a:rPr lang="en-US" sz="2199" b="1" dirty="0" err="1">
                          <a:solidFill>
                            <a:srgbClr val="000000"/>
                          </a:solidFill>
                          <a:latin typeface="Cabin Bold"/>
                          <a:ea typeface="Cabin Bold"/>
                          <a:cs typeface="Cabin Bold"/>
                          <a:sym typeface="Cabin Bold"/>
                        </a:rPr>
                        <a:t>phức</a:t>
                      </a:r>
                      <a:r>
                        <a:rPr lang="en-US" sz="2199" b="1" dirty="0">
                          <a:solidFill>
                            <a:srgbClr val="000000"/>
                          </a:solidFill>
                          <a:latin typeface="Cabin Bold"/>
                          <a:ea typeface="Cabin Bold"/>
                          <a:cs typeface="Cabin Bold"/>
                          <a:sym typeface="Cabin Bold"/>
                        </a:rPr>
                        <a:t> </a:t>
                      </a:r>
                      <a:r>
                        <a:rPr lang="en-US" sz="2199" b="1" dirty="0" err="1">
                          <a:solidFill>
                            <a:srgbClr val="000000"/>
                          </a:solidFill>
                          <a:latin typeface="Cabin Bold"/>
                          <a:ea typeface="Cabin Bold"/>
                          <a:cs typeface="Cabin Bold"/>
                          <a:sym typeface="Cabin Bold"/>
                        </a:rPr>
                        <a:t>tạp</a:t>
                      </a:r>
                      <a:endParaRPr lang="en-US" sz="1100" dirty="0"/>
                    </a:p>
                    <a:p>
                      <a:pPr algn="l">
                        <a:lnSpc>
                          <a:spcPts val="2800"/>
                        </a:lnSpc>
                      </a:pPr>
                      <a:r>
                        <a:rPr lang="en-US" sz="2000" dirty="0">
                          <a:solidFill>
                            <a:srgbClr val="000000"/>
                          </a:solidFill>
                          <a:latin typeface="Cabin"/>
                          <a:ea typeface="Cabin"/>
                          <a:cs typeface="Cabin"/>
                          <a:sym typeface="Cabin"/>
                        </a:rPr>
                        <a:t>Quản </a:t>
                      </a:r>
                      <a:r>
                        <a:rPr lang="en-US" sz="2000" dirty="0" err="1">
                          <a:solidFill>
                            <a:srgbClr val="000000"/>
                          </a:solidFill>
                          <a:latin typeface="Cabin"/>
                          <a:ea typeface="Cabin"/>
                          <a:cs typeface="Cabin"/>
                          <a:sym typeface="Cabin"/>
                        </a:rPr>
                        <a:t>lý</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đồ</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án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gồm</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nhiều</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bước</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đăng</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ký</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đề</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tài</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thành</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lập</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nhóm</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theo</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dõi</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tiến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độ</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và</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nộp</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bài</a:t>
                      </a:r>
                      <a:r>
                        <a:rPr lang="en-US" sz="2000" dirty="0">
                          <a:solidFill>
                            <a:srgbClr val="000000"/>
                          </a:solidFill>
                          <a:latin typeface="Cabin"/>
                          <a:ea typeface="Cabin"/>
                          <a:cs typeface="Cabin"/>
                          <a:sym typeface="Cabin"/>
                        </a:rPr>
                        <a:t>.</a:t>
                      </a:r>
                    </a:p>
                  </a:txBody>
                  <a:tcPr marL="190500" marR="190500" marT="190500" marB="190500" anchor="ctr">
                    <a:lnL w="0" cap="flat" cmpd="sng" algn="ctr">
                      <a:solidFill>
                        <a:srgbClr val="003EA8"/>
                      </a:solidFill>
                      <a:prstDash val="solid"/>
                      <a:round/>
                      <a:headEnd type="none" w="med" len="med"/>
                      <a:tailEnd type="none" w="med" len="med"/>
                    </a:lnL>
                    <a:lnR w="19050" cap="flat" cmpd="sng" algn="ctr">
                      <a:solidFill>
                        <a:srgbClr val="003EA8"/>
                      </a:solidFill>
                      <a:prstDash val="solid"/>
                      <a:round/>
                      <a:headEnd type="none" w="med" len="med"/>
                      <a:tailEnd type="none" w="med" len="med"/>
                    </a:lnR>
                    <a:lnT w="0" cap="flat" cmpd="sng" algn="ctr">
                      <a:solidFill>
                        <a:srgbClr val="003EA8"/>
                      </a:solidFill>
                      <a:prstDash val="solid"/>
                      <a:round/>
                      <a:headEnd type="none" w="med" len="med"/>
                      <a:tailEnd type="none" w="med" len="med"/>
                    </a:lnT>
                    <a:lnB w="19050" cap="flat" cmpd="sng" algn="ctr">
                      <a:solidFill>
                        <a:srgbClr val="003EA8"/>
                      </a:solidFill>
                      <a:prstDash val="solid"/>
                      <a:round/>
                      <a:headEnd type="none" w="med" len="med"/>
                      <a:tailEnd type="none" w="med" len="med"/>
                    </a:lnB>
                    <a:solidFill>
                      <a:srgbClr val="FFFFFF"/>
                    </a:solidFill>
                  </a:tcPr>
                </a:tc>
                <a:tc>
                  <a:txBody>
                    <a:bodyPr/>
                    <a:lstStyle/>
                    <a:p>
                      <a:pPr algn="l">
                        <a:lnSpc>
                          <a:spcPts val="3079"/>
                        </a:lnSpc>
                        <a:defRPr/>
                      </a:pPr>
                      <a:r>
                        <a:rPr lang="en-US" sz="2199" b="1">
                          <a:solidFill>
                            <a:srgbClr val="000000"/>
                          </a:solidFill>
                          <a:latin typeface="Cabin Bold"/>
                          <a:ea typeface="Cabin Bold"/>
                          <a:cs typeface="Cabin Bold"/>
                          <a:sym typeface="Cabin Bold"/>
                        </a:rPr>
                        <a:t>Khó khăn thủ công</a:t>
                      </a:r>
                      <a:endParaRPr lang="en-US" sz="1100"/>
                    </a:p>
                    <a:p>
                      <a:pPr algn="l">
                        <a:lnSpc>
                          <a:spcPts val="2800"/>
                        </a:lnSpc>
                      </a:pPr>
                      <a:r>
                        <a:rPr lang="en-US" sz="2000">
                          <a:solidFill>
                            <a:srgbClr val="000000"/>
                          </a:solidFill>
                          <a:latin typeface="Cabin"/>
                          <a:ea typeface="Cabin"/>
                          <a:cs typeface="Cabin"/>
                          <a:sym typeface="Cabin"/>
                        </a:rPr>
                        <a:t>Việc quản lý thủ công gây khó khăn trong việc theo dõi dữ liệu và trạng thái đồ án.</a:t>
                      </a:r>
                    </a:p>
                  </a:txBody>
                  <a:tcPr marL="190500" marR="190500" marT="190500" marB="190500" anchor="ctr">
                    <a:lnL w="19050" cap="flat" cmpd="sng" algn="ctr">
                      <a:solidFill>
                        <a:srgbClr val="003EA8"/>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9050" cap="flat" cmpd="sng" algn="ctr">
                      <a:solidFill>
                        <a:srgbClr val="003EA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726650">
                <a:tc>
                  <a:txBody>
                    <a:bodyPr/>
                    <a:lstStyle/>
                    <a:p>
                      <a:pPr algn="l">
                        <a:lnSpc>
                          <a:spcPts val="3079"/>
                        </a:lnSpc>
                        <a:defRPr/>
                      </a:pPr>
                      <a:r>
                        <a:rPr lang="en-US" sz="2199" b="1">
                          <a:solidFill>
                            <a:srgbClr val="000000"/>
                          </a:solidFill>
                          <a:latin typeface="Cabin Bold"/>
                          <a:ea typeface="Cabin Bold"/>
                          <a:cs typeface="Cabin Bold"/>
                          <a:sym typeface="Cabin Bold"/>
                        </a:rPr>
                        <a:t>Nhu cầu sinh viên</a:t>
                      </a:r>
                      <a:endParaRPr lang="en-US" sz="1100"/>
                    </a:p>
                    <a:p>
                      <a:pPr algn="l">
                        <a:lnSpc>
                          <a:spcPts val="2800"/>
                        </a:lnSpc>
                      </a:pPr>
                      <a:r>
                        <a:rPr lang="en-US" sz="2000">
                          <a:solidFill>
                            <a:srgbClr val="000000"/>
                          </a:solidFill>
                          <a:latin typeface="Cabin"/>
                          <a:ea typeface="Cabin"/>
                          <a:cs typeface="Cabin"/>
                          <a:sym typeface="Cabin"/>
                        </a:rPr>
                        <a:t>Sinh viên cần một nền tảng để theo dõi quá trình thực hiện đồ án một cách hiệu quả.</a:t>
                      </a:r>
                    </a:p>
                  </a:txBody>
                  <a:tcPr marL="190500" marR="190500" marT="190500" marB="190500" anchor="ctr">
                    <a:lnL w="0" cap="flat" cmpd="sng" algn="ctr">
                      <a:solidFill>
                        <a:srgbClr val="FFFFFF"/>
                      </a:solidFill>
                      <a:prstDash val="solid"/>
                      <a:round/>
                      <a:headEnd type="none" w="med" len="med"/>
                      <a:tailEnd type="none" w="med" len="med"/>
                    </a:lnL>
                    <a:lnR w="19050" cap="flat" cmpd="sng" algn="ctr">
                      <a:solidFill>
                        <a:srgbClr val="003EA8"/>
                      </a:solidFill>
                      <a:prstDash val="solid"/>
                      <a:round/>
                      <a:headEnd type="none" w="med" len="med"/>
                      <a:tailEnd type="none" w="med" len="med"/>
                    </a:lnR>
                    <a:lnT w="19050" cap="flat" cmpd="sng" algn="ctr">
                      <a:solidFill>
                        <a:srgbClr val="003EA8"/>
                      </a:solidFill>
                      <a:prstDash val="solid"/>
                      <a:round/>
                      <a:headEnd type="none" w="med" len="med"/>
                      <a:tailEnd type="none" w="med" len="med"/>
                    </a:lnT>
                    <a:lnB w="19050" cap="flat" cmpd="sng" algn="ctr">
                      <a:solidFill>
                        <a:srgbClr val="003EA8"/>
                      </a:solidFill>
                      <a:prstDash val="solid"/>
                      <a:round/>
                      <a:headEnd type="none" w="med" len="med"/>
                      <a:tailEnd type="none" w="med" len="med"/>
                    </a:lnB>
                    <a:solidFill>
                      <a:srgbClr val="FFFFFF"/>
                    </a:solidFill>
                  </a:tcPr>
                </a:tc>
                <a:tc>
                  <a:txBody>
                    <a:bodyPr/>
                    <a:lstStyle/>
                    <a:p>
                      <a:pPr algn="l">
                        <a:lnSpc>
                          <a:spcPts val="3079"/>
                        </a:lnSpc>
                        <a:defRPr/>
                      </a:pPr>
                      <a:r>
                        <a:rPr lang="en-US" sz="2199" b="1" dirty="0">
                          <a:solidFill>
                            <a:srgbClr val="000000"/>
                          </a:solidFill>
                          <a:latin typeface="Cabin Bold"/>
                          <a:ea typeface="Cabin Bold"/>
                          <a:cs typeface="Cabin Bold"/>
                          <a:sym typeface="Cabin Bold"/>
                        </a:rPr>
                        <a:t>Nhu </a:t>
                      </a:r>
                      <a:r>
                        <a:rPr lang="en-US" sz="2199" b="1" dirty="0" err="1">
                          <a:solidFill>
                            <a:srgbClr val="000000"/>
                          </a:solidFill>
                          <a:latin typeface="Cabin Bold"/>
                          <a:ea typeface="Cabin Bold"/>
                          <a:cs typeface="Cabin Bold"/>
                          <a:sym typeface="Cabin Bold"/>
                        </a:rPr>
                        <a:t>cầu</a:t>
                      </a:r>
                      <a:r>
                        <a:rPr lang="en-US" sz="2199" b="1" dirty="0">
                          <a:solidFill>
                            <a:srgbClr val="000000"/>
                          </a:solidFill>
                          <a:latin typeface="Cabin Bold"/>
                          <a:ea typeface="Cabin Bold"/>
                          <a:cs typeface="Cabin Bold"/>
                          <a:sym typeface="Cabin Bold"/>
                        </a:rPr>
                        <a:t> </a:t>
                      </a:r>
                      <a:r>
                        <a:rPr lang="en-US" sz="2199" b="1" dirty="0" err="1">
                          <a:solidFill>
                            <a:srgbClr val="000000"/>
                          </a:solidFill>
                          <a:latin typeface="Cabin Bold"/>
                          <a:ea typeface="Cabin Bold"/>
                          <a:cs typeface="Cabin Bold"/>
                          <a:sym typeface="Cabin Bold"/>
                        </a:rPr>
                        <a:t>giảng</a:t>
                      </a:r>
                      <a:r>
                        <a:rPr lang="en-US" sz="2199" b="1" dirty="0">
                          <a:solidFill>
                            <a:srgbClr val="000000"/>
                          </a:solidFill>
                          <a:latin typeface="Cabin Bold"/>
                          <a:ea typeface="Cabin Bold"/>
                          <a:cs typeface="Cabin Bold"/>
                          <a:sym typeface="Cabin Bold"/>
                        </a:rPr>
                        <a:t> </a:t>
                      </a:r>
                      <a:r>
                        <a:rPr lang="en-US" sz="2199" b="1" dirty="0" err="1">
                          <a:solidFill>
                            <a:srgbClr val="000000"/>
                          </a:solidFill>
                          <a:latin typeface="Cabin Bold"/>
                          <a:ea typeface="Cabin Bold"/>
                          <a:cs typeface="Cabin Bold"/>
                          <a:sym typeface="Cabin Bold"/>
                        </a:rPr>
                        <a:t>viên</a:t>
                      </a:r>
                      <a:endParaRPr lang="en-US" sz="1100" dirty="0"/>
                    </a:p>
                    <a:p>
                      <a:pPr algn="l">
                        <a:lnSpc>
                          <a:spcPts val="2800"/>
                        </a:lnSpc>
                      </a:pPr>
                      <a:r>
                        <a:rPr lang="en-US" sz="2000" dirty="0" err="1">
                          <a:solidFill>
                            <a:srgbClr val="000000"/>
                          </a:solidFill>
                          <a:latin typeface="Cabin"/>
                          <a:ea typeface="Cabin"/>
                          <a:cs typeface="Cabin"/>
                          <a:sym typeface="Cabin"/>
                        </a:rPr>
                        <a:t>Giảng</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viên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cần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công</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cụ</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quản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lý</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lớp</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đề</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tài</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nhóm</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và</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đánh</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giá</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tập</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trung</a:t>
                      </a:r>
                      <a:r>
                        <a:rPr lang="en-US" sz="2000" dirty="0">
                          <a:solidFill>
                            <a:srgbClr val="000000"/>
                          </a:solidFill>
                          <a:latin typeface="Cabin"/>
                          <a:ea typeface="Cabin"/>
                          <a:cs typeface="Cabin"/>
                          <a:sym typeface="Cabin"/>
                        </a:rPr>
                        <a:t>.</a:t>
                      </a:r>
                    </a:p>
                  </a:txBody>
                  <a:tcPr marL="190500" marR="190500" marT="190500" marB="190500" anchor="ctr">
                    <a:lnL w="19050" cap="flat" cmpd="sng" algn="ctr">
                      <a:solidFill>
                        <a:srgbClr val="003EA8"/>
                      </a:solidFill>
                      <a:prstDash val="solid"/>
                      <a:round/>
                      <a:headEnd type="none" w="med" len="med"/>
                      <a:tailEnd type="none" w="med" len="med"/>
                    </a:lnL>
                    <a:lnR w="0" cap="flat" cmpd="sng" algn="ctr">
                      <a:solidFill>
                        <a:srgbClr val="FFFFFF"/>
                      </a:solidFill>
                      <a:prstDash val="solid"/>
                      <a:round/>
                      <a:headEnd type="none" w="med" len="med"/>
                      <a:tailEnd type="none" w="med" len="med"/>
                    </a:lnR>
                    <a:lnT w="19050" cap="flat" cmpd="sng" algn="ctr">
                      <a:solidFill>
                        <a:srgbClr val="003EA8"/>
                      </a:solidFill>
                      <a:prstDash val="solid"/>
                      <a:round/>
                      <a:headEnd type="none" w="med" len="med"/>
                      <a:tailEnd type="none" w="med" len="med"/>
                    </a:lnT>
                    <a:lnB w="19050" cap="flat" cmpd="sng" algn="ctr">
                      <a:solidFill>
                        <a:srgbClr val="003EA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05433">
                <a:tc gridSpan="2">
                  <a:txBody>
                    <a:bodyPr/>
                    <a:lstStyle/>
                    <a:p>
                      <a:pPr algn="ctr">
                        <a:lnSpc>
                          <a:spcPts val="2800"/>
                        </a:lnSpc>
                        <a:defRPr/>
                      </a:pPr>
                      <a:r>
                        <a:rPr lang="en-US" sz="2000" b="1" dirty="0" err="1">
                          <a:solidFill>
                            <a:srgbClr val="000000"/>
                          </a:solidFill>
                          <a:latin typeface="Cabin Bold"/>
                          <a:ea typeface="Cabin Bold"/>
                          <a:cs typeface="Cabin Bold"/>
                          <a:sym typeface="Cabin Bold"/>
                        </a:rPr>
                        <a:t>Mục</a:t>
                      </a:r>
                      <a:r>
                        <a:rPr lang="en-US" sz="2000" b="1" dirty="0">
                          <a:solidFill>
                            <a:srgbClr val="000000"/>
                          </a:solidFill>
                          <a:latin typeface="Cabin Bold"/>
                          <a:ea typeface="Cabin Bold"/>
                          <a:cs typeface="Cabin Bold"/>
                          <a:sym typeface="Cabin Bold"/>
                        </a:rPr>
                        <a:t> </a:t>
                      </a:r>
                      <a:r>
                        <a:rPr lang="en-US" sz="2000" b="1" dirty="0" err="1">
                          <a:solidFill>
                            <a:srgbClr val="000000"/>
                          </a:solidFill>
                          <a:latin typeface="Cabin Bold"/>
                          <a:ea typeface="Cabin Bold"/>
                          <a:cs typeface="Cabin Bold"/>
                          <a:sym typeface="Cabin Bold"/>
                        </a:rPr>
                        <a:t>tiêu</a:t>
                      </a:r>
                      <a:r>
                        <a:rPr lang="en-US" sz="2000" b="1" dirty="0">
                          <a:solidFill>
                            <a:srgbClr val="000000"/>
                          </a:solidFill>
                          <a:latin typeface="Cabin Bold"/>
                          <a:ea typeface="Cabin Bold"/>
                          <a:cs typeface="Cabin Bold"/>
                          <a:sym typeface="Cabin Bold"/>
                        </a:rPr>
                        <a:t>: </a:t>
                      </a:r>
                      <a:r>
                        <a:rPr lang="en-US" sz="2000" dirty="0" err="1">
                          <a:solidFill>
                            <a:srgbClr val="000000"/>
                          </a:solidFill>
                          <a:latin typeface="Cabin"/>
                          <a:ea typeface="Cabin"/>
                          <a:cs typeface="Cabin"/>
                          <a:sym typeface="Cabin"/>
                        </a:rPr>
                        <a:t>Xây</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dựng</a:t>
                      </a:r>
                      <a:r>
                        <a:rPr lang="en-US" sz="2000" dirty="0">
                          <a:solidFill>
                            <a:srgbClr val="000000"/>
                          </a:solidFill>
                          <a:latin typeface="Cabin"/>
                          <a:ea typeface="Cabin"/>
                          <a:cs typeface="Cabin"/>
                          <a:sym typeface="Cabin"/>
                        </a:rPr>
                        <a:t> website </a:t>
                      </a:r>
                      <a:r>
                        <a:rPr lang="en-US" sz="2000" dirty="0" err="1">
                          <a:solidFill>
                            <a:srgbClr val="000000"/>
                          </a:solidFill>
                          <a:latin typeface="Cabin"/>
                          <a:ea typeface="Cabin"/>
                          <a:cs typeface="Cabin"/>
                          <a:sym typeface="Cabin"/>
                        </a:rPr>
                        <a:t>tập</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trung</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hóa</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toàn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bộ</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quy</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trình</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nộp</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và</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quản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lý</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đồ</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án</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sinh</a:t>
                      </a:r>
                      <a:r>
                        <a:rPr lang="en-US" sz="2000" dirty="0">
                          <a:solidFill>
                            <a:srgbClr val="000000"/>
                          </a:solidFill>
                          <a:latin typeface="Cabin"/>
                          <a:ea typeface="Cabin"/>
                          <a:cs typeface="Cabin"/>
                          <a:sym typeface="Cabin"/>
                        </a:rPr>
                        <a:t> </a:t>
                      </a:r>
                      <a:r>
                        <a:rPr lang="en-US" sz="2000" dirty="0" err="1">
                          <a:solidFill>
                            <a:srgbClr val="000000"/>
                          </a:solidFill>
                          <a:latin typeface="Cabin"/>
                          <a:ea typeface="Cabin"/>
                          <a:cs typeface="Cabin"/>
                          <a:sym typeface="Cabin"/>
                        </a:rPr>
                        <a:t>viên</a:t>
                      </a:r>
                      <a:r>
                        <a:rPr lang="en-US" sz="2000" dirty="0">
                          <a:solidFill>
                            <a:srgbClr val="000000"/>
                          </a:solidFill>
                          <a:latin typeface="Cabin"/>
                          <a:ea typeface="Cabin"/>
                          <a:cs typeface="Cabin"/>
                          <a:sym typeface="Cabin"/>
                        </a:rPr>
                        <a:t> TVU.</a:t>
                      </a:r>
                      <a:endParaRPr lang="en-US" sz="1100" dirty="0"/>
                    </a:p>
                  </a:txBody>
                  <a:tcPr marL="190500" marR="190500" marT="190500" marB="190500" anchor="ctr">
                    <a:lnL w="0" cap="flat" cmpd="sng" algn="ctr">
                      <a:solidFill>
                        <a:srgbClr val="FFFFFF"/>
                      </a:solidFill>
                      <a:prstDash val="solid"/>
                      <a:round/>
                      <a:headEnd type="none" w="med" len="med"/>
                      <a:tailEnd type="none" w="med" len="med"/>
                    </a:lnL>
                    <a:lnR w="19050" cap="flat" cmpd="sng" algn="ctr">
                      <a:solidFill>
                        <a:srgbClr val="003EA8"/>
                      </a:solidFill>
                      <a:prstDash val="solid"/>
                      <a:round/>
                      <a:headEnd type="none" w="med" len="med"/>
                      <a:tailEnd type="none" w="med" len="med"/>
                    </a:lnR>
                    <a:lnT w="19050" cap="flat" cmpd="sng" algn="ctr">
                      <a:solidFill>
                        <a:srgbClr val="003EA8"/>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hMerge="1">
                  <a:txBody>
                    <a:bodyPr/>
                    <a:lstStyle/>
                    <a:p>
                      <a:pPr algn="ctr">
                        <a:lnSpc>
                          <a:spcPts val="2800"/>
                        </a:lnSpc>
                        <a:defRPr/>
                      </a:pPr>
                      <a:r>
                        <a:rPr lang="en-US" sz="2000" b="1">
                          <a:solidFill>
                            <a:srgbClr val="000000"/>
                          </a:solidFill>
                          <a:latin typeface="Cabin Bold"/>
                          <a:ea typeface="Cabin Bold"/>
                          <a:cs typeface="Cabin Bold"/>
                          <a:sym typeface="Cabin Bold"/>
                        </a:rPr>
                        <a:t>Mục tiêu: </a:t>
                      </a:r>
                      <a:r>
                        <a:rPr lang="en-US" sz="2000">
                          <a:solidFill>
                            <a:srgbClr val="000000"/>
                          </a:solidFill>
                          <a:latin typeface="Cabin"/>
                          <a:ea typeface="Cabin"/>
                          <a:cs typeface="Cabin"/>
                          <a:sym typeface="Cabin"/>
                        </a:rPr>
                        <a:t>Xây dựng website tập trung hóa toàn bộ quy trình nộp và quản lý đồ án sinh viên TVU.</a:t>
                      </a:r>
                      <a:endParaRPr lang="en-US" sz="1100"/>
                    </a:p>
                  </a:txBody>
                  <a:tcPr marL="190500" marR="190500" marT="190500" marB="190500" anchor="ctr">
                    <a:lnL w="0" cap="flat" cmpd="sng" algn="ctr">
                      <a:solidFill>
                        <a:srgbClr val="FFFFFF"/>
                      </a:solidFill>
                      <a:prstDash val="solid"/>
                      <a:round/>
                      <a:headEnd type="none" w="med" len="med"/>
                      <a:tailEnd type="none" w="med" len="med"/>
                    </a:lnL>
                    <a:lnR w="19050" cap="flat" cmpd="sng" algn="ctr">
                      <a:solidFill>
                        <a:srgbClr val="003EA8"/>
                      </a:solidFill>
                      <a:prstDash val="solid"/>
                      <a:round/>
                      <a:headEnd type="none" w="med" len="med"/>
                      <a:tailEnd type="none" w="med" len="med"/>
                    </a:lnR>
                    <a:lnT w="19050" cap="flat" cmpd="sng" algn="ctr">
                      <a:solidFill>
                        <a:srgbClr val="003EA8"/>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4" name="Freeform 4"/>
          <p:cNvSpPr/>
          <p:nvPr/>
        </p:nvSpPr>
        <p:spPr>
          <a:xfrm>
            <a:off x="12056224" y="8507369"/>
            <a:ext cx="7147788" cy="1728465"/>
          </a:xfrm>
          <a:custGeom>
            <a:avLst/>
            <a:gdLst/>
            <a:ahLst/>
            <a:cxnLst/>
            <a:rect l="l" t="t" r="r" b="b"/>
            <a:pathLst>
              <a:path w="7147788" h="1728465">
                <a:moveTo>
                  <a:pt x="0" y="0"/>
                </a:moveTo>
                <a:lnTo>
                  <a:pt x="7147788" y="0"/>
                </a:lnTo>
                <a:lnTo>
                  <a:pt x="7147788" y="1728465"/>
                </a:lnTo>
                <a:lnTo>
                  <a:pt x="0" y="172846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1702764" y="8388514"/>
            <a:ext cx="573798" cy="822649"/>
          </a:xfrm>
          <a:custGeom>
            <a:avLst/>
            <a:gdLst/>
            <a:ahLst/>
            <a:cxnLst/>
            <a:rect l="l" t="t" r="r" b="b"/>
            <a:pathLst>
              <a:path w="573798" h="822649">
                <a:moveTo>
                  <a:pt x="0" y="0"/>
                </a:moveTo>
                <a:lnTo>
                  <a:pt x="573798" y="0"/>
                </a:lnTo>
                <a:lnTo>
                  <a:pt x="573798" y="822649"/>
                </a:lnTo>
                <a:lnTo>
                  <a:pt x="0" y="82264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3318882" y="-411324"/>
            <a:ext cx="573798" cy="822649"/>
          </a:xfrm>
          <a:custGeom>
            <a:avLst/>
            <a:gdLst/>
            <a:ahLst/>
            <a:cxnLst/>
            <a:rect l="l" t="t" r="r" b="b"/>
            <a:pathLst>
              <a:path w="573798" h="822649">
                <a:moveTo>
                  <a:pt x="0" y="0"/>
                </a:moveTo>
                <a:lnTo>
                  <a:pt x="573798" y="0"/>
                </a:lnTo>
                <a:lnTo>
                  <a:pt x="573798" y="822648"/>
                </a:lnTo>
                <a:lnTo>
                  <a:pt x="0" y="82264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608297" y="158885"/>
            <a:ext cx="3927179" cy="1392364"/>
          </a:xfrm>
          <a:custGeom>
            <a:avLst/>
            <a:gdLst/>
            <a:ahLst/>
            <a:cxnLst/>
            <a:rect l="l" t="t" r="r" b="b"/>
            <a:pathLst>
              <a:path w="3927179" h="1392364">
                <a:moveTo>
                  <a:pt x="0" y="0"/>
                </a:moveTo>
                <a:lnTo>
                  <a:pt x="3927179" y="0"/>
                </a:lnTo>
                <a:lnTo>
                  <a:pt x="3927179" y="1392363"/>
                </a:lnTo>
                <a:lnTo>
                  <a:pt x="0" y="1392363"/>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a:off x="1219294" y="657204"/>
            <a:ext cx="15795020" cy="1907038"/>
            <a:chOff x="0" y="0"/>
            <a:chExt cx="5762066" cy="695693"/>
          </a:xfrm>
          <a:scene3d>
            <a:camera prst="orthographicFront">
              <a:rot lat="0" lon="0" rev="0"/>
            </a:camera>
            <a:lightRig rig="glow" dir="t">
              <a:rot lat="0" lon="0" rev="4800000"/>
            </a:lightRig>
          </a:scene3d>
        </p:grpSpPr>
        <p:sp>
          <p:nvSpPr>
            <p:cNvPr id="9" name="Freeform 9"/>
            <p:cNvSpPr/>
            <p:nvPr/>
          </p:nvSpPr>
          <p:spPr>
            <a:xfrm>
              <a:off x="0" y="0"/>
              <a:ext cx="5762066" cy="695693"/>
            </a:xfrm>
            <a:custGeom>
              <a:avLst/>
              <a:gdLst/>
              <a:ahLst/>
              <a:cxnLst/>
              <a:rect l="l" t="t" r="r" b="b"/>
              <a:pathLst>
                <a:path w="5762066" h="695693">
                  <a:moveTo>
                    <a:pt x="0" y="0"/>
                  </a:moveTo>
                  <a:lnTo>
                    <a:pt x="5762066" y="0"/>
                  </a:lnTo>
                  <a:lnTo>
                    <a:pt x="5762066" y="695693"/>
                  </a:lnTo>
                  <a:lnTo>
                    <a:pt x="0" y="69569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0" name="TextBox 10"/>
          <p:cNvSpPr txBox="1"/>
          <p:nvPr/>
        </p:nvSpPr>
        <p:spPr>
          <a:xfrm>
            <a:off x="2840024" y="915398"/>
            <a:ext cx="12607952" cy="1228725"/>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003EA8"/>
                </a:solidFill>
                <a:latin typeface="Muli Bold"/>
                <a:ea typeface="Muli Bold"/>
                <a:cs typeface="Muli Bold"/>
                <a:sym typeface="Muli Bold"/>
              </a:rPr>
              <a:t>Lý Do Chọn Đề Tài</a:t>
            </a:r>
          </a:p>
        </p:txBody>
      </p:sp>
      <p:sp>
        <p:nvSpPr>
          <p:cNvPr id="11" name="TextBox 11"/>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8321297" y="3556502"/>
            <a:ext cx="9009410" cy="5777998"/>
            <a:chOff x="0" y="0"/>
            <a:chExt cx="3286657" cy="2107829"/>
          </a:xfrm>
          <a:scene3d>
            <a:camera prst="orthographicFront">
              <a:rot lat="0" lon="0" rev="0"/>
            </a:camera>
            <a:lightRig rig="glow" dir="t">
              <a:rot lat="0" lon="0" rev="4800000"/>
            </a:lightRig>
          </a:scene3d>
        </p:grpSpPr>
        <p:sp>
          <p:nvSpPr>
            <p:cNvPr id="4" name="Freeform 4"/>
            <p:cNvSpPr/>
            <p:nvPr/>
          </p:nvSpPr>
          <p:spPr>
            <a:xfrm>
              <a:off x="0" y="0"/>
              <a:ext cx="3286657" cy="2107829"/>
            </a:xfrm>
            <a:custGeom>
              <a:avLst/>
              <a:gdLst/>
              <a:ahLst/>
              <a:cxnLst/>
              <a:rect l="l" t="t" r="r" b="b"/>
              <a:pathLst>
                <a:path w="3286657" h="2107829">
                  <a:moveTo>
                    <a:pt x="0" y="0"/>
                  </a:moveTo>
                  <a:lnTo>
                    <a:pt x="3286657" y="0"/>
                  </a:lnTo>
                  <a:lnTo>
                    <a:pt x="3286657" y="2107829"/>
                  </a:lnTo>
                  <a:lnTo>
                    <a:pt x="0" y="2107829"/>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905495" y="3556502"/>
            <a:ext cx="7087021" cy="5777998"/>
            <a:chOff x="0" y="0"/>
            <a:chExt cx="2585364" cy="2107829"/>
          </a:xfrm>
          <a:scene3d>
            <a:camera prst="orthographicFront">
              <a:rot lat="0" lon="0" rev="0"/>
            </a:camera>
            <a:lightRig rig="glow" dir="t">
              <a:rot lat="0" lon="0" rev="4800000"/>
            </a:lightRig>
          </a:scene3d>
        </p:grpSpPr>
        <p:sp>
          <p:nvSpPr>
            <p:cNvPr id="6" name="Freeform 6"/>
            <p:cNvSpPr/>
            <p:nvPr/>
          </p:nvSpPr>
          <p:spPr>
            <a:xfrm>
              <a:off x="0" y="0"/>
              <a:ext cx="2585364" cy="2107829"/>
            </a:xfrm>
            <a:custGeom>
              <a:avLst/>
              <a:gdLst/>
              <a:ahLst/>
              <a:cxnLst/>
              <a:rect l="l" t="t" r="r" b="b"/>
              <a:pathLst>
                <a:path w="2585364" h="2107829">
                  <a:moveTo>
                    <a:pt x="0" y="0"/>
                  </a:moveTo>
                  <a:lnTo>
                    <a:pt x="2585364" y="0"/>
                  </a:lnTo>
                  <a:lnTo>
                    <a:pt x="2585364" y="2107829"/>
                  </a:lnTo>
                  <a:lnTo>
                    <a:pt x="0" y="2107829"/>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7" name="Group 7"/>
          <p:cNvGrpSpPr/>
          <p:nvPr/>
        </p:nvGrpSpPr>
        <p:grpSpPr>
          <a:xfrm>
            <a:off x="905495" y="973442"/>
            <a:ext cx="16425212" cy="1919447"/>
            <a:chOff x="0" y="0"/>
            <a:chExt cx="5991962" cy="700220"/>
          </a:xfrm>
          <a:scene3d>
            <a:camera prst="orthographicFront">
              <a:rot lat="0" lon="0" rev="0"/>
            </a:camera>
            <a:lightRig rig="glow" dir="t">
              <a:rot lat="0" lon="0" rev="4800000"/>
            </a:lightRig>
          </a:scene3d>
        </p:grpSpPr>
        <p:sp>
          <p:nvSpPr>
            <p:cNvPr id="8" name="Freeform 8"/>
            <p:cNvSpPr/>
            <p:nvPr/>
          </p:nvSpPr>
          <p:spPr>
            <a:xfrm>
              <a:off x="0" y="0"/>
              <a:ext cx="5991962" cy="700219"/>
            </a:xfrm>
            <a:custGeom>
              <a:avLst/>
              <a:gdLst/>
              <a:ahLst/>
              <a:cxnLst/>
              <a:rect l="l" t="t" r="r" b="b"/>
              <a:pathLst>
                <a:path w="5991962" h="700219">
                  <a:moveTo>
                    <a:pt x="0" y="0"/>
                  </a:moveTo>
                  <a:lnTo>
                    <a:pt x="5991962" y="0"/>
                  </a:lnTo>
                  <a:lnTo>
                    <a:pt x="5991962" y="700219"/>
                  </a:lnTo>
                  <a:lnTo>
                    <a:pt x="0" y="700219"/>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9" name="TextBox 9"/>
          <p:cNvSpPr txBox="1"/>
          <p:nvPr/>
        </p:nvSpPr>
        <p:spPr>
          <a:xfrm>
            <a:off x="2452394" y="1237840"/>
            <a:ext cx="13331413" cy="1228725"/>
          </a:xfrm>
          <a:prstGeom prst="rect">
            <a:avLst/>
          </a:prstGeom>
        </p:spPr>
        <p:txBody>
          <a:bodyPr lIns="0" tIns="0" rIns="0" bIns="0" rtlCol="0" anchor="t">
            <a:spAutoFit/>
          </a:bodyPr>
          <a:lstStyle/>
          <a:p>
            <a:pPr algn="ctr">
              <a:lnSpc>
                <a:spcPts val="9600"/>
              </a:lnSpc>
            </a:pPr>
            <a:r>
              <a:rPr lang="en-US" sz="8000" b="1">
                <a:solidFill>
                  <a:srgbClr val="003EA8"/>
                </a:solidFill>
                <a:latin typeface="Muli Bold"/>
                <a:ea typeface="Muli Bold"/>
                <a:cs typeface="Muli Bold"/>
                <a:sym typeface="Muli Bold"/>
              </a:rPr>
              <a:t>Mục Tiêu &amp; Phạm Vi</a:t>
            </a:r>
          </a:p>
        </p:txBody>
      </p:sp>
      <p:grpSp>
        <p:nvGrpSpPr>
          <p:cNvPr id="10" name="Group 10"/>
          <p:cNvGrpSpPr/>
          <p:nvPr/>
        </p:nvGrpSpPr>
        <p:grpSpPr>
          <a:xfrm>
            <a:off x="8952021" y="4911341"/>
            <a:ext cx="7747962" cy="3658722"/>
            <a:chOff x="0" y="0"/>
            <a:chExt cx="10330617" cy="4878296"/>
          </a:xfrm>
        </p:grpSpPr>
        <p:sp>
          <p:nvSpPr>
            <p:cNvPr id="11" name="TextBox 11"/>
            <p:cNvSpPr txBox="1"/>
            <p:nvPr/>
          </p:nvSpPr>
          <p:spPr>
            <a:xfrm>
              <a:off x="0" y="3539081"/>
              <a:ext cx="10330617" cy="773642"/>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Student</a:t>
              </a:r>
            </a:p>
          </p:txBody>
        </p:sp>
        <p:sp>
          <p:nvSpPr>
            <p:cNvPr id="12" name="TextBox 12"/>
            <p:cNvSpPr txBox="1"/>
            <p:nvPr/>
          </p:nvSpPr>
          <p:spPr>
            <a:xfrm>
              <a:off x="0" y="4394003"/>
              <a:ext cx="10330617" cy="484293"/>
            </a:xfrm>
            <a:prstGeom prst="rect">
              <a:avLst/>
            </a:prstGeom>
          </p:spPr>
          <p:txBody>
            <a:bodyPr lIns="0" tIns="0" rIns="0" bIns="0" rtlCol="0" anchor="t">
              <a:spAutoFit/>
            </a:bodyPr>
            <a:lstStyle/>
            <a:p>
              <a:pPr algn="ctr">
                <a:lnSpc>
                  <a:spcPts val="3079"/>
                </a:lnSpc>
              </a:pPr>
              <a:r>
                <a:rPr lang="en-US" sz="2199">
                  <a:solidFill>
                    <a:srgbClr val="000000"/>
                  </a:solidFill>
                  <a:latin typeface="Cabin"/>
                  <a:ea typeface="Cabin"/>
                  <a:cs typeface="Cabin"/>
                  <a:sym typeface="Cabin"/>
                </a:rPr>
                <a:t>Nộp bài và theo dõi tiến độ</a:t>
              </a:r>
            </a:p>
          </p:txBody>
        </p:sp>
        <p:sp>
          <p:nvSpPr>
            <p:cNvPr id="13" name="TextBox 13"/>
            <p:cNvSpPr txBox="1"/>
            <p:nvPr/>
          </p:nvSpPr>
          <p:spPr>
            <a:xfrm>
              <a:off x="0" y="-66675"/>
              <a:ext cx="10330617" cy="773642"/>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Admin</a:t>
              </a:r>
            </a:p>
          </p:txBody>
        </p:sp>
        <p:sp>
          <p:nvSpPr>
            <p:cNvPr id="14" name="TextBox 14"/>
            <p:cNvSpPr txBox="1"/>
            <p:nvPr/>
          </p:nvSpPr>
          <p:spPr>
            <a:xfrm>
              <a:off x="0" y="788247"/>
              <a:ext cx="10330617" cy="484293"/>
            </a:xfrm>
            <a:prstGeom prst="rect">
              <a:avLst/>
            </a:prstGeom>
          </p:spPr>
          <p:txBody>
            <a:bodyPr lIns="0" tIns="0" rIns="0" bIns="0" rtlCol="0" anchor="t">
              <a:spAutoFit/>
            </a:bodyPr>
            <a:lstStyle/>
            <a:p>
              <a:pPr algn="ctr">
                <a:lnSpc>
                  <a:spcPts val="3079"/>
                </a:lnSpc>
              </a:pPr>
              <a:r>
                <a:rPr lang="en-US" sz="2199">
                  <a:solidFill>
                    <a:srgbClr val="000000"/>
                  </a:solidFill>
                  <a:latin typeface="Cabin"/>
                  <a:ea typeface="Cabin"/>
                  <a:cs typeface="Cabin"/>
                  <a:sym typeface="Cabin"/>
                </a:rPr>
                <a:t>Quản lý hệ thống</a:t>
              </a:r>
            </a:p>
          </p:txBody>
        </p:sp>
        <p:sp>
          <p:nvSpPr>
            <p:cNvPr id="15" name="TextBox 15"/>
            <p:cNvSpPr txBox="1"/>
            <p:nvPr/>
          </p:nvSpPr>
          <p:spPr>
            <a:xfrm>
              <a:off x="0" y="1733140"/>
              <a:ext cx="10330617" cy="773642"/>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Teacher</a:t>
              </a:r>
            </a:p>
          </p:txBody>
        </p:sp>
        <p:sp>
          <p:nvSpPr>
            <p:cNvPr id="16" name="TextBox 16"/>
            <p:cNvSpPr txBox="1"/>
            <p:nvPr/>
          </p:nvSpPr>
          <p:spPr>
            <a:xfrm>
              <a:off x="0" y="2588062"/>
              <a:ext cx="10330617" cy="484293"/>
            </a:xfrm>
            <a:prstGeom prst="rect">
              <a:avLst/>
            </a:prstGeom>
          </p:spPr>
          <p:txBody>
            <a:bodyPr lIns="0" tIns="0" rIns="0" bIns="0" rtlCol="0" anchor="t">
              <a:spAutoFit/>
            </a:bodyPr>
            <a:lstStyle/>
            <a:p>
              <a:pPr algn="ctr">
                <a:lnSpc>
                  <a:spcPts val="3079"/>
                </a:lnSpc>
              </a:pPr>
              <a:r>
                <a:rPr lang="en-US" sz="2199">
                  <a:solidFill>
                    <a:srgbClr val="000000"/>
                  </a:solidFill>
                  <a:latin typeface="Cabin"/>
                  <a:ea typeface="Cabin"/>
                  <a:cs typeface="Cabin"/>
                  <a:sym typeface="Cabin"/>
                </a:rPr>
                <a:t>Quản lý lớp và đánh giá</a:t>
              </a:r>
            </a:p>
          </p:txBody>
        </p:sp>
      </p:grpSp>
      <p:sp>
        <p:nvSpPr>
          <p:cNvPr id="17" name="Freeform 17"/>
          <p:cNvSpPr/>
          <p:nvPr/>
        </p:nvSpPr>
        <p:spPr>
          <a:xfrm>
            <a:off x="-517834" y="389330"/>
            <a:ext cx="3927179" cy="1392364"/>
          </a:xfrm>
          <a:custGeom>
            <a:avLst/>
            <a:gdLst/>
            <a:ahLst/>
            <a:cxnLst/>
            <a:rect l="l" t="t" r="r" b="b"/>
            <a:pathLst>
              <a:path w="3927179" h="1392364">
                <a:moveTo>
                  <a:pt x="0" y="0"/>
                </a:moveTo>
                <a:lnTo>
                  <a:pt x="3927179" y="0"/>
                </a:lnTo>
                <a:lnTo>
                  <a:pt x="3927179" y="1392363"/>
                </a:lnTo>
                <a:lnTo>
                  <a:pt x="0" y="13923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8" name="Freeform 18"/>
          <p:cNvSpPr/>
          <p:nvPr/>
        </p:nvSpPr>
        <p:spPr>
          <a:xfrm>
            <a:off x="14826857" y="8505307"/>
            <a:ext cx="3927179" cy="1392364"/>
          </a:xfrm>
          <a:custGeom>
            <a:avLst/>
            <a:gdLst/>
            <a:ahLst/>
            <a:cxnLst/>
            <a:rect l="l" t="t" r="r" b="b"/>
            <a:pathLst>
              <a:path w="3927179" h="1392364">
                <a:moveTo>
                  <a:pt x="0" y="0"/>
                </a:moveTo>
                <a:lnTo>
                  <a:pt x="3927179" y="0"/>
                </a:lnTo>
                <a:lnTo>
                  <a:pt x="3927179" y="1392363"/>
                </a:lnTo>
                <a:lnTo>
                  <a:pt x="0" y="13923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9" name="TextBox 19"/>
          <p:cNvSpPr txBox="1"/>
          <p:nvPr/>
        </p:nvSpPr>
        <p:spPr>
          <a:xfrm>
            <a:off x="575024" y="3790640"/>
            <a:ext cx="7747962" cy="596900"/>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Chức năng hệ thống</a:t>
            </a:r>
          </a:p>
        </p:txBody>
      </p:sp>
      <p:sp>
        <p:nvSpPr>
          <p:cNvPr id="20" name="TextBox 20"/>
          <p:cNvSpPr txBox="1"/>
          <p:nvPr/>
        </p:nvSpPr>
        <p:spPr>
          <a:xfrm>
            <a:off x="2172258" y="4749416"/>
            <a:ext cx="6779763" cy="4358005"/>
          </a:xfrm>
          <a:prstGeom prst="rect">
            <a:avLst/>
          </a:prstGeom>
        </p:spPr>
        <p:txBody>
          <a:bodyPr lIns="0" tIns="0" rIns="0" bIns="0" rtlCol="0" anchor="t">
            <a:spAutoFit/>
          </a:bodyPr>
          <a:lstStyle/>
          <a:p>
            <a:pPr algn="just">
              <a:lnSpc>
                <a:spcPts val="4399"/>
              </a:lnSpc>
            </a:pPr>
            <a:r>
              <a:rPr lang="en-US" sz="2199">
                <a:solidFill>
                  <a:srgbClr val="000000"/>
                </a:solidFill>
                <a:latin typeface="Cabin"/>
                <a:ea typeface="Cabin"/>
                <a:cs typeface="Cabin"/>
                <a:sym typeface="Cabin"/>
              </a:rPr>
              <a:t>- Quản lý tài khoản người dùng</a:t>
            </a:r>
          </a:p>
          <a:p>
            <a:pPr algn="just">
              <a:lnSpc>
                <a:spcPts val="4399"/>
              </a:lnSpc>
            </a:pPr>
            <a:r>
              <a:rPr lang="en-US" sz="2199">
                <a:solidFill>
                  <a:srgbClr val="000000"/>
                </a:solidFill>
                <a:latin typeface="Cabin"/>
                <a:ea typeface="Cabin"/>
                <a:cs typeface="Cabin"/>
                <a:sym typeface="Cabin"/>
              </a:rPr>
              <a:t>- Quản lý lớp học và sinh viên</a:t>
            </a:r>
          </a:p>
          <a:p>
            <a:pPr algn="just">
              <a:lnSpc>
                <a:spcPts val="4399"/>
              </a:lnSpc>
            </a:pPr>
            <a:r>
              <a:rPr lang="en-US" sz="2199">
                <a:solidFill>
                  <a:srgbClr val="000000"/>
                </a:solidFill>
                <a:latin typeface="Cabin"/>
                <a:ea typeface="Cabin"/>
                <a:cs typeface="Cabin"/>
                <a:sym typeface="Cabin"/>
              </a:rPr>
              <a:t>- Quản lý đề tài và nhóm đồ án</a:t>
            </a:r>
          </a:p>
          <a:p>
            <a:pPr algn="just">
              <a:lnSpc>
                <a:spcPts val="4399"/>
              </a:lnSpc>
            </a:pPr>
            <a:r>
              <a:rPr lang="en-US" sz="2199">
                <a:solidFill>
                  <a:srgbClr val="000000"/>
                </a:solidFill>
                <a:latin typeface="Cabin"/>
                <a:ea typeface="Cabin"/>
                <a:cs typeface="Cabin"/>
                <a:sym typeface="Cabin"/>
              </a:rPr>
              <a:t>- Quản lý đăng ký đề tài</a:t>
            </a:r>
          </a:p>
          <a:p>
            <a:pPr algn="just">
              <a:lnSpc>
                <a:spcPts val="4399"/>
              </a:lnSpc>
            </a:pPr>
            <a:r>
              <a:rPr lang="en-US" sz="2199">
                <a:solidFill>
                  <a:srgbClr val="000000"/>
                </a:solidFill>
                <a:latin typeface="Cabin"/>
                <a:ea typeface="Cabin"/>
                <a:cs typeface="Cabin"/>
                <a:sym typeface="Cabin"/>
              </a:rPr>
              <a:t>- Theo dõi tiến độ</a:t>
            </a:r>
          </a:p>
          <a:p>
            <a:pPr algn="just">
              <a:lnSpc>
                <a:spcPts val="4399"/>
              </a:lnSpc>
            </a:pPr>
            <a:r>
              <a:rPr lang="en-US" sz="2199">
                <a:solidFill>
                  <a:srgbClr val="000000"/>
                </a:solidFill>
                <a:latin typeface="Cabin"/>
                <a:ea typeface="Cabin"/>
                <a:cs typeface="Cabin"/>
                <a:sym typeface="Cabin"/>
              </a:rPr>
              <a:t>- Nộp báo cáo và đồ án cuối kỳ</a:t>
            </a:r>
          </a:p>
          <a:p>
            <a:pPr algn="just">
              <a:lnSpc>
                <a:spcPts val="4399"/>
              </a:lnSpc>
            </a:pPr>
            <a:r>
              <a:rPr lang="en-US" sz="2199">
                <a:solidFill>
                  <a:srgbClr val="000000"/>
                </a:solidFill>
                <a:latin typeface="Cabin"/>
                <a:ea typeface="Cabin"/>
                <a:cs typeface="Cabin"/>
                <a:sym typeface="Cabin"/>
              </a:rPr>
              <a:t>- Nhận xét và đánh giá</a:t>
            </a:r>
          </a:p>
          <a:p>
            <a:pPr algn="just">
              <a:lnSpc>
                <a:spcPts val="4399"/>
              </a:lnSpc>
            </a:pPr>
            <a:endParaRPr lang="en-US" sz="2199">
              <a:solidFill>
                <a:srgbClr val="000000"/>
              </a:solidFill>
              <a:latin typeface="Cabin"/>
              <a:ea typeface="Cabin"/>
              <a:cs typeface="Cabin"/>
              <a:sym typeface="Cabin"/>
            </a:endParaRPr>
          </a:p>
        </p:txBody>
      </p:sp>
      <p:sp>
        <p:nvSpPr>
          <p:cNvPr id="21" name="TextBox 21"/>
          <p:cNvSpPr txBox="1"/>
          <p:nvPr/>
        </p:nvSpPr>
        <p:spPr>
          <a:xfrm>
            <a:off x="8952021" y="3790640"/>
            <a:ext cx="7747962" cy="596900"/>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Đối tượng sử dụng</a:t>
            </a:r>
          </a:p>
        </p:txBody>
      </p:sp>
      <p:sp>
        <p:nvSpPr>
          <p:cNvPr id="22" name="TextBox 22"/>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905495" y="309258"/>
            <a:ext cx="16444937" cy="2360362"/>
            <a:chOff x="0" y="0"/>
            <a:chExt cx="5999157" cy="861067"/>
          </a:xfrm>
          <a:scene3d>
            <a:camera prst="orthographicFront">
              <a:rot lat="0" lon="0" rev="0"/>
            </a:camera>
            <a:lightRig rig="glow" dir="t">
              <a:rot lat="0" lon="0" rev="4800000"/>
            </a:lightRig>
          </a:scene3d>
        </p:grpSpPr>
        <p:sp>
          <p:nvSpPr>
            <p:cNvPr id="4" name="Freeform 4"/>
            <p:cNvSpPr/>
            <p:nvPr/>
          </p:nvSpPr>
          <p:spPr>
            <a:xfrm>
              <a:off x="0" y="0"/>
              <a:ext cx="5999157" cy="861067"/>
            </a:xfrm>
            <a:custGeom>
              <a:avLst/>
              <a:gdLst/>
              <a:ahLst/>
              <a:cxnLst/>
              <a:rect l="l" t="t" r="r" b="b"/>
              <a:pathLst>
                <a:path w="5999157" h="861067">
                  <a:moveTo>
                    <a:pt x="0" y="0"/>
                  </a:moveTo>
                  <a:lnTo>
                    <a:pt x="5999157" y="0"/>
                  </a:lnTo>
                  <a:lnTo>
                    <a:pt x="5999157" y="861067"/>
                  </a:lnTo>
                  <a:lnTo>
                    <a:pt x="0" y="861067"/>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914038" y="2917134"/>
            <a:ext cx="5487744" cy="5757653"/>
            <a:chOff x="0" y="0"/>
            <a:chExt cx="2001944" cy="2100407"/>
          </a:xfrm>
          <a:scene3d>
            <a:camera prst="orthographicFront">
              <a:rot lat="0" lon="0" rev="0"/>
            </a:camera>
            <a:lightRig rig="glow" dir="t">
              <a:rot lat="0" lon="0" rev="4800000"/>
            </a:lightRig>
          </a:scene3d>
        </p:grpSpPr>
        <p:sp>
          <p:nvSpPr>
            <p:cNvPr id="6" name="Freeform 6"/>
            <p:cNvSpPr/>
            <p:nvPr/>
          </p:nvSpPr>
          <p:spPr>
            <a:xfrm>
              <a:off x="0" y="0"/>
              <a:ext cx="2001944" cy="2100407"/>
            </a:xfrm>
            <a:custGeom>
              <a:avLst/>
              <a:gdLst/>
              <a:ahLst/>
              <a:cxnLst/>
              <a:rect l="l" t="t" r="r" b="b"/>
              <a:pathLst>
                <a:path w="2001944" h="2100407">
                  <a:moveTo>
                    <a:pt x="0" y="0"/>
                  </a:moveTo>
                  <a:lnTo>
                    <a:pt x="2001944" y="0"/>
                  </a:lnTo>
                  <a:lnTo>
                    <a:pt x="2001944" y="2100407"/>
                  </a:lnTo>
                  <a:lnTo>
                    <a:pt x="0" y="2100407"/>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7" name="Group 7"/>
          <p:cNvGrpSpPr/>
          <p:nvPr/>
        </p:nvGrpSpPr>
        <p:grpSpPr>
          <a:xfrm>
            <a:off x="11854732" y="2917134"/>
            <a:ext cx="5495700" cy="5757653"/>
            <a:chOff x="0" y="0"/>
            <a:chExt cx="2004846" cy="2100407"/>
          </a:xfrm>
          <a:scene3d>
            <a:camera prst="orthographicFront">
              <a:rot lat="0" lon="0" rev="0"/>
            </a:camera>
            <a:lightRig rig="glow" dir="t">
              <a:rot lat="0" lon="0" rev="4800000"/>
            </a:lightRig>
          </a:scene3d>
        </p:grpSpPr>
        <p:sp>
          <p:nvSpPr>
            <p:cNvPr id="8" name="Freeform 8"/>
            <p:cNvSpPr/>
            <p:nvPr/>
          </p:nvSpPr>
          <p:spPr>
            <a:xfrm>
              <a:off x="0" y="0"/>
              <a:ext cx="2004846" cy="2100407"/>
            </a:xfrm>
            <a:custGeom>
              <a:avLst/>
              <a:gdLst/>
              <a:ahLst/>
              <a:cxnLst/>
              <a:rect l="l" t="t" r="r" b="b"/>
              <a:pathLst>
                <a:path w="2004846" h="2100407">
                  <a:moveTo>
                    <a:pt x="0" y="0"/>
                  </a:moveTo>
                  <a:lnTo>
                    <a:pt x="2004846" y="0"/>
                  </a:lnTo>
                  <a:lnTo>
                    <a:pt x="2004846" y="2100407"/>
                  </a:lnTo>
                  <a:lnTo>
                    <a:pt x="0" y="2100407"/>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9" name="Freeform 9"/>
          <p:cNvSpPr/>
          <p:nvPr/>
        </p:nvSpPr>
        <p:spPr>
          <a:xfrm flipH="1">
            <a:off x="15484919" y="8123782"/>
            <a:ext cx="4585506" cy="1625770"/>
          </a:xfrm>
          <a:custGeom>
            <a:avLst/>
            <a:gdLst/>
            <a:ahLst/>
            <a:cxnLst/>
            <a:rect l="l" t="t" r="r" b="b"/>
            <a:pathLst>
              <a:path w="4585506" h="1625770">
                <a:moveTo>
                  <a:pt x="4585506" y="0"/>
                </a:moveTo>
                <a:lnTo>
                  <a:pt x="0" y="0"/>
                </a:lnTo>
                <a:lnTo>
                  <a:pt x="0" y="1625770"/>
                </a:lnTo>
                <a:lnTo>
                  <a:pt x="4585506" y="1625770"/>
                </a:lnTo>
                <a:lnTo>
                  <a:pt x="4585506"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1782425" y="8123782"/>
            <a:ext cx="4585506" cy="1625770"/>
          </a:xfrm>
          <a:custGeom>
            <a:avLst/>
            <a:gdLst/>
            <a:ahLst/>
            <a:cxnLst/>
            <a:rect l="l" t="t" r="r" b="b"/>
            <a:pathLst>
              <a:path w="4585506" h="1625770">
                <a:moveTo>
                  <a:pt x="0" y="0"/>
                </a:moveTo>
                <a:lnTo>
                  <a:pt x="4585506" y="0"/>
                </a:lnTo>
                <a:lnTo>
                  <a:pt x="4585506" y="1625770"/>
                </a:lnTo>
                <a:lnTo>
                  <a:pt x="0" y="162577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8923192" y="-166829"/>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2" name="Group 12"/>
          <p:cNvGrpSpPr/>
          <p:nvPr/>
        </p:nvGrpSpPr>
        <p:grpSpPr>
          <a:xfrm>
            <a:off x="6393239" y="2917134"/>
            <a:ext cx="5461493" cy="5757653"/>
            <a:chOff x="0" y="0"/>
            <a:chExt cx="1992367" cy="2100407"/>
          </a:xfrm>
        </p:grpSpPr>
        <p:sp>
          <p:nvSpPr>
            <p:cNvPr id="13" name="Freeform 13"/>
            <p:cNvSpPr/>
            <p:nvPr/>
          </p:nvSpPr>
          <p:spPr>
            <a:xfrm>
              <a:off x="0" y="0"/>
              <a:ext cx="1992367" cy="2100407"/>
            </a:xfrm>
            <a:custGeom>
              <a:avLst/>
              <a:gdLst/>
              <a:ahLst/>
              <a:cxnLst/>
              <a:rect l="l" t="t" r="r" b="b"/>
              <a:pathLst>
                <a:path w="1992367" h="2100407">
                  <a:moveTo>
                    <a:pt x="0" y="0"/>
                  </a:moveTo>
                  <a:lnTo>
                    <a:pt x="1992367" y="0"/>
                  </a:lnTo>
                  <a:lnTo>
                    <a:pt x="1992367" y="2100407"/>
                  </a:lnTo>
                  <a:lnTo>
                    <a:pt x="0" y="2100407"/>
                  </a:lnTo>
                  <a:close/>
                </a:path>
              </a:pathLst>
            </a:custGeom>
            <a:solidFill>
              <a:srgbClr val="FFFFFF"/>
            </a:solidFill>
          </p:spPr>
        </p:sp>
      </p:grpSp>
      <p:sp>
        <p:nvSpPr>
          <p:cNvPr id="14" name="Freeform 14"/>
          <p:cNvSpPr/>
          <p:nvPr/>
        </p:nvSpPr>
        <p:spPr>
          <a:xfrm>
            <a:off x="2102251" y="3602183"/>
            <a:ext cx="14043469" cy="3043284"/>
          </a:xfrm>
          <a:custGeom>
            <a:avLst/>
            <a:gdLst/>
            <a:ahLst/>
            <a:cxnLst/>
            <a:rect l="l" t="t" r="r" b="b"/>
            <a:pathLst>
              <a:path w="14043469" h="3043284">
                <a:moveTo>
                  <a:pt x="0" y="0"/>
                </a:moveTo>
                <a:lnTo>
                  <a:pt x="14043469" y="0"/>
                </a:lnTo>
                <a:lnTo>
                  <a:pt x="14043469" y="3043284"/>
                </a:lnTo>
                <a:lnTo>
                  <a:pt x="0" y="3043284"/>
                </a:lnTo>
                <a:lnTo>
                  <a:pt x="0" y="0"/>
                </a:lnTo>
                <a:close/>
              </a:path>
            </a:pathLst>
          </a:custGeom>
          <a:blipFill>
            <a:blip r:embed="rId6"/>
            <a:stretch>
              <a:fillRect t="-6017" b="-67447"/>
            </a:stretch>
          </a:blipFill>
        </p:spPr>
      </p:sp>
      <p:sp>
        <p:nvSpPr>
          <p:cNvPr id="15" name="TextBox 15"/>
          <p:cNvSpPr txBox="1"/>
          <p:nvPr/>
        </p:nvSpPr>
        <p:spPr>
          <a:xfrm>
            <a:off x="2731889" y="375014"/>
            <a:ext cx="13265837" cy="2133600"/>
          </a:xfrm>
          <a:prstGeom prst="rect">
            <a:avLst/>
          </a:prstGeom>
        </p:spPr>
        <p:txBody>
          <a:bodyPr lIns="0" tIns="0" rIns="0" bIns="0" rtlCol="0" anchor="t">
            <a:spAutoFit/>
          </a:bodyPr>
          <a:lstStyle/>
          <a:p>
            <a:pPr algn="ctr">
              <a:lnSpc>
                <a:spcPts val="8400"/>
              </a:lnSpc>
            </a:pPr>
            <a:r>
              <a:rPr lang="en-US" sz="7000" b="1">
                <a:solidFill>
                  <a:srgbClr val="003EA8"/>
                </a:solidFill>
                <a:latin typeface="Muli Bold"/>
                <a:ea typeface="Muli Bold"/>
                <a:cs typeface="Muli Bold"/>
                <a:sym typeface="Muli Bold"/>
              </a:rPr>
              <a:t>Phân Tích Yêu Cầu </a:t>
            </a:r>
          </a:p>
          <a:p>
            <a:pPr algn="ctr">
              <a:lnSpc>
                <a:spcPts val="8400"/>
              </a:lnSpc>
            </a:pPr>
            <a:r>
              <a:rPr lang="en-US" sz="7000" b="1">
                <a:solidFill>
                  <a:srgbClr val="003EA8"/>
                </a:solidFill>
                <a:latin typeface="Muli Bold"/>
                <a:ea typeface="Muli Bold"/>
                <a:cs typeface="Muli Bold"/>
                <a:sym typeface="Muli Bold"/>
              </a:rPr>
              <a:t>Quy Trình Nghiệp Vụ</a:t>
            </a:r>
          </a:p>
        </p:txBody>
      </p:sp>
      <p:sp>
        <p:nvSpPr>
          <p:cNvPr id="16" name="TextBox 16"/>
          <p:cNvSpPr txBox="1"/>
          <p:nvPr/>
        </p:nvSpPr>
        <p:spPr>
          <a:xfrm>
            <a:off x="2805766" y="3090860"/>
            <a:ext cx="12679152" cy="388620"/>
          </a:xfrm>
          <a:prstGeom prst="rect">
            <a:avLst/>
          </a:prstGeom>
        </p:spPr>
        <p:txBody>
          <a:bodyPr lIns="0" tIns="0" rIns="0" bIns="0" rtlCol="0" anchor="t">
            <a:spAutoFit/>
          </a:bodyPr>
          <a:lstStyle/>
          <a:p>
            <a:pPr algn="ctr">
              <a:lnSpc>
                <a:spcPts val="3119"/>
              </a:lnSpc>
            </a:pPr>
            <a:r>
              <a:rPr lang="en-US" sz="2399" dirty="0" err="1">
                <a:solidFill>
                  <a:srgbClr val="000000"/>
                </a:solidFill>
                <a:latin typeface="Cabin"/>
                <a:ea typeface="Cabin"/>
                <a:cs typeface="Cabin"/>
                <a:sym typeface="Cabin"/>
              </a:rPr>
              <a:t>Đây</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là</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luồng</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chính</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xuyên</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suốt</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hệ</a:t>
            </a:r>
            <a:r>
              <a:rPr lang="en-US" sz="2399" dirty="0">
                <a:solidFill>
                  <a:srgbClr val="000000"/>
                </a:solidFill>
                <a:latin typeface="Cabin"/>
                <a:ea typeface="Cabin"/>
                <a:cs typeface="Cabin"/>
                <a:sym typeface="Cabin"/>
              </a:rPr>
              <a:t> </a:t>
            </a:r>
            <a:r>
              <a:rPr lang="en-US" sz="2399" dirty="0" err="1">
                <a:solidFill>
                  <a:srgbClr val="000000"/>
                </a:solidFill>
                <a:latin typeface="Cabin"/>
                <a:ea typeface="Cabin"/>
                <a:cs typeface="Cabin"/>
                <a:sym typeface="Cabin"/>
              </a:rPr>
              <a:t>thống</a:t>
            </a:r>
            <a:r>
              <a:rPr lang="en-US" sz="2399" dirty="0">
                <a:solidFill>
                  <a:srgbClr val="000000"/>
                </a:solidFill>
                <a:latin typeface="Cabin"/>
                <a:ea typeface="Cabin"/>
                <a:cs typeface="Cabin"/>
                <a:sym typeface="Cabin"/>
              </a:rPr>
              <a:t>.</a:t>
            </a:r>
          </a:p>
        </p:txBody>
      </p:sp>
      <p:sp>
        <p:nvSpPr>
          <p:cNvPr id="17" name="TextBox 17"/>
          <p:cNvSpPr txBox="1"/>
          <p:nvPr/>
        </p:nvSpPr>
        <p:spPr>
          <a:xfrm>
            <a:off x="1595472" y="6626417"/>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Đăng nhập</a:t>
            </a:r>
          </a:p>
        </p:txBody>
      </p:sp>
      <p:sp>
        <p:nvSpPr>
          <p:cNvPr id="18" name="TextBox 18"/>
          <p:cNvSpPr txBox="1"/>
          <p:nvPr/>
        </p:nvSpPr>
        <p:spPr>
          <a:xfrm>
            <a:off x="4199745" y="6626417"/>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Tham gia lớp</a:t>
            </a:r>
          </a:p>
        </p:txBody>
      </p:sp>
      <p:sp>
        <p:nvSpPr>
          <p:cNvPr id="19" name="TextBox 19"/>
          <p:cNvSpPr txBox="1"/>
          <p:nvPr/>
        </p:nvSpPr>
        <p:spPr>
          <a:xfrm>
            <a:off x="6725102" y="6626417"/>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Xem đề tài</a:t>
            </a:r>
          </a:p>
        </p:txBody>
      </p:sp>
      <p:sp>
        <p:nvSpPr>
          <p:cNvPr id="20" name="TextBox 20"/>
          <p:cNvSpPr txBox="1"/>
          <p:nvPr/>
        </p:nvSpPr>
        <p:spPr>
          <a:xfrm>
            <a:off x="9652695" y="6626417"/>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Tạo/Tham gia nhóm</a:t>
            </a:r>
          </a:p>
        </p:txBody>
      </p:sp>
      <p:sp>
        <p:nvSpPr>
          <p:cNvPr id="21" name="TextBox 21"/>
          <p:cNvSpPr txBox="1"/>
          <p:nvPr/>
        </p:nvSpPr>
        <p:spPr>
          <a:xfrm>
            <a:off x="12400545" y="6626417"/>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Đăng ký đề tài</a:t>
            </a:r>
          </a:p>
        </p:txBody>
      </p:sp>
      <p:sp>
        <p:nvSpPr>
          <p:cNvPr id="22" name="TextBox 22"/>
          <p:cNvSpPr txBox="1"/>
          <p:nvPr/>
        </p:nvSpPr>
        <p:spPr>
          <a:xfrm>
            <a:off x="3025232" y="7665276"/>
            <a:ext cx="12679152" cy="779145"/>
          </a:xfrm>
          <a:prstGeom prst="rect">
            <a:avLst/>
          </a:prstGeom>
        </p:spPr>
        <p:txBody>
          <a:bodyPr lIns="0" tIns="0" rIns="0" bIns="0" rtlCol="0" anchor="t">
            <a:spAutoFit/>
          </a:bodyPr>
          <a:lstStyle/>
          <a:p>
            <a:pPr algn="ctr">
              <a:lnSpc>
                <a:spcPts val="3119"/>
              </a:lnSpc>
            </a:pPr>
            <a:r>
              <a:rPr lang="en-US" sz="2399">
                <a:solidFill>
                  <a:srgbClr val="000000"/>
                </a:solidFill>
                <a:latin typeface="Cabin"/>
                <a:ea typeface="Cabin"/>
                <a:cs typeface="Cabin"/>
                <a:sym typeface="Cabin"/>
              </a:rPr>
              <a:t>Luồng nghiệp vụ bắt đầu từ đăng nhập, qua các bước đăng ký và thực hiện đồ án, kết thúc bằng nộp đồ án cuối kỳ và nhận đánh giá từ giảng viên.</a:t>
            </a:r>
          </a:p>
        </p:txBody>
      </p:sp>
      <p:sp>
        <p:nvSpPr>
          <p:cNvPr id="23" name="TextBox 23"/>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905495" y="657204"/>
            <a:ext cx="16436355" cy="1907038"/>
            <a:chOff x="0" y="0"/>
            <a:chExt cx="5996027" cy="695693"/>
          </a:xfrm>
          <a:scene3d>
            <a:camera prst="orthographicFront">
              <a:rot lat="0" lon="0" rev="0"/>
            </a:camera>
            <a:lightRig rig="glow" dir="t">
              <a:rot lat="0" lon="0" rev="4800000"/>
            </a:lightRig>
          </a:scene3d>
        </p:grpSpPr>
        <p:sp>
          <p:nvSpPr>
            <p:cNvPr id="4" name="Freeform 4"/>
            <p:cNvSpPr/>
            <p:nvPr/>
          </p:nvSpPr>
          <p:spPr>
            <a:xfrm>
              <a:off x="0" y="0"/>
              <a:ext cx="5996027" cy="695693"/>
            </a:xfrm>
            <a:custGeom>
              <a:avLst/>
              <a:gdLst/>
              <a:ahLst/>
              <a:cxnLst/>
              <a:rect l="l" t="t" r="r" b="b"/>
              <a:pathLst>
                <a:path w="5996027" h="695693">
                  <a:moveTo>
                    <a:pt x="0" y="0"/>
                  </a:moveTo>
                  <a:lnTo>
                    <a:pt x="5996027" y="0"/>
                  </a:lnTo>
                  <a:lnTo>
                    <a:pt x="5996027" y="695693"/>
                  </a:lnTo>
                  <a:lnTo>
                    <a:pt x="0" y="69569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905495" y="2924154"/>
            <a:ext cx="16436355" cy="5768915"/>
            <a:chOff x="0" y="0"/>
            <a:chExt cx="5996027" cy="2104516"/>
          </a:xfrm>
          <a:scene3d>
            <a:camera prst="orthographicFront">
              <a:rot lat="0" lon="0" rev="0"/>
            </a:camera>
            <a:lightRig rig="glow" dir="t">
              <a:rot lat="0" lon="0" rev="4800000"/>
            </a:lightRig>
          </a:scene3d>
        </p:grpSpPr>
        <p:sp>
          <p:nvSpPr>
            <p:cNvPr id="6" name="Freeform 6"/>
            <p:cNvSpPr/>
            <p:nvPr/>
          </p:nvSpPr>
          <p:spPr>
            <a:xfrm>
              <a:off x="0" y="0"/>
              <a:ext cx="5996027" cy="2104516"/>
            </a:xfrm>
            <a:custGeom>
              <a:avLst/>
              <a:gdLst/>
              <a:ahLst/>
              <a:cxnLst/>
              <a:rect l="l" t="t" r="r" b="b"/>
              <a:pathLst>
                <a:path w="5996027" h="2104516">
                  <a:moveTo>
                    <a:pt x="0" y="0"/>
                  </a:moveTo>
                  <a:lnTo>
                    <a:pt x="5996027" y="0"/>
                  </a:lnTo>
                  <a:lnTo>
                    <a:pt x="5996027" y="2104516"/>
                  </a:lnTo>
                  <a:lnTo>
                    <a:pt x="0" y="2104516"/>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7" name="Freeform 7"/>
          <p:cNvSpPr/>
          <p:nvPr/>
        </p:nvSpPr>
        <p:spPr>
          <a:xfrm>
            <a:off x="8060822" y="3493441"/>
            <a:ext cx="1297044" cy="1421065"/>
          </a:xfrm>
          <a:custGeom>
            <a:avLst/>
            <a:gdLst/>
            <a:ahLst/>
            <a:cxnLst/>
            <a:rect l="l" t="t" r="r" b="b"/>
            <a:pathLst>
              <a:path w="1297044" h="1421065">
                <a:moveTo>
                  <a:pt x="0" y="0"/>
                </a:moveTo>
                <a:lnTo>
                  <a:pt x="1297044" y="0"/>
                </a:lnTo>
                <a:lnTo>
                  <a:pt x="1297044" y="1421065"/>
                </a:lnTo>
                <a:lnTo>
                  <a:pt x="0" y="142106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flipH="1">
            <a:off x="13216595" y="3493441"/>
            <a:ext cx="1286709" cy="1421065"/>
          </a:xfrm>
          <a:custGeom>
            <a:avLst/>
            <a:gdLst/>
            <a:ahLst/>
            <a:cxnLst/>
            <a:rect l="l" t="t" r="r" b="b"/>
            <a:pathLst>
              <a:path w="1286709" h="1421065">
                <a:moveTo>
                  <a:pt x="1286710" y="0"/>
                </a:moveTo>
                <a:lnTo>
                  <a:pt x="0" y="0"/>
                </a:lnTo>
                <a:lnTo>
                  <a:pt x="0" y="1421065"/>
                </a:lnTo>
                <a:lnTo>
                  <a:pt x="1286710" y="1421065"/>
                </a:lnTo>
                <a:lnTo>
                  <a:pt x="128671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2803081" y="3493441"/>
            <a:ext cx="1390174" cy="1324457"/>
          </a:xfrm>
          <a:custGeom>
            <a:avLst/>
            <a:gdLst/>
            <a:ahLst/>
            <a:cxnLst/>
            <a:rect l="l" t="t" r="r" b="b"/>
            <a:pathLst>
              <a:path w="1390174" h="1324457">
                <a:moveTo>
                  <a:pt x="0" y="0"/>
                </a:moveTo>
                <a:lnTo>
                  <a:pt x="1390175" y="0"/>
                </a:lnTo>
                <a:lnTo>
                  <a:pt x="1390175" y="1324457"/>
                </a:lnTo>
                <a:lnTo>
                  <a:pt x="0" y="132445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2391317" y="1086848"/>
            <a:ext cx="13505366" cy="1038225"/>
          </a:xfrm>
          <a:prstGeom prst="rect">
            <a:avLst/>
          </a:prstGeom>
        </p:spPr>
        <p:txBody>
          <a:bodyPr lIns="0" tIns="0" rIns="0" bIns="0" rtlCol="0" anchor="t">
            <a:spAutoFit/>
          </a:bodyPr>
          <a:lstStyle/>
          <a:p>
            <a:pPr algn="ctr">
              <a:lnSpc>
                <a:spcPts val="8100"/>
              </a:lnSpc>
            </a:pPr>
            <a:r>
              <a:rPr lang="en-US" sz="6750" b="1">
                <a:solidFill>
                  <a:srgbClr val="003EA8"/>
                </a:solidFill>
                <a:latin typeface="Muli Bold"/>
                <a:ea typeface="Muli Bold"/>
                <a:cs typeface="Muli Bold"/>
                <a:sym typeface="Muli Bold"/>
              </a:rPr>
              <a:t>Chức Năng Hệ Thống</a:t>
            </a:r>
          </a:p>
        </p:txBody>
      </p:sp>
      <p:grpSp>
        <p:nvGrpSpPr>
          <p:cNvPr id="11" name="Group 11"/>
          <p:cNvGrpSpPr/>
          <p:nvPr/>
        </p:nvGrpSpPr>
        <p:grpSpPr>
          <a:xfrm>
            <a:off x="1993038" y="4914506"/>
            <a:ext cx="4400437" cy="3266426"/>
            <a:chOff x="0" y="0"/>
            <a:chExt cx="5867249" cy="4355235"/>
          </a:xfrm>
        </p:grpSpPr>
        <p:sp>
          <p:nvSpPr>
            <p:cNvPr id="12" name="TextBox 12"/>
            <p:cNvSpPr txBox="1"/>
            <p:nvPr/>
          </p:nvSpPr>
          <p:spPr>
            <a:xfrm>
              <a:off x="0" y="-152400"/>
              <a:ext cx="5867249" cy="842433"/>
            </a:xfrm>
            <a:prstGeom prst="rect">
              <a:avLst/>
            </a:prstGeom>
          </p:spPr>
          <p:txBody>
            <a:bodyPr lIns="0" tIns="0" rIns="0" bIns="0" rtlCol="0" anchor="t">
              <a:spAutoFit/>
            </a:bodyPr>
            <a:lstStyle/>
            <a:p>
              <a:pPr algn="l">
                <a:lnSpc>
                  <a:spcPts val="5780"/>
                </a:lnSpc>
              </a:pPr>
              <a:r>
                <a:rPr lang="en-US" sz="3400" b="1">
                  <a:solidFill>
                    <a:srgbClr val="003EA8"/>
                  </a:solidFill>
                  <a:latin typeface="Muli Bold"/>
                  <a:ea typeface="Muli Bold"/>
                  <a:cs typeface="Muli Bold"/>
                  <a:sym typeface="Muli Bold"/>
                </a:rPr>
                <a:t>🎓 Student</a:t>
              </a:r>
            </a:p>
          </p:txBody>
        </p:sp>
        <p:sp>
          <p:nvSpPr>
            <p:cNvPr id="13" name="TextBox 13"/>
            <p:cNvSpPr txBox="1"/>
            <p:nvPr/>
          </p:nvSpPr>
          <p:spPr>
            <a:xfrm>
              <a:off x="0" y="710969"/>
              <a:ext cx="5867249" cy="3652309"/>
            </a:xfrm>
            <a:prstGeom prst="rect">
              <a:avLst/>
            </a:prstGeom>
          </p:spPr>
          <p:txBody>
            <a:bodyPr lIns="0" tIns="0" rIns="0" bIns="0" rtlCol="0" anchor="t">
              <a:spAutoFit/>
            </a:bodyPr>
            <a:lstStyle/>
            <a:p>
              <a:pPr algn="l">
                <a:lnSpc>
                  <a:spcPts val="3739"/>
                </a:lnSpc>
              </a:pPr>
              <a:r>
                <a:rPr lang="en-US" sz="2199">
                  <a:solidFill>
                    <a:srgbClr val="000000"/>
                  </a:solidFill>
                  <a:latin typeface="Cabin"/>
                  <a:ea typeface="Cabin"/>
                  <a:cs typeface="Cabin"/>
                  <a:sym typeface="Cabin"/>
                </a:rPr>
                <a:t>- Đăng nhập &amp; tham gia lớp</a:t>
              </a:r>
            </a:p>
            <a:p>
              <a:pPr algn="l">
                <a:lnSpc>
                  <a:spcPts val="3739"/>
                </a:lnSpc>
              </a:pPr>
              <a:r>
                <a:rPr lang="en-US" sz="2199">
                  <a:solidFill>
                    <a:srgbClr val="000000"/>
                  </a:solidFill>
                  <a:latin typeface="Cabin"/>
                  <a:ea typeface="Cabin"/>
                  <a:cs typeface="Cabin"/>
                  <a:sym typeface="Cabin"/>
                </a:rPr>
                <a:t>- Xem &amp; đăng ký đề tài</a:t>
              </a:r>
            </a:p>
            <a:p>
              <a:pPr algn="l">
                <a:lnSpc>
                  <a:spcPts val="3739"/>
                </a:lnSpc>
              </a:pPr>
              <a:r>
                <a:rPr lang="en-US" sz="2199">
                  <a:solidFill>
                    <a:srgbClr val="000000"/>
                  </a:solidFill>
                  <a:latin typeface="Cabin"/>
                  <a:ea typeface="Cabin"/>
                  <a:cs typeface="Cabin"/>
                  <a:sym typeface="Cabin"/>
                </a:rPr>
                <a:t>- Quản lý nhóm</a:t>
              </a:r>
            </a:p>
            <a:p>
              <a:pPr algn="l">
                <a:lnSpc>
                  <a:spcPts val="3739"/>
                </a:lnSpc>
              </a:pPr>
              <a:r>
                <a:rPr lang="en-US" sz="2199">
                  <a:solidFill>
                    <a:srgbClr val="000000"/>
                  </a:solidFill>
                  <a:latin typeface="Cabin"/>
                  <a:ea typeface="Cabin"/>
                  <a:cs typeface="Cabin"/>
                  <a:sym typeface="Cabin"/>
                </a:rPr>
                <a:t>- Theo dõi milestone</a:t>
              </a:r>
            </a:p>
            <a:p>
              <a:pPr algn="l">
                <a:lnSpc>
                  <a:spcPts val="3739"/>
                </a:lnSpc>
              </a:pPr>
              <a:r>
                <a:rPr lang="en-US" sz="2199">
                  <a:solidFill>
                    <a:srgbClr val="000000"/>
                  </a:solidFill>
                  <a:latin typeface="Cabin"/>
                  <a:ea typeface="Cabin"/>
                  <a:cs typeface="Cabin"/>
                  <a:sym typeface="Cabin"/>
                </a:rPr>
                <a:t>- Nộp báo cáo &amp; đồ án</a:t>
              </a:r>
            </a:p>
            <a:p>
              <a:pPr algn="l">
                <a:lnSpc>
                  <a:spcPts val="3739"/>
                </a:lnSpc>
              </a:pPr>
              <a:r>
                <a:rPr lang="en-US" sz="2199">
                  <a:solidFill>
                    <a:srgbClr val="000000"/>
                  </a:solidFill>
                  <a:latin typeface="Cabin"/>
                  <a:ea typeface="Cabin"/>
                  <a:cs typeface="Cabin"/>
                  <a:sym typeface="Cabin"/>
                </a:rPr>
                <a:t>- Xem điểm / phản hồi</a:t>
              </a:r>
            </a:p>
          </p:txBody>
        </p:sp>
      </p:grpSp>
      <p:grpSp>
        <p:nvGrpSpPr>
          <p:cNvPr id="14" name="Group 14"/>
          <p:cNvGrpSpPr/>
          <p:nvPr/>
        </p:nvGrpSpPr>
        <p:grpSpPr>
          <a:xfrm>
            <a:off x="7562153" y="4914506"/>
            <a:ext cx="4516020" cy="3266426"/>
            <a:chOff x="0" y="0"/>
            <a:chExt cx="6021360" cy="4355235"/>
          </a:xfrm>
        </p:grpSpPr>
        <p:sp>
          <p:nvSpPr>
            <p:cNvPr id="15" name="TextBox 15"/>
            <p:cNvSpPr txBox="1"/>
            <p:nvPr/>
          </p:nvSpPr>
          <p:spPr>
            <a:xfrm>
              <a:off x="0" y="-152400"/>
              <a:ext cx="6021360" cy="842433"/>
            </a:xfrm>
            <a:prstGeom prst="rect">
              <a:avLst/>
            </a:prstGeom>
          </p:spPr>
          <p:txBody>
            <a:bodyPr lIns="0" tIns="0" rIns="0" bIns="0" rtlCol="0" anchor="t">
              <a:spAutoFit/>
            </a:bodyPr>
            <a:lstStyle/>
            <a:p>
              <a:pPr algn="l">
                <a:lnSpc>
                  <a:spcPts val="5780"/>
                </a:lnSpc>
              </a:pPr>
              <a:r>
                <a:rPr lang="en-US" sz="3400" b="1">
                  <a:solidFill>
                    <a:srgbClr val="003EA8"/>
                  </a:solidFill>
                  <a:latin typeface="Muli Bold"/>
                  <a:ea typeface="Muli Bold"/>
                  <a:cs typeface="Muli Bold"/>
                  <a:sym typeface="Muli Bold"/>
                </a:rPr>
                <a:t>👨‍🏫 Teacher</a:t>
              </a:r>
            </a:p>
          </p:txBody>
        </p:sp>
        <p:sp>
          <p:nvSpPr>
            <p:cNvPr id="16" name="TextBox 16"/>
            <p:cNvSpPr txBox="1"/>
            <p:nvPr/>
          </p:nvSpPr>
          <p:spPr>
            <a:xfrm>
              <a:off x="0" y="710969"/>
              <a:ext cx="6021360" cy="3652309"/>
            </a:xfrm>
            <a:prstGeom prst="rect">
              <a:avLst/>
            </a:prstGeom>
          </p:spPr>
          <p:txBody>
            <a:bodyPr lIns="0" tIns="0" rIns="0" bIns="0" rtlCol="0" anchor="t">
              <a:spAutoFit/>
            </a:bodyPr>
            <a:lstStyle/>
            <a:p>
              <a:pPr algn="l">
                <a:lnSpc>
                  <a:spcPts val="3739"/>
                </a:lnSpc>
              </a:pPr>
              <a:r>
                <a:rPr lang="en-US" sz="2199">
                  <a:solidFill>
                    <a:srgbClr val="000000"/>
                  </a:solidFill>
                  <a:latin typeface="Cabin"/>
                  <a:ea typeface="Cabin"/>
                  <a:cs typeface="Cabin"/>
                  <a:sym typeface="Cabin"/>
                </a:rPr>
                <a:t>- Quản lý lớp</a:t>
              </a:r>
            </a:p>
            <a:p>
              <a:pPr algn="l">
                <a:lnSpc>
                  <a:spcPts val="3739"/>
                </a:lnSpc>
              </a:pPr>
              <a:r>
                <a:rPr lang="en-US" sz="2199">
                  <a:solidFill>
                    <a:srgbClr val="000000"/>
                  </a:solidFill>
                  <a:latin typeface="Cabin"/>
                  <a:ea typeface="Cabin"/>
                  <a:cs typeface="Cabin"/>
                  <a:sym typeface="Cabin"/>
                </a:rPr>
                <a:t>- Quản lý đề tài</a:t>
              </a:r>
            </a:p>
            <a:p>
              <a:pPr algn="l">
                <a:lnSpc>
                  <a:spcPts val="3739"/>
                </a:lnSpc>
              </a:pPr>
              <a:r>
                <a:rPr lang="en-US" sz="2199">
                  <a:solidFill>
                    <a:srgbClr val="000000"/>
                  </a:solidFill>
                  <a:latin typeface="Cabin"/>
                  <a:ea typeface="Cabin"/>
                  <a:cs typeface="Cabin"/>
                  <a:sym typeface="Cabin"/>
                </a:rPr>
                <a:t>- Duyệt đăng ký</a:t>
              </a:r>
            </a:p>
            <a:p>
              <a:pPr algn="l">
                <a:lnSpc>
                  <a:spcPts val="3739"/>
                </a:lnSpc>
              </a:pPr>
              <a:r>
                <a:rPr lang="en-US" sz="2199">
                  <a:solidFill>
                    <a:srgbClr val="000000"/>
                  </a:solidFill>
                  <a:latin typeface="Cabin"/>
                  <a:ea typeface="Cabin"/>
                  <a:cs typeface="Cabin"/>
                  <a:sym typeface="Cabin"/>
                </a:rPr>
                <a:t>- Quản lý nhóm</a:t>
              </a:r>
            </a:p>
            <a:p>
              <a:pPr algn="l">
                <a:lnSpc>
                  <a:spcPts val="3739"/>
                </a:lnSpc>
              </a:pPr>
              <a:r>
                <a:rPr lang="en-US" sz="2199">
                  <a:solidFill>
                    <a:srgbClr val="000000"/>
                  </a:solidFill>
                  <a:latin typeface="Cabin"/>
                  <a:ea typeface="Cabin"/>
                  <a:cs typeface="Cabin"/>
                  <a:sym typeface="Cabin"/>
                </a:rPr>
                <a:t>- Quản lý tiến độ</a:t>
              </a:r>
            </a:p>
            <a:p>
              <a:pPr algn="l">
                <a:lnSpc>
                  <a:spcPts val="3739"/>
                </a:lnSpc>
              </a:pPr>
              <a:r>
                <a:rPr lang="en-US" sz="2199">
                  <a:solidFill>
                    <a:srgbClr val="000000"/>
                  </a:solidFill>
                  <a:latin typeface="Cabin"/>
                  <a:ea typeface="Cabin"/>
                  <a:cs typeface="Cabin"/>
                  <a:sym typeface="Cabin"/>
                </a:rPr>
                <a:t>- Chấm điểm</a:t>
              </a:r>
            </a:p>
          </p:txBody>
        </p:sp>
      </p:grpSp>
      <p:grpSp>
        <p:nvGrpSpPr>
          <p:cNvPr id="17" name="Group 17"/>
          <p:cNvGrpSpPr/>
          <p:nvPr/>
        </p:nvGrpSpPr>
        <p:grpSpPr>
          <a:xfrm>
            <a:off x="12585337" y="4914506"/>
            <a:ext cx="4501572" cy="1362061"/>
            <a:chOff x="0" y="0"/>
            <a:chExt cx="6002096" cy="1816082"/>
          </a:xfrm>
        </p:grpSpPr>
        <p:sp>
          <p:nvSpPr>
            <p:cNvPr id="18" name="TextBox 18"/>
            <p:cNvSpPr txBox="1"/>
            <p:nvPr/>
          </p:nvSpPr>
          <p:spPr>
            <a:xfrm>
              <a:off x="0" y="9525"/>
              <a:ext cx="6002096" cy="676275"/>
            </a:xfrm>
            <a:prstGeom prst="rect">
              <a:avLst/>
            </a:prstGeom>
          </p:spPr>
          <p:txBody>
            <a:bodyPr lIns="0" tIns="0" rIns="0" bIns="0" rtlCol="0" anchor="t">
              <a:spAutoFit/>
            </a:bodyPr>
            <a:lstStyle/>
            <a:p>
              <a:pPr algn="l">
                <a:lnSpc>
                  <a:spcPts val="4080"/>
                </a:lnSpc>
              </a:pPr>
              <a:r>
                <a:rPr lang="en-US" sz="3400" b="1">
                  <a:solidFill>
                    <a:srgbClr val="003EA8"/>
                  </a:solidFill>
                  <a:latin typeface="Muli Bold"/>
                  <a:ea typeface="Muli Bold"/>
                  <a:cs typeface="Muli Bold"/>
                  <a:sym typeface="Muli Bold"/>
                </a:rPr>
                <a:t>⚙️ Admin</a:t>
              </a:r>
            </a:p>
          </p:txBody>
        </p:sp>
        <p:sp>
          <p:nvSpPr>
            <p:cNvPr id="19" name="TextBox 19"/>
            <p:cNvSpPr txBox="1"/>
            <p:nvPr/>
          </p:nvSpPr>
          <p:spPr>
            <a:xfrm>
              <a:off x="0" y="792461"/>
              <a:ext cx="6002096" cy="1031663"/>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 Quản lý người dùng</a:t>
              </a:r>
            </a:p>
            <a:p>
              <a:pPr algn="l">
                <a:lnSpc>
                  <a:spcPts val="3959"/>
                </a:lnSpc>
              </a:pPr>
              <a:r>
                <a:rPr lang="en-US" sz="2199">
                  <a:solidFill>
                    <a:srgbClr val="000000"/>
                  </a:solidFill>
                  <a:latin typeface="Cabin"/>
                  <a:ea typeface="Cabin"/>
                  <a:cs typeface="Cabin"/>
                  <a:sym typeface="Cabin"/>
                </a:rPr>
                <a:t>- Quản lý dữ liệu hệ thống</a:t>
              </a:r>
            </a:p>
          </p:txBody>
        </p:sp>
      </p:grpSp>
      <p:sp>
        <p:nvSpPr>
          <p:cNvPr id="20" name="Freeform 20"/>
          <p:cNvSpPr/>
          <p:nvPr/>
        </p:nvSpPr>
        <p:spPr>
          <a:xfrm flipH="1">
            <a:off x="15484919" y="8123782"/>
            <a:ext cx="4585506" cy="1625770"/>
          </a:xfrm>
          <a:custGeom>
            <a:avLst/>
            <a:gdLst/>
            <a:ahLst/>
            <a:cxnLst/>
            <a:rect l="l" t="t" r="r" b="b"/>
            <a:pathLst>
              <a:path w="4585506" h="1625770">
                <a:moveTo>
                  <a:pt x="4585506" y="0"/>
                </a:moveTo>
                <a:lnTo>
                  <a:pt x="0" y="0"/>
                </a:lnTo>
                <a:lnTo>
                  <a:pt x="0" y="1625770"/>
                </a:lnTo>
                <a:lnTo>
                  <a:pt x="4585506" y="1625770"/>
                </a:lnTo>
                <a:lnTo>
                  <a:pt x="4585506" y="0"/>
                </a:lnTo>
                <a:close/>
              </a:path>
            </a:pathLst>
          </a:custGeom>
          <a:blipFill>
            <a:blip>
              <a:extLst>
                <a:ext uri="{96DAC541-7B7A-43D3-8B79-37D633B846F1}">
                  <asvg:svgBlip xmlns:asvg="http://schemas.microsoft.com/office/drawing/2016/SVG/main" r:embed="rId7"/>
                </a:ext>
              </a:extLst>
            </a:blip>
            <a:stretch>
              <a:fillRect/>
            </a:stretch>
          </a:blipFill>
        </p:spPr>
      </p:sp>
      <p:sp>
        <p:nvSpPr>
          <p:cNvPr id="21" name="Freeform 21"/>
          <p:cNvSpPr/>
          <p:nvPr/>
        </p:nvSpPr>
        <p:spPr>
          <a:xfrm>
            <a:off x="-1782425" y="8123782"/>
            <a:ext cx="4585506" cy="1625770"/>
          </a:xfrm>
          <a:custGeom>
            <a:avLst/>
            <a:gdLst/>
            <a:ahLst/>
            <a:cxnLst/>
            <a:rect l="l" t="t" r="r" b="b"/>
            <a:pathLst>
              <a:path w="4585506" h="1625770">
                <a:moveTo>
                  <a:pt x="0" y="0"/>
                </a:moveTo>
                <a:lnTo>
                  <a:pt x="4585506" y="0"/>
                </a:lnTo>
                <a:lnTo>
                  <a:pt x="4585506" y="1625770"/>
                </a:lnTo>
                <a:lnTo>
                  <a:pt x="0" y="162577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2" name="Freeform 22"/>
          <p:cNvSpPr/>
          <p:nvPr/>
        </p:nvSpPr>
        <p:spPr>
          <a:xfrm rot="641794">
            <a:off x="8923192" y="-178822"/>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3" name="TextBox 23"/>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905495" y="657204"/>
            <a:ext cx="16445245" cy="1906519"/>
            <a:chOff x="0" y="0"/>
            <a:chExt cx="5999270" cy="695503"/>
          </a:xfrm>
          <a:scene3d>
            <a:camera prst="orthographicFront">
              <a:rot lat="0" lon="0" rev="0"/>
            </a:camera>
            <a:lightRig rig="glow" dir="t">
              <a:rot lat="0" lon="0" rev="4800000"/>
            </a:lightRig>
          </a:scene3d>
        </p:grpSpPr>
        <p:sp>
          <p:nvSpPr>
            <p:cNvPr id="4" name="Freeform 4"/>
            <p:cNvSpPr/>
            <p:nvPr/>
          </p:nvSpPr>
          <p:spPr>
            <a:xfrm>
              <a:off x="0" y="0"/>
              <a:ext cx="5999270" cy="695503"/>
            </a:xfrm>
            <a:custGeom>
              <a:avLst/>
              <a:gdLst/>
              <a:ahLst/>
              <a:cxnLst/>
              <a:rect l="l" t="t" r="r" b="b"/>
              <a:pathLst>
                <a:path w="5999270" h="695503">
                  <a:moveTo>
                    <a:pt x="0" y="0"/>
                  </a:moveTo>
                  <a:lnTo>
                    <a:pt x="5999270" y="0"/>
                  </a:lnTo>
                  <a:lnTo>
                    <a:pt x="5999270" y="695503"/>
                  </a:lnTo>
                  <a:lnTo>
                    <a:pt x="0" y="69550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9977388" y="4972435"/>
            <a:ext cx="7377096" cy="1301291"/>
            <a:chOff x="0" y="0"/>
            <a:chExt cx="3286232" cy="579678"/>
          </a:xfrm>
          <a:scene3d>
            <a:camera prst="orthographicFront">
              <a:rot lat="0" lon="0" rev="0"/>
            </a:camera>
            <a:lightRig rig="glow" dir="t">
              <a:rot lat="0" lon="0" rev="4800000"/>
            </a:lightRig>
          </a:scene3d>
        </p:grpSpPr>
        <p:sp>
          <p:nvSpPr>
            <p:cNvPr id="6" name="Freeform 6"/>
            <p:cNvSpPr/>
            <p:nvPr/>
          </p:nvSpPr>
          <p:spPr>
            <a:xfrm>
              <a:off x="0" y="0"/>
              <a:ext cx="3286232" cy="579678"/>
            </a:xfrm>
            <a:custGeom>
              <a:avLst/>
              <a:gdLst/>
              <a:ahLst/>
              <a:cxnLst/>
              <a:rect l="l" t="t" r="r" b="b"/>
              <a:pathLst>
                <a:path w="3286232" h="579678">
                  <a:moveTo>
                    <a:pt x="0" y="0"/>
                  </a:moveTo>
                  <a:lnTo>
                    <a:pt x="3286232" y="0"/>
                  </a:lnTo>
                  <a:lnTo>
                    <a:pt x="3286232"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7" name="Group 7"/>
          <p:cNvGrpSpPr/>
          <p:nvPr/>
        </p:nvGrpSpPr>
        <p:grpSpPr>
          <a:xfrm>
            <a:off x="9977388" y="6489137"/>
            <a:ext cx="7377096" cy="1301291"/>
            <a:chOff x="0" y="0"/>
            <a:chExt cx="3286232" cy="579678"/>
          </a:xfrm>
          <a:scene3d>
            <a:camera prst="orthographicFront">
              <a:rot lat="0" lon="0" rev="0"/>
            </a:camera>
            <a:lightRig rig="glow" dir="t">
              <a:rot lat="0" lon="0" rev="4800000"/>
            </a:lightRig>
          </a:scene3d>
        </p:grpSpPr>
        <p:sp>
          <p:nvSpPr>
            <p:cNvPr id="8" name="Freeform 8"/>
            <p:cNvSpPr/>
            <p:nvPr/>
          </p:nvSpPr>
          <p:spPr>
            <a:xfrm>
              <a:off x="0" y="0"/>
              <a:ext cx="3286232" cy="579678"/>
            </a:xfrm>
            <a:custGeom>
              <a:avLst/>
              <a:gdLst/>
              <a:ahLst/>
              <a:cxnLst/>
              <a:rect l="l" t="t" r="r" b="b"/>
              <a:pathLst>
                <a:path w="3286232" h="579678">
                  <a:moveTo>
                    <a:pt x="0" y="0"/>
                  </a:moveTo>
                  <a:lnTo>
                    <a:pt x="3286232" y="0"/>
                  </a:lnTo>
                  <a:lnTo>
                    <a:pt x="3286232"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9" name="Group 9"/>
          <p:cNvGrpSpPr/>
          <p:nvPr/>
        </p:nvGrpSpPr>
        <p:grpSpPr>
          <a:xfrm>
            <a:off x="9977388" y="7999978"/>
            <a:ext cx="7377096" cy="1301291"/>
            <a:chOff x="0" y="0"/>
            <a:chExt cx="3286232" cy="579678"/>
          </a:xfrm>
          <a:scene3d>
            <a:camera prst="orthographicFront">
              <a:rot lat="0" lon="0" rev="0"/>
            </a:camera>
            <a:lightRig rig="glow" dir="t">
              <a:rot lat="0" lon="0" rev="4800000"/>
            </a:lightRig>
          </a:scene3d>
        </p:grpSpPr>
        <p:sp>
          <p:nvSpPr>
            <p:cNvPr id="10" name="Freeform 10"/>
            <p:cNvSpPr/>
            <p:nvPr/>
          </p:nvSpPr>
          <p:spPr>
            <a:xfrm>
              <a:off x="0" y="0"/>
              <a:ext cx="3286232" cy="579678"/>
            </a:xfrm>
            <a:custGeom>
              <a:avLst/>
              <a:gdLst/>
              <a:ahLst/>
              <a:cxnLst/>
              <a:rect l="l" t="t" r="r" b="b"/>
              <a:pathLst>
                <a:path w="3286232" h="579678">
                  <a:moveTo>
                    <a:pt x="0" y="0"/>
                  </a:moveTo>
                  <a:lnTo>
                    <a:pt x="3286232" y="0"/>
                  </a:lnTo>
                  <a:lnTo>
                    <a:pt x="3286232"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1" name="TextBox 11"/>
          <p:cNvSpPr txBox="1"/>
          <p:nvPr/>
        </p:nvSpPr>
        <p:spPr>
          <a:xfrm>
            <a:off x="2304997" y="980478"/>
            <a:ext cx="13678006" cy="1228725"/>
          </a:xfrm>
          <a:prstGeom prst="rect">
            <a:avLst/>
          </a:prstGeom>
        </p:spPr>
        <p:txBody>
          <a:bodyPr lIns="0" tIns="0" rIns="0" bIns="0" rtlCol="0" anchor="t">
            <a:spAutoFit/>
          </a:bodyPr>
          <a:lstStyle/>
          <a:p>
            <a:pPr algn="ctr">
              <a:lnSpc>
                <a:spcPts val="9600"/>
              </a:lnSpc>
            </a:pPr>
            <a:r>
              <a:rPr lang="en-US" sz="8000" b="1">
                <a:solidFill>
                  <a:srgbClr val="003EA8"/>
                </a:solidFill>
                <a:latin typeface="Muli Bold"/>
                <a:ea typeface="Muli Bold"/>
                <a:cs typeface="Muli Bold"/>
                <a:sym typeface="Muli Bold"/>
              </a:rPr>
              <a:t>Thiết Kế Cơ Sở Dữ Liệu</a:t>
            </a:r>
          </a:p>
        </p:txBody>
      </p:sp>
      <p:sp>
        <p:nvSpPr>
          <p:cNvPr id="12" name="Freeform 12"/>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a:off x="1714500" y="3748818"/>
            <a:ext cx="6170196" cy="5514350"/>
          </a:xfrm>
          <a:custGeom>
            <a:avLst/>
            <a:gdLst/>
            <a:ahLst/>
            <a:cxnLst/>
            <a:rect l="l" t="t" r="r" b="b"/>
            <a:pathLst>
              <a:path w="6170196" h="5514350">
                <a:moveTo>
                  <a:pt x="0" y="0"/>
                </a:moveTo>
                <a:lnTo>
                  <a:pt x="6170196" y="0"/>
                </a:lnTo>
                <a:lnTo>
                  <a:pt x="6170196" y="5514350"/>
                </a:lnTo>
                <a:lnTo>
                  <a:pt x="0" y="5514350"/>
                </a:lnTo>
                <a:lnTo>
                  <a:pt x="0" y="0"/>
                </a:lnTo>
                <a:close/>
              </a:path>
            </a:pathLst>
          </a:custGeom>
          <a:blipFill>
            <a:blip r:embed="rId6"/>
            <a:stretch>
              <a:fillRect b="-5228"/>
            </a:stretch>
          </a:blipFill>
          <a:ln w="19050" cap="sq">
            <a:noFill/>
            <a:prstDash val="solid"/>
            <a:miter/>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p>
      <p:grpSp>
        <p:nvGrpSpPr>
          <p:cNvPr id="15" name="Group 15"/>
          <p:cNvGrpSpPr/>
          <p:nvPr/>
        </p:nvGrpSpPr>
        <p:grpSpPr>
          <a:xfrm>
            <a:off x="10285062" y="5258757"/>
            <a:ext cx="8314164" cy="780910"/>
            <a:chOff x="0" y="0"/>
            <a:chExt cx="11085552" cy="1041213"/>
          </a:xfrm>
        </p:grpSpPr>
        <p:sp>
          <p:nvSpPr>
            <p:cNvPr id="16" name="TextBox 16"/>
            <p:cNvSpPr txBox="1"/>
            <p:nvPr/>
          </p:nvSpPr>
          <p:spPr>
            <a:xfrm>
              <a:off x="0" y="-28575"/>
              <a:ext cx="11085552" cy="604062"/>
            </a:xfrm>
            <a:prstGeom prst="rect">
              <a:avLst/>
            </a:prstGeom>
          </p:spPr>
          <p:txBody>
            <a:bodyPr lIns="0" tIns="0" rIns="0" bIns="0" rtlCol="0" anchor="t">
              <a:spAutoFit/>
            </a:bodyPr>
            <a:lstStyle/>
            <a:p>
              <a:pPr algn="l">
                <a:lnSpc>
                  <a:spcPts val="3726"/>
                </a:lnSpc>
              </a:pPr>
              <a:r>
                <a:rPr lang="en-US" sz="2866" b="1">
                  <a:solidFill>
                    <a:srgbClr val="003EA8"/>
                  </a:solidFill>
                  <a:latin typeface="Muli Ultra-Bold"/>
                  <a:ea typeface="Muli Ultra-Bold"/>
                  <a:cs typeface="Muli Ultra-Bold"/>
                  <a:sym typeface="Muli Ultra-Bold"/>
                </a:rPr>
                <a:t>Đề tài &amp; nhóm</a:t>
              </a:r>
            </a:p>
          </p:txBody>
        </p:sp>
        <p:sp>
          <p:nvSpPr>
            <p:cNvPr id="17" name="TextBox 17"/>
            <p:cNvSpPr txBox="1"/>
            <p:nvPr/>
          </p:nvSpPr>
          <p:spPr>
            <a:xfrm>
              <a:off x="0" y="664044"/>
              <a:ext cx="11085552" cy="383756"/>
            </a:xfrm>
            <a:prstGeom prst="rect">
              <a:avLst/>
            </a:prstGeom>
          </p:spPr>
          <p:txBody>
            <a:bodyPr lIns="0" tIns="0" rIns="0" bIns="0" rtlCol="0" anchor="t">
              <a:spAutoFit/>
            </a:bodyPr>
            <a:lstStyle/>
            <a:p>
              <a:pPr algn="l">
                <a:lnSpc>
                  <a:spcPts val="2342"/>
                </a:lnSpc>
              </a:pPr>
              <a:r>
                <a:rPr lang="en-US" sz="1801">
                  <a:solidFill>
                    <a:srgbClr val="000000"/>
                  </a:solidFill>
                  <a:latin typeface="Cabin"/>
                  <a:ea typeface="Cabin"/>
                  <a:cs typeface="Cabin"/>
                  <a:sym typeface="Cabin"/>
                </a:rPr>
                <a:t>ProjectTopics, Teams, TeamMembers, ProjectRegistrations</a:t>
              </a:r>
            </a:p>
          </p:txBody>
        </p:sp>
      </p:grpSp>
      <p:grpSp>
        <p:nvGrpSpPr>
          <p:cNvPr id="18" name="Group 18"/>
          <p:cNvGrpSpPr/>
          <p:nvPr/>
        </p:nvGrpSpPr>
        <p:grpSpPr>
          <a:xfrm>
            <a:off x="10285062" y="6775458"/>
            <a:ext cx="8314164" cy="780910"/>
            <a:chOff x="0" y="0"/>
            <a:chExt cx="11085552" cy="1041213"/>
          </a:xfrm>
        </p:grpSpPr>
        <p:sp>
          <p:nvSpPr>
            <p:cNvPr id="19" name="TextBox 19"/>
            <p:cNvSpPr txBox="1"/>
            <p:nvPr/>
          </p:nvSpPr>
          <p:spPr>
            <a:xfrm>
              <a:off x="0" y="-28575"/>
              <a:ext cx="11085552" cy="604062"/>
            </a:xfrm>
            <a:prstGeom prst="rect">
              <a:avLst/>
            </a:prstGeom>
          </p:spPr>
          <p:txBody>
            <a:bodyPr lIns="0" tIns="0" rIns="0" bIns="0" rtlCol="0" anchor="t">
              <a:spAutoFit/>
            </a:bodyPr>
            <a:lstStyle/>
            <a:p>
              <a:pPr algn="l">
                <a:lnSpc>
                  <a:spcPts val="3726"/>
                </a:lnSpc>
              </a:pPr>
              <a:r>
                <a:rPr lang="en-US" sz="2866" b="1">
                  <a:solidFill>
                    <a:srgbClr val="003EA8"/>
                  </a:solidFill>
                  <a:latin typeface="Muli Ultra-Bold"/>
                  <a:ea typeface="Muli Ultra-Bold"/>
                  <a:cs typeface="Muli Ultra-Bold"/>
                  <a:sym typeface="Muli Ultra-Bold"/>
                </a:rPr>
                <a:t>Lớp học</a:t>
              </a:r>
            </a:p>
          </p:txBody>
        </p:sp>
        <p:sp>
          <p:nvSpPr>
            <p:cNvPr id="20" name="TextBox 20"/>
            <p:cNvSpPr txBox="1"/>
            <p:nvPr/>
          </p:nvSpPr>
          <p:spPr>
            <a:xfrm>
              <a:off x="0" y="664044"/>
              <a:ext cx="11085552" cy="383756"/>
            </a:xfrm>
            <a:prstGeom prst="rect">
              <a:avLst/>
            </a:prstGeom>
          </p:spPr>
          <p:txBody>
            <a:bodyPr lIns="0" tIns="0" rIns="0" bIns="0" rtlCol="0" anchor="t">
              <a:spAutoFit/>
            </a:bodyPr>
            <a:lstStyle/>
            <a:p>
              <a:pPr algn="l">
                <a:lnSpc>
                  <a:spcPts val="2342"/>
                </a:lnSpc>
              </a:pPr>
              <a:r>
                <a:rPr lang="en-US" sz="1801">
                  <a:solidFill>
                    <a:srgbClr val="000000"/>
                  </a:solidFill>
                  <a:latin typeface="Cabin"/>
                  <a:ea typeface="Cabin"/>
                  <a:cs typeface="Cabin"/>
                  <a:sym typeface="Cabin"/>
                </a:rPr>
                <a:t>Classes, ClassStudents</a:t>
              </a:r>
            </a:p>
          </p:txBody>
        </p:sp>
      </p:grpSp>
      <p:grpSp>
        <p:nvGrpSpPr>
          <p:cNvPr id="21" name="Group 21"/>
          <p:cNvGrpSpPr/>
          <p:nvPr/>
        </p:nvGrpSpPr>
        <p:grpSpPr>
          <a:xfrm>
            <a:off x="10285062" y="8286299"/>
            <a:ext cx="8314164" cy="780910"/>
            <a:chOff x="0" y="0"/>
            <a:chExt cx="11085552" cy="1041213"/>
          </a:xfrm>
        </p:grpSpPr>
        <p:sp>
          <p:nvSpPr>
            <p:cNvPr id="22" name="TextBox 22"/>
            <p:cNvSpPr txBox="1"/>
            <p:nvPr/>
          </p:nvSpPr>
          <p:spPr>
            <a:xfrm>
              <a:off x="0" y="-28575"/>
              <a:ext cx="11085552" cy="604062"/>
            </a:xfrm>
            <a:prstGeom prst="rect">
              <a:avLst/>
            </a:prstGeom>
          </p:spPr>
          <p:txBody>
            <a:bodyPr lIns="0" tIns="0" rIns="0" bIns="0" rtlCol="0" anchor="t">
              <a:spAutoFit/>
            </a:bodyPr>
            <a:lstStyle/>
            <a:p>
              <a:pPr algn="l">
                <a:lnSpc>
                  <a:spcPts val="3726"/>
                </a:lnSpc>
              </a:pPr>
              <a:r>
                <a:rPr lang="en-US" sz="2866" b="1">
                  <a:solidFill>
                    <a:srgbClr val="003EA8"/>
                  </a:solidFill>
                  <a:latin typeface="Muli Ultra-Bold"/>
                  <a:ea typeface="Muli Ultra-Bold"/>
                  <a:cs typeface="Muli Ultra-Bold"/>
                  <a:sym typeface="Muli Ultra-Bold"/>
                </a:rPr>
                <a:t>Tiến độ &amp; nộp bài</a:t>
              </a:r>
            </a:p>
          </p:txBody>
        </p:sp>
        <p:sp>
          <p:nvSpPr>
            <p:cNvPr id="23" name="TextBox 23"/>
            <p:cNvSpPr txBox="1"/>
            <p:nvPr/>
          </p:nvSpPr>
          <p:spPr>
            <a:xfrm>
              <a:off x="0" y="664044"/>
              <a:ext cx="11085552" cy="383756"/>
            </a:xfrm>
            <a:prstGeom prst="rect">
              <a:avLst/>
            </a:prstGeom>
          </p:spPr>
          <p:txBody>
            <a:bodyPr lIns="0" tIns="0" rIns="0" bIns="0" rtlCol="0" anchor="t">
              <a:spAutoFit/>
            </a:bodyPr>
            <a:lstStyle/>
            <a:p>
              <a:pPr algn="l">
                <a:lnSpc>
                  <a:spcPts val="2342"/>
                </a:lnSpc>
              </a:pPr>
              <a:r>
                <a:rPr lang="en-US" sz="1801">
                  <a:solidFill>
                    <a:srgbClr val="000000"/>
                  </a:solidFill>
                  <a:latin typeface="Cabin"/>
                  <a:ea typeface="Cabin"/>
                  <a:cs typeface="Cabin"/>
                  <a:sym typeface="Cabin"/>
                </a:rPr>
                <a:t>Milestones, ProgressReports, FinalSubmissions</a:t>
              </a:r>
            </a:p>
          </p:txBody>
        </p:sp>
      </p:grpSp>
      <p:grpSp>
        <p:nvGrpSpPr>
          <p:cNvPr id="24" name="Group 24"/>
          <p:cNvGrpSpPr/>
          <p:nvPr/>
        </p:nvGrpSpPr>
        <p:grpSpPr>
          <a:xfrm>
            <a:off x="1714500" y="2691178"/>
            <a:ext cx="6170196" cy="913328"/>
            <a:chOff x="0" y="0"/>
            <a:chExt cx="5619784" cy="831855"/>
          </a:xfrm>
          <a:scene3d>
            <a:camera prst="orthographicFront">
              <a:rot lat="0" lon="0" rev="0"/>
            </a:camera>
            <a:lightRig rig="glow" dir="t">
              <a:rot lat="0" lon="0" rev="4800000"/>
            </a:lightRig>
          </a:scene3d>
        </p:grpSpPr>
        <p:sp>
          <p:nvSpPr>
            <p:cNvPr id="25" name="Freeform 25"/>
            <p:cNvSpPr/>
            <p:nvPr/>
          </p:nvSpPr>
          <p:spPr>
            <a:xfrm>
              <a:off x="0" y="0"/>
              <a:ext cx="5619784" cy="831855"/>
            </a:xfrm>
            <a:custGeom>
              <a:avLst/>
              <a:gdLst/>
              <a:ahLst/>
              <a:cxnLst/>
              <a:rect l="l" t="t" r="r" b="b"/>
              <a:pathLst>
                <a:path w="5619784" h="831855">
                  <a:moveTo>
                    <a:pt x="0" y="0"/>
                  </a:moveTo>
                  <a:lnTo>
                    <a:pt x="5619784" y="0"/>
                  </a:lnTo>
                  <a:lnTo>
                    <a:pt x="5619784" y="831855"/>
                  </a:lnTo>
                  <a:lnTo>
                    <a:pt x="0" y="83185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6" name="TextBox 26"/>
          <p:cNvSpPr txBox="1"/>
          <p:nvPr/>
        </p:nvSpPr>
        <p:spPr>
          <a:xfrm>
            <a:off x="2001934" y="2780813"/>
            <a:ext cx="5084589" cy="715010"/>
          </a:xfrm>
          <a:prstGeom prst="rect">
            <a:avLst/>
          </a:prstGeom>
        </p:spPr>
        <p:txBody>
          <a:bodyPr lIns="0" tIns="0" rIns="0" bIns="0" rtlCol="0" anchor="t">
            <a:spAutoFit/>
          </a:bodyPr>
          <a:lstStyle/>
          <a:p>
            <a:pPr algn="l">
              <a:lnSpc>
                <a:spcPts val="2859"/>
              </a:lnSpc>
            </a:pPr>
            <a:r>
              <a:rPr lang="en-US" sz="2199" b="1">
                <a:solidFill>
                  <a:srgbClr val="000000"/>
                </a:solidFill>
                <a:latin typeface="Cabin Bold"/>
                <a:ea typeface="Cabin Bold"/>
                <a:cs typeface="Cabin Bold"/>
                <a:sym typeface="Cabin Bold"/>
              </a:rPr>
              <a:t>SQL Server — TvuStudentProjectPortal — Hệ thống gồm 10 bảng chính.</a:t>
            </a:r>
          </a:p>
        </p:txBody>
      </p:sp>
      <p:sp>
        <p:nvSpPr>
          <p:cNvPr id="27" name="TextBox 27"/>
          <p:cNvSpPr txBox="1"/>
          <p:nvPr/>
        </p:nvSpPr>
        <p:spPr>
          <a:xfrm>
            <a:off x="10143387" y="2747467"/>
            <a:ext cx="8314164" cy="460191"/>
          </a:xfrm>
          <a:prstGeom prst="rect">
            <a:avLst/>
          </a:prstGeom>
        </p:spPr>
        <p:txBody>
          <a:bodyPr lIns="0" tIns="0" rIns="0" bIns="0" rtlCol="0" anchor="t">
            <a:spAutoFit/>
          </a:bodyPr>
          <a:lstStyle/>
          <a:p>
            <a:pPr algn="l">
              <a:lnSpc>
                <a:spcPts val="3726"/>
              </a:lnSpc>
            </a:pPr>
            <a:r>
              <a:rPr lang="en-US" sz="2866" b="1">
                <a:solidFill>
                  <a:srgbClr val="003EA8"/>
                </a:solidFill>
                <a:latin typeface="Muli Ultra-Bold"/>
                <a:ea typeface="Muli Ultra-Bold"/>
                <a:cs typeface="Muli Ultra-Bold"/>
                <a:sym typeface="Muli Ultra-Bold"/>
              </a:rPr>
              <a:t>Nhóm bảng dữ liệu</a:t>
            </a:r>
          </a:p>
        </p:txBody>
      </p:sp>
      <p:grpSp>
        <p:nvGrpSpPr>
          <p:cNvPr id="28" name="Group 28"/>
          <p:cNvGrpSpPr/>
          <p:nvPr/>
        </p:nvGrpSpPr>
        <p:grpSpPr>
          <a:xfrm>
            <a:off x="9977388" y="3433695"/>
            <a:ext cx="7377096" cy="1301291"/>
            <a:chOff x="0" y="0"/>
            <a:chExt cx="3286232" cy="579678"/>
          </a:xfrm>
          <a:scene3d>
            <a:camera prst="orthographicFront">
              <a:rot lat="0" lon="0" rev="0"/>
            </a:camera>
            <a:lightRig rig="glow" dir="t">
              <a:rot lat="0" lon="0" rev="4800000"/>
            </a:lightRig>
          </a:scene3d>
        </p:grpSpPr>
        <p:sp>
          <p:nvSpPr>
            <p:cNvPr id="29" name="Freeform 29"/>
            <p:cNvSpPr/>
            <p:nvPr/>
          </p:nvSpPr>
          <p:spPr>
            <a:xfrm>
              <a:off x="0" y="0"/>
              <a:ext cx="3286232" cy="579678"/>
            </a:xfrm>
            <a:custGeom>
              <a:avLst/>
              <a:gdLst/>
              <a:ahLst/>
              <a:cxnLst/>
              <a:rect l="l" t="t" r="r" b="b"/>
              <a:pathLst>
                <a:path w="3286232" h="579678">
                  <a:moveTo>
                    <a:pt x="0" y="0"/>
                  </a:moveTo>
                  <a:lnTo>
                    <a:pt x="3286232" y="0"/>
                  </a:lnTo>
                  <a:lnTo>
                    <a:pt x="3286232"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30" name="Group 30"/>
          <p:cNvGrpSpPr/>
          <p:nvPr/>
        </p:nvGrpSpPr>
        <p:grpSpPr>
          <a:xfrm>
            <a:off x="10285062" y="3731962"/>
            <a:ext cx="8314164" cy="780910"/>
            <a:chOff x="0" y="0"/>
            <a:chExt cx="11085552" cy="1041213"/>
          </a:xfrm>
        </p:grpSpPr>
        <p:sp>
          <p:nvSpPr>
            <p:cNvPr id="31" name="TextBox 31"/>
            <p:cNvSpPr txBox="1"/>
            <p:nvPr/>
          </p:nvSpPr>
          <p:spPr>
            <a:xfrm>
              <a:off x="0" y="-28575"/>
              <a:ext cx="11085552" cy="604062"/>
            </a:xfrm>
            <a:prstGeom prst="rect">
              <a:avLst/>
            </a:prstGeom>
          </p:spPr>
          <p:txBody>
            <a:bodyPr lIns="0" tIns="0" rIns="0" bIns="0" rtlCol="0" anchor="t">
              <a:spAutoFit/>
            </a:bodyPr>
            <a:lstStyle/>
            <a:p>
              <a:pPr algn="l">
                <a:lnSpc>
                  <a:spcPts val="3726"/>
                </a:lnSpc>
              </a:pPr>
              <a:r>
                <a:rPr lang="en-US" sz="2866" b="1">
                  <a:solidFill>
                    <a:srgbClr val="003EA8"/>
                  </a:solidFill>
                  <a:latin typeface="Muli Ultra-Bold"/>
                  <a:ea typeface="Muli Ultra-Bold"/>
                  <a:cs typeface="Muli Ultra-Bold"/>
                  <a:sym typeface="Muli Ultra-Bold"/>
                </a:rPr>
                <a:t>Người dùng</a:t>
              </a:r>
            </a:p>
          </p:txBody>
        </p:sp>
        <p:sp>
          <p:nvSpPr>
            <p:cNvPr id="32" name="TextBox 32"/>
            <p:cNvSpPr txBox="1"/>
            <p:nvPr/>
          </p:nvSpPr>
          <p:spPr>
            <a:xfrm>
              <a:off x="0" y="664044"/>
              <a:ext cx="11085552" cy="383756"/>
            </a:xfrm>
            <a:prstGeom prst="rect">
              <a:avLst/>
            </a:prstGeom>
          </p:spPr>
          <p:txBody>
            <a:bodyPr lIns="0" tIns="0" rIns="0" bIns="0" rtlCol="0" anchor="t">
              <a:spAutoFit/>
            </a:bodyPr>
            <a:lstStyle/>
            <a:p>
              <a:pPr algn="l">
                <a:lnSpc>
                  <a:spcPts val="2342"/>
                </a:lnSpc>
              </a:pPr>
              <a:r>
                <a:rPr lang="en-US" sz="1801">
                  <a:solidFill>
                    <a:srgbClr val="000000"/>
                  </a:solidFill>
                  <a:latin typeface="Cabin"/>
                  <a:ea typeface="Cabin"/>
                  <a:cs typeface="Cabin"/>
                  <a:sym typeface="Cabin"/>
                </a:rPr>
                <a:t>Users</a:t>
              </a:r>
            </a:p>
          </p:txBody>
        </p:sp>
      </p:grpSp>
      <p:sp>
        <p:nvSpPr>
          <p:cNvPr id="33" name="TextBox 33"/>
          <p:cNvSpPr txBox="1"/>
          <p:nvPr/>
        </p:nvSpPr>
        <p:spPr>
          <a:xfrm>
            <a:off x="1749757" y="9479543"/>
            <a:ext cx="8314164" cy="317479"/>
          </a:xfrm>
          <a:prstGeom prst="rect">
            <a:avLst/>
          </a:prstGeom>
        </p:spPr>
        <p:txBody>
          <a:bodyPr lIns="0" tIns="0" rIns="0" bIns="0" rtlCol="0" anchor="t">
            <a:spAutoFit/>
          </a:bodyPr>
          <a:lstStyle/>
          <a:p>
            <a:pPr algn="l">
              <a:lnSpc>
                <a:spcPts val="2602"/>
              </a:lnSpc>
            </a:pPr>
            <a:r>
              <a:rPr lang="en-US" sz="2001" dirty="0">
                <a:solidFill>
                  <a:srgbClr val="000000"/>
                </a:solidFill>
                <a:latin typeface="Cabin"/>
                <a:ea typeface="Cabin"/>
                <a:cs typeface="Cabin"/>
                <a:sym typeface="Cabin"/>
              </a:rPr>
              <a:t>Các </a:t>
            </a:r>
            <a:r>
              <a:rPr lang="en-US" sz="2001" dirty="0" err="1">
                <a:solidFill>
                  <a:srgbClr val="000000"/>
                </a:solidFill>
                <a:latin typeface="Cabin"/>
                <a:ea typeface="Cabin"/>
                <a:cs typeface="Cabin"/>
                <a:sym typeface="Cabin"/>
              </a:rPr>
              <a:t>bảng</a:t>
            </a:r>
            <a:r>
              <a:rPr lang="en-US" sz="2001" dirty="0">
                <a:solidFill>
                  <a:srgbClr val="000000"/>
                </a:solidFill>
                <a:latin typeface="Cabin"/>
                <a:ea typeface="Cabin"/>
                <a:cs typeface="Cabin"/>
                <a:sym typeface="Cabin"/>
              </a:rPr>
              <a:t> </a:t>
            </a:r>
            <a:r>
              <a:rPr lang="en-US" sz="2001" dirty="0" err="1">
                <a:solidFill>
                  <a:srgbClr val="000000"/>
                </a:solidFill>
                <a:latin typeface="Cabin"/>
                <a:ea typeface="Cabin"/>
                <a:cs typeface="Cabin"/>
                <a:sym typeface="Cabin"/>
              </a:rPr>
              <a:t>sử</a:t>
            </a:r>
            <a:r>
              <a:rPr lang="en-US" sz="2001" dirty="0">
                <a:solidFill>
                  <a:srgbClr val="000000"/>
                </a:solidFill>
                <a:latin typeface="Cabin"/>
                <a:ea typeface="Cabin"/>
                <a:cs typeface="Cabin"/>
                <a:sym typeface="Cabin"/>
              </a:rPr>
              <a:t> </a:t>
            </a:r>
            <a:r>
              <a:rPr lang="en-US" sz="2001" dirty="0" err="1">
                <a:solidFill>
                  <a:srgbClr val="000000"/>
                </a:solidFill>
                <a:latin typeface="Cabin"/>
                <a:ea typeface="Cabin"/>
                <a:cs typeface="Cabin"/>
                <a:sym typeface="Cabin"/>
              </a:rPr>
              <a:t>dụng</a:t>
            </a:r>
            <a:r>
              <a:rPr lang="en-US" sz="2001" dirty="0">
                <a:solidFill>
                  <a:srgbClr val="000000"/>
                </a:solidFill>
                <a:latin typeface="Cabin"/>
                <a:ea typeface="Cabin"/>
                <a:cs typeface="Cabin"/>
                <a:sym typeface="Cabin"/>
              </a:rPr>
              <a:t> Primary Key </a:t>
            </a:r>
            <a:r>
              <a:rPr lang="en-US" sz="2001" dirty="0" err="1">
                <a:solidFill>
                  <a:srgbClr val="000000"/>
                </a:solidFill>
                <a:latin typeface="Cabin"/>
                <a:ea typeface="Cabin"/>
                <a:cs typeface="Cabin"/>
                <a:sym typeface="Cabin"/>
              </a:rPr>
              <a:t>và</a:t>
            </a:r>
            <a:r>
              <a:rPr lang="en-US" sz="2001" dirty="0">
                <a:solidFill>
                  <a:srgbClr val="000000"/>
                </a:solidFill>
                <a:latin typeface="Cabin"/>
                <a:ea typeface="Cabin"/>
                <a:cs typeface="Cabin"/>
                <a:sym typeface="Cabin"/>
              </a:rPr>
              <a:t> Foreign Key </a:t>
            </a:r>
            <a:r>
              <a:rPr lang="en-US" sz="2001" dirty="0" err="1">
                <a:solidFill>
                  <a:srgbClr val="000000"/>
                </a:solidFill>
                <a:latin typeface="Cabin"/>
                <a:ea typeface="Cabin"/>
                <a:cs typeface="Cabin"/>
                <a:sym typeface="Cabin"/>
              </a:rPr>
              <a:t>để</a:t>
            </a:r>
            <a:r>
              <a:rPr lang="en-US" sz="2001" dirty="0">
                <a:solidFill>
                  <a:srgbClr val="000000"/>
                </a:solidFill>
                <a:latin typeface="Cabin"/>
                <a:ea typeface="Cabin"/>
                <a:cs typeface="Cabin"/>
                <a:sym typeface="Cabin"/>
              </a:rPr>
              <a:t> </a:t>
            </a:r>
            <a:r>
              <a:rPr lang="en-US" sz="2001" dirty="0" err="1">
                <a:solidFill>
                  <a:srgbClr val="000000"/>
                </a:solidFill>
                <a:latin typeface="Cabin"/>
                <a:ea typeface="Cabin"/>
                <a:cs typeface="Cabin"/>
                <a:sym typeface="Cabin"/>
              </a:rPr>
              <a:t>liên</a:t>
            </a:r>
            <a:r>
              <a:rPr lang="en-US" sz="2001" dirty="0">
                <a:solidFill>
                  <a:srgbClr val="000000"/>
                </a:solidFill>
                <a:latin typeface="Cabin"/>
                <a:ea typeface="Cabin"/>
                <a:cs typeface="Cabin"/>
                <a:sym typeface="Cabin"/>
              </a:rPr>
              <a:t> </a:t>
            </a:r>
            <a:r>
              <a:rPr lang="en-US" sz="2001" dirty="0" err="1">
                <a:solidFill>
                  <a:srgbClr val="000000"/>
                </a:solidFill>
                <a:latin typeface="Cabin"/>
                <a:ea typeface="Cabin"/>
                <a:cs typeface="Cabin"/>
                <a:sym typeface="Cabin"/>
              </a:rPr>
              <a:t>kết</a:t>
            </a:r>
            <a:r>
              <a:rPr lang="en-US" sz="2001" dirty="0">
                <a:solidFill>
                  <a:srgbClr val="000000"/>
                </a:solidFill>
                <a:latin typeface="Cabin"/>
                <a:ea typeface="Cabin"/>
                <a:cs typeface="Cabin"/>
                <a:sym typeface="Cabin"/>
              </a:rPr>
              <a:t> </a:t>
            </a:r>
            <a:r>
              <a:rPr lang="en-US" sz="2001" dirty="0" err="1">
                <a:solidFill>
                  <a:srgbClr val="000000"/>
                </a:solidFill>
                <a:latin typeface="Cabin"/>
                <a:ea typeface="Cabin"/>
                <a:cs typeface="Cabin"/>
                <a:sym typeface="Cabin"/>
              </a:rPr>
              <a:t>dữ</a:t>
            </a:r>
            <a:r>
              <a:rPr lang="en-US" sz="2001" dirty="0">
                <a:solidFill>
                  <a:srgbClr val="000000"/>
                </a:solidFill>
                <a:latin typeface="Cabin"/>
                <a:ea typeface="Cabin"/>
                <a:cs typeface="Cabin"/>
                <a:sym typeface="Cabin"/>
              </a:rPr>
              <a:t> </a:t>
            </a:r>
            <a:r>
              <a:rPr lang="en-US" sz="2001" dirty="0" err="1">
                <a:solidFill>
                  <a:srgbClr val="000000"/>
                </a:solidFill>
                <a:latin typeface="Cabin"/>
                <a:ea typeface="Cabin"/>
                <a:cs typeface="Cabin"/>
                <a:sym typeface="Cabin"/>
              </a:rPr>
              <a:t>liệu</a:t>
            </a:r>
            <a:r>
              <a:rPr lang="en-US" sz="2001" dirty="0">
                <a:solidFill>
                  <a:srgbClr val="000000"/>
                </a:solidFill>
                <a:latin typeface="Cabin"/>
                <a:ea typeface="Cabin"/>
                <a:cs typeface="Cabin"/>
                <a:sym typeface="Cabin"/>
              </a:rPr>
              <a:t>.</a:t>
            </a:r>
          </a:p>
        </p:txBody>
      </p:sp>
      <p:sp>
        <p:nvSpPr>
          <p:cNvPr id="34" name="TextBox 34"/>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1028700" y="657204"/>
            <a:ext cx="16445245" cy="1906519"/>
            <a:chOff x="0" y="0"/>
            <a:chExt cx="5999270" cy="695503"/>
          </a:xfrm>
          <a:scene3d>
            <a:camera prst="orthographicFront">
              <a:rot lat="0" lon="0" rev="0"/>
            </a:camera>
            <a:lightRig rig="glow" dir="t">
              <a:rot lat="0" lon="0" rev="4800000"/>
            </a:lightRig>
          </a:scene3d>
        </p:grpSpPr>
        <p:sp>
          <p:nvSpPr>
            <p:cNvPr id="4" name="Freeform 4"/>
            <p:cNvSpPr/>
            <p:nvPr/>
          </p:nvSpPr>
          <p:spPr>
            <a:xfrm>
              <a:off x="0" y="0"/>
              <a:ext cx="5999270" cy="695503"/>
            </a:xfrm>
            <a:custGeom>
              <a:avLst/>
              <a:gdLst/>
              <a:ahLst/>
              <a:cxnLst/>
              <a:rect l="l" t="t" r="r" b="b"/>
              <a:pathLst>
                <a:path w="5999270" h="695503">
                  <a:moveTo>
                    <a:pt x="0" y="0"/>
                  </a:moveTo>
                  <a:lnTo>
                    <a:pt x="5999270" y="0"/>
                  </a:lnTo>
                  <a:lnTo>
                    <a:pt x="5999270" y="695503"/>
                  </a:lnTo>
                  <a:lnTo>
                    <a:pt x="0" y="69550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3483315" y="2914053"/>
            <a:ext cx="7437977" cy="1589019"/>
            <a:chOff x="0" y="0"/>
            <a:chExt cx="2713394" cy="579678"/>
          </a:xfrm>
          <a:scene3d>
            <a:camera prst="orthographicFront">
              <a:rot lat="0" lon="0" rev="0"/>
            </a:camera>
            <a:lightRig rig="glow" dir="t">
              <a:rot lat="0" lon="0" rev="4800000"/>
            </a:lightRig>
          </a:scene3d>
        </p:grpSpPr>
        <p:sp>
          <p:nvSpPr>
            <p:cNvPr id="6" name="Freeform 6"/>
            <p:cNvSpPr/>
            <p:nvPr/>
          </p:nvSpPr>
          <p:spPr>
            <a:xfrm>
              <a:off x="0" y="0"/>
              <a:ext cx="2713394" cy="579678"/>
            </a:xfrm>
            <a:custGeom>
              <a:avLst/>
              <a:gdLst/>
              <a:ahLst/>
              <a:cxnLst/>
              <a:rect l="l" t="t" r="r" b="b"/>
              <a:pathLst>
                <a:path w="2713394" h="579678">
                  <a:moveTo>
                    <a:pt x="0" y="0"/>
                  </a:moveTo>
                  <a:lnTo>
                    <a:pt x="2713394" y="0"/>
                  </a:lnTo>
                  <a:lnTo>
                    <a:pt x="2713394"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7" name="Group 7"/>
          <p:cNvGrpSpPr/>
          <p:nvPr/>
        </p:nvGrpSpPr>
        <p:grpSpPr>
          <a:xfrm>
            <a:off x="3483315" y="4857358"/>
            <a:ext cx="7437977" cy="1846197"/>
            <a:chOff x="0" y="0"/>
            <a:chExt cx="2713394" cy="673498"/>
          </a:xfrm>
          <a:scene3d>
            <a:camera prst="orthographicFront">
              <a:rot lat="0" lon="0" rev="0"/>
            </a:camera>
            <a:lightRig rig="glow" dir="t">
              <a:rot lat="0" lon="0" rev="4800000"/>
            </a:lightRig>
          </a:scene3d>
        </p:grpSpPr>
        <p:sp>
          <p:nvSpPr>
            <p:cNvPr id="8" name="Freeform 8"/>
            <p:cNvSpPr/>
            <p:nvPr/>
          </p:nvSpPr>
          <p:spPr>
            <a:xfrm>
              <a:off x="0" y="0"/>
              <a:ext cx="2713394" cy="673498"/>
            </a:xfrm>
            <a:custGeom>
              <a:avLst/>
              <a:gdLst/>
              <a:ahLst/>
              <a:cxnLst/>
              <a:rect l="l" t="t" r="r" b="b"/>
              <a:pathLst>
                <a:path w="2713394" h="673498">
                  <a:moveTo>
                    <a:pt x="0" y="0"/>
                  </a:moveTo>
                  <a:lnTo>
                    <a:pt x="2713394" y="0"/>
                  </a:lnTo>
                  <a:lnTo>
                    <a:pt x="2713394" y="673498"/>
                  </a:lnTo>
                  <a:lnTo>
                    <a:pt x="0" y="67349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9" name="Group 9"/>
          <p:cNvGrpSpPr/>
          <p:nvPr/>
        </p:nvGrpSpPr>
        <p:grpSpPr>
          <a:xfrm>
            <a:off x="3483315" y="6992236"/>
            <a:ext cx="7437977" cy="1589019"/>
            <a:chOff x="0" y="0"/>
            <a:chExt cx="2713394" cy="579678"/>
          </a:xfrm>
          <a:scene3d>
            <a:camera prst="orthographicFront">
              <a:rot lat="0" lon="0" rev="0"/>
            </a:camera>
            <a:lightRig rig="glow" dir="t">
              <a:rot lat="0" lon="0" rev="4800000"/>
            </a:lightRig>
          </a:scene3d>
        </p:grpSpPr>
        <p:sp>
          <p:nvSpPr>
            <p:cNvPr id="10" name="Freeform 10"/>
            <p:cNvSpPr/>
            <p:nvPr/>
          </p:nvSpPr>
          <p:spPr>
            <a:xfrm>
              <a:off x="0" y="0"/>
              <a:ext cx="2713394" cy="579678"/>
            </a:xfrm>
            <a:custGeom>
              <a:avLst/>
              <a:gdLst/>
              <a:ahLst/>
              <a:cxnLst/>
              <a:rect l="l" t="t" r="r" b="b"/>
              <a:pathLst>
                <a:path w="2713394" h="579678">
                  <a:moveTo>
                    <a:pt x="0" y="0"/>
                  </a:moveTo>
                  <a:lnTo>
                    <a:pt x="2713394" y="0"/>
                  </a:lnTo>
                  <a:lnTo>
                    <a:pt x="2713394"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11" name="Group 11"/>
          <p:cNvGrpSpPr/>
          <p:nvPr/>
        </p:nvGrpSpPr>
        <p:grpSpPr>
          <a:xfrm>
            <a:off x="905495" y="2914053"/>
            <a:ext cx="1903745" cy="1589019"/>
            <a:chOff x="0" y="0"/>
            <a:chExt cx="2538326" cy="2118692"/>
          </a:xfrm>
          <a:scene3d>
            <a:camera prst="orthographicFront">
              <a:rot lat="0" lon="0" rev="0"/>
            </a:camera>
            <a:lightRig rig="glow" dir="t">
              <a:rot lat="0" lon="0" rev="4800000"/>
            </a:lightRig>
          </a:scene3d>
        </p:grpSpPr>
        <p:grpSp>
          <p:nvGrpSpPr>
            <p:cNvPr id="12" name="Group 12"/>
            <p:cNvGrpSpPr/>
            <p:nvPr/>
          </p:nvGrpSpPr>
          <p:grpSpPr>
            <a:xfrm>
              <a:off x="0" y="0"/>
              <a:ext cx="2538326" cy="2118692"/>
              <a:chOff x="0" y="0"/>
              <a:chExt cx="694491" cy="579678"/>
            </a:xfrm>
          </p:grpSpPr>
          <p:sp>
            <p:nvSpPr>
              <p:cNvPr id="13" name="Freeform 13"/>
              <p:cNvSpPr/>
              <p:nvPr/>
            </p:nvSpPr>
            <p:spPr>
              <a:xfrm>
                <a:off x="0" y="0"/>
                <a:ext cx="694491" cy="579678"/>
              </a:xfrm>
              <a:custGeom>
                <a:avLst/>
                <a:gdLst/>
                <a:ahLst/>
                <a:cxnLst/>
                <a:rect l="l" t="t" r="r" b="b"/>
                <a:pathLst>
                  <a:path w="694491" h="579678">
                    <a:moveTo>
                      <a:pt x="0" y="0"/>
                    </a:moveTo>
                    <a:lnTo>
                      <a:pt x="694491" y="0"/>
                    </a:lnTo>
                    <a:lnTo>
                      <a:pt x="694491"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4" name="Freeform 14"/>
            <p:cNvSpPr/>
            <p:nvPr/>
          </p:nvSpPr>
          <p:spPr>
            <a:xfrm>
              <a:off x="651649" y="248767"/>
              <a:ext cx="1235028" cy="1621159"/>
            </a:xfrm>
            <a:custGeom>
              <a:avLst/>
              <a:gdLst/>
              <a:ahLst/>
              <a:cxnLst/>
              <a:rect l="l" t="t" r="r" b="b"/>
              <a:pathLst>
                <a:path w="1235028" h="1621159">
                  <a:moveTo>
                    <a:pt x="0" y="0"/>
                  </a:moveTo>
                  <a:lnTo>
                    <a:pt x="1235028" y="0"/>
                  </a:lnTo>
                  <a:lnTo>
                    <a:pt x="1235028" y="1621158"/>
                  </a:lnTo>
                  <a:lnTo>
                    <a:pt x="0" y="162115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a:effectLst>
              <a:outerShdw blurRad="190500" dist="228600" dir="2700000" algn="ctr">
                <a:srgbClr val="000000">
                  <a:alpha val="30000"/>
                </a:srgbClr>
              </a:outerShdw>
            </a:effectLst>
            <a:sp3d prstMaterial="matte">
              <a:bevelT w="127000" h="63500"/>
            </a:sp3d>
          </p:spPr>
        </p:sp>
      </p:grpSp>
      <p:grpSp>
        <p:nvGrpSpPr>
          <p:cNvPr id="15" name="Group 15"/>
          <p:cNvGrpSpPr/>
          <p:nvPr/>
        </p:nvGrpSpPr>
        <p:grpSpPr>
          <a:xfrm>
            <a:off x="905495" y="4857358"/>
            <a:ext cx="1903745" cy="1589019"/>
            <a:chOff x="0" y="0"/>
            <a:chExt cx="2538326" cy="2118692"/>
          </a:xfrm>
          <a:scene3d>
            <a:camera prst="orthographicFront">
              <a:rot lat="0" lon="0" rev="0"/>
            </a:camera>
            <a:lightRig rig="glow" dir="t">
              <a:rot lat="0" lon="0" rev="4800000"/>
            </a:lightRig>
          </a:scene3d>
        </p:grpSpPr>
        <p:grpSp>
          <p:nvGrpSpPr>
            <p:cNvPr id="16" name="Group 16"/>
            <p:cNvGrpSpPr/>
            <p:nvPr/>
          </p:nvGrpSpPr>
          <p:grpSpPr>
            <a:xfrm>
              <a:off x="0" y="0"/>
              <a:ext cx="2538326" cy="2118692"/>
              <a:chOff x="0" y="0"/>
              <a:chExt cx="694491" cy="579678"/>
            </a:xfrm>
          </p:grpSpPr>
          <p:sp>
            <p:nvSpPr>
              <p:cNvPr id="17" name="Freeform 17"/>
              <p:cNvSpPr/>
              <p:nvPr/>
            </p:nvSpPr>
            <p:spPr>
              <a:xfrm>
                <a:off x="0" y="0"/>
                <a:ext cx="694491" cy="579678"/>
              </a:xfrm>
              <a:custGeom>
                <a:avLst/>
                <a:gdLst/>
                <a:ahLst/>
                <a:cxnLst/>
                <a:rect l="l" t="t" r="r" b="b"/>
                <a:pathLst>
                  <a:path w="694491" h="579678">
                    <a:moveTo>
                      <a:pt x="0" y="0"/>
                    </a:moveTo>
                    <a:lnTo>
                      <a:pt x="694491" y="0"/>
                    </a:lnTo>
                    <a:lnTo>
                      <a:pt x="694491"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8" name="Freeform 18"/>
            <p:cNvSpPr/>
            <p:nvPr/>
          </p:nvSpPr>
          <p:spPr>
            <a:xfrm>
              <a:off x="495450" y="260744"/>
              <a:ext cx="1547426" cy="1516477"/>
            </a:xfrm>
            <a:custGeom>
              <a:avLst/>
              <a:gdLst/>
              <a:ahLst/>
              <a:cxnLst/>
              <a:rect l="l" t="t" r="r" b="b"/>
              <a:pathLst>
                <a:path w="1547426" h="1516477">
                  <a:moveTo>
                    <a:pt x="0" y="0"/>
                  </a:moveTo>
                  <a:lnTo>
                    <a:pt x="1547426" y="0"/>
                  </a:lnTo>
                  <a:lnTo>
                    <a:pt x="1547426" y="1516477"/>
                  </a:lnTo>
                  <a:lnTo>
                    <a:pt x="0" y="1516477"/>
                  </a:lnTo>
                  <a:lnTo>
                    <a:pt x="0" y="0"/>
                  </a:lnTo>
                  <a:close/>
                </a:path>
              </a:pathLst>
            </a:custGeom>
            <a:blipFill>
              <a:blip>
                <a:extLst>
                  <a:ext uri="{96DAC541-7B7A-43D3-8B79-37D633B846F1}">
                    <asvg:svgBlip xmlns:asvg="http://schemas.microsoft.com/office/drawing/2016/SVG/main" r:embed="rId5"/>
                  </a:ext>
                </a:extLst>
              </a:blip>
              <a:stretch>
                <a:fillRect/>
              </a:stretch>
            </a:blipFill>
            <a:ln>
              <a:noFill/>
            </a:ln>
            <a:effectLst>
              <a:outerShdw blurRad="190500" dist="228600" dir="2700000" algn="ctr">
                <a:srgbClr val="000000">
                  <a:alpha val="30000"/>
                </a:srgbClr>
              </a:outerShdw>
            </a:effectLst>
            <a:sp3d prstMaterial="matte">
              <a:bevelT w="127000" h="63500"/>
            </a:sp3d>
          </p:spPr>
        </p:sp>
      </p:grpSp>
      <p:grpSp>
        <p:nvGrpSpPr>
          <p:cNvPr id="19" name="Group 19"/>
          <p:cNvGrpSpPr/>
          <p:nvPr/>
        </p:nvGrpSpPr>
        <p:grpSpPr>
          <a:xfrm>
            <a:off x="905495" y="6992236"/>
            <a:ext cx="1903745" cy="1589019"/>
            <a:chOff x="0" y="0"/>
            <a:chExt cx="2538326" cy="2118692"/>
          </a:xfrm>
          <a:scene3d>
            <a:camera prst="orthographicFront">
              <a:rot lat="0" lon="0" rev="0"/>
            </a:camera>
            <a:lightRig rig="glow" dir="t">
              <a:rot lat="0" lon="0" rev="4800000"/>
            </a:lightRig>
          </a:scene3d>
        </p:grpSpPr>
        <p:grpSp>
          <p:nvGrpSpPr>
            <p:cNvPr id="20" name="Group 20"/>
            <p:cNvGrpSpPr/>
            <p:nvPr/>
          </p:nvGrpSpPr>
          <p:grpSpPr>
            <a:xfrm>
              <a:off x="0" y="0"/>
              <a:ext cx="2538326" cy="2118692"/>
              <a:chOff x="0" y="0"/>
              <a:chExt cx="694491" cy="579678"/>
            </a:xfrm>
          </p:grpSpPr>
          <p:sp>
            <p:nvSpPr>
              <p:cNvPr id="21" name="Freeform 21"/>
              <p:cNvSpPr/>
              <p:nvPr/>
            </p:nvSpPr>
            <p:spPr>
              <a:xfrm>
                <a:off x="0" y="0"/>
                <a:ext cx="694491" cy="579678"/>
              </a:xfrm>
              <a:custGeom>
                <a:avLst/>
                <a:gdLst/>
                <a:ahLst/>
                <a:cxnLst/>
                <a:rect l="l" t="t" r="r" b="b"/>
                <a:pathLst>
                  <a:path w="694491" h="579678">
                    <a:moveTo>
                      <a:pt x="0" y="0"/>
                    </a:moveTo>
                    <a:lnTo>
                      <a:pt x="694491" y="0"/>
                    </a:lnTo>
                    <a:lnTo>
                      <a:pt x="694491"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2" name="Freeform 22"/>
            <p:cNvSpPr/>
            <p:nvPr/>
          </p:nvSpPr>
          <p:spPr>
            <a:xfrm>
              <a:off x="815669" y="319785"/>
              <a:ext cx="986978" cy="1479123"/>
            </a:xfrm>
            <a:custGeom>
              <a:avLst/>
              <a:gdLst/>
              <a:ahLst/>
              <a:cxnLst/>
              <a:rect l="l" t="t" r="r" b="b"/>
              <a:pathLst>
                <a:path w="986978" h="1479123">
                  <a:moveTo>
                    <a:pt x="0" y="0"/>
                  </a:moveTo>
                  <a:lnTo>
                    <a:pt x="986979" y="0"/>
                  </a:lnTo>
                  <a:lnTo>
                    <a:pt x="986979" y="1479122"/>
                  </a:lnTo>
                  <a:lnTo>
                    <a:pt x="0" y="1479122"/>
                  </a:lnTo>
                  <a:lnTo>
                    <a:pt x="0" y="0"/>
                  </a:lnTo>
                  <a:close/>
                </a:path>
              </a:pathLst>
            </a:custGeom>
            <a:blipFill>
              <a:blip>
                <a:extLst>
                  <a:ext uri="{96DAC541-7B7A-43D3-8B79-37D633B846F1}">
                    <asvg:svgBlip xmlns:asvg="http://schemas.microsoft.com/office/drawing/2016/SVG/main" r:embed="rId6"/>
                  </a:ext>
                </a:extLst>
              </a:blip>
              <a:stretch>
                <a:fillRect/>
              </a:stretch>
            </a:blipFill>
            <a:ln>
              <a:noFill/>
            </a:ln>
            <a:effectLst>
              <a:outerShdw blurRad="190500" dist="228600" dir="2700000" algn="ctr">
                <a:srgbClr val="000000">
                  <a:alpha val="30000"/>
                </a:srgbClr>
              </a:outerShdw>
            </a:effectLst>
            <a:sp3d prstMaterial="matte">
              <a:bevelT w="127000" h="63500"/>
            </a:sp3d>
          </p:spPr>
        </p:sp>
      </p:grpSp>
      <p:sp>
        <p:nvSpPr>
          <p:cNvPr id="23" name="TextBox 23"/>
          <p:cNvSpPr txBox="1"/>
          <p:nvPr/>
        </p:nvSpPr>
        <p:spPr>
          <a:xfrm>
            <a:off x="3961525" y="915172"/>
            <a:ext cx="10364949" cy="1228725"/>
          </a:xfrm>
          <a:prstGeom prst="rect">
            <a:avLst/>
          </a:prstGeom>
        </p:spPr>
        <p:txBody>
          <a:bodyPr lIns="0" tIns="0" rIns="0" bIns="0" rtlCol="0" anchor="t">
            <a:spAutoFit/>
          </a:bodyPr>
          <a:lstStyle/>
          <a:p>
            <a:pPr algn="ctr">
              <a:lnSpc>
                <a:spcPts val="9600"/>
              </a:lnSpc>
            </a:pPr>
            <a:r>
              <a:rPr lang="en-US" sz="8000" b="1">
                <a:solidFill>
                  <a:srgbClr val="003EA8"/>
                </a:solidFill>
                <a:latin typeface="Muli Bold"/>
                <a:ea typeface="Muli Bold"/>
                <a:cs typeface="Muli Bold"/>
                <a:sym typeface="Muli Bold"/>
              </a:rPr>
              <a:t>Quan Hệ Dữ Liệu</a:t>
            </a:r>
          </a:p>
        </p:txBody>
      </p:sp>
      <p:grpSp>
        <p:nvGrpSpPr>
          <p:cNvPr id="24" name="Group 24"/>
          <p:cNvGrpSpPr/>
          <p:nvPr/>
        </p:nvGrpSpPr>
        <p:grpSpPr>
          <a:xfrm>
            <a:off x="3859018" y="3263683"/>
            <a:ext cx="10152508" cy="953577"/>
            <a:chOff x="0" y="0"/>
            <a:chExt cx="13536677" cy="1271436"/>
          </a:xfrm>
        </p:grpSpPr>
        <p:sp>
          <p:nvSpPr>
            <p:cNvPr id="25" name="TextBox 25"/>
            <p:cNvSpPr txBox="1"/>
            <p:nvPr/>
          </p:nvSpPr>
          <p:spPr>
            <a:xfrm>
              <a:off x="0" y="-28575"/>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Users</a:t>
              </a:r>
            </a:p>
          </p:txBody>
        </p:sp>
        <p:sp>
          <p:nvSpPr>
            <p:cNvPr id="26" name="TextBox 26"/>
            <p:cNvSpPr txBox="1"/>
            <p:nvPr/>
          </p:nvSpPr>
          <p:spPr>
            <a:xfrm>
              <a:off x="0" y="815083"/>
              <a:ext cx="13536677" cy="4643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Classes → ClassStudents</a:t>
              </a:r>
            </a:p>
          </p:txBody>
        </p:sp>
      </p:grpSp>
      <p:grpSp>
        <p:nvGrpSpPr>
          <p:cNvPr id="27" name="Group 27"/>
          <p:cNvGrpSpPr/>
          <p:nvPr/>
        </p:nvGrpSpPr>
        <p:grpSpPr>
          <a:xfrm>
            <a:off x="3859018" y="5206987"/>
            <a:ext cx="10152508" cy="1321560"/>
            <a:chOff x="0" y="0"/>
            <a:chExt cx="13536677" cy="1762079"/>
          </a:xfrm>
        </p:grpSpPr>
        <p:sp>
          <p:nvSpPr>
            <p:cNvPr id="28" name="TextBox 28"/>
            <p:cNvSpPr txBox="1"/>
            <p:nvPr/>
          </p:nvSpPr>
          <p:spPr>
            <a:xfrm>
              <a:off x="0" y="-28575"/>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Teams</a:t>
              </a:r>
            </a:p>
          </p:txBody>
        </p:sp>
        <p:sp>
          <p:nvSpPr>
            <p:cNvPr id="29" name="TextBox 29"/>
            <p:cNvSpPr txBox="1"/>
            <p:nvPr/>
          </p:nvSpPr>
          <p:spPr>
            <a:xfrm>
              <a:off x="0" y="815083"/>
              <a:ext cx="6860136" cy="9469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TeamMembers, ProjectRegistrations, ProgressReports, FinalSubmissions</a:t>
              </a:r>
            </a:p>
          </p:txBody>
        </p:sp>
      </p:grpSp>
      <p:grpSp>
        <p:nvGrpSpPr>
          <p:cNvPr id="30" name="Group 30"/>
          <p:cNvGrpSpPr/>
          <p:nvPr/>
        </p:nvGrpSpPr>
        <p:grpSpPr>
          <a:xfrm>
            <a:off x="3859018" y="7341866"/>
            <a:ext cx="10152508" cy="953577"/>
            <a:chOff x="0" y="0"/>
            <a:chExt cx="13536677" cy="1271436"/>
          </a:xfrm>
        </p:grpSpPr>
        <p:sp>
          <p:nvSpPr>
            <p:cNvPr id="31" name="TextBox 31"/>
            <p:cNvSpPr txBox="1"/>
            <p:nvPr/>
          </p:nvSpPr>
          <p:spPr>
            <a:xfrm>
              <a:off x="0" y="-28575"/>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Classes</a:t>
              </a:r>
            </a:p>
          </p:txBody>
        </p:sp>
        <p:sp>
          <p:nvSpPr>
            <p:cNvPr id="32" name="TextBox 32"/>
            <p:cNvSpPr txBox="1"/>
            <p:nvPr/>
          </p:nvSpPr>
          <p:spPr>
            <a:xfrm>
              <a:off x="0" y="815083"/>
              <a:ext cx="13536677" cy="4643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ProjectTopics, Milestones → ProgressReports</a:t>
              </a:r>
            </a:p>
          </p:txBody>
        </p:sp>
      </p:grpSp>
      <p:sp>
        <p:nvSpPr>
          <p:cNvPr id="33" name="Freeform 33"/>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4" name="Freeform 34"/>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5" name="Freeform 35"/>
          <p:cNvSpPr/>
          <p:nvPr/>
        </p:nvSpPr>
        <p:spPr>
          <a:xfrm>
            <a:off x="14011526" y="8735435"/>
            <a:ext cx="441616" cy="633141"/>
          </a:xfrm>
          <a:custGeom>
            <a:avLst/>
            <a:gdLst/>
            <a:ahLst/>
            <a:cxnLst/>
            <a:rect l="l" t="t" r="r" b="b"/>
            <a:pathLst>
              <a:path w="441616" h="633141">
                <a:moveTo>
                  <a:pt x="0" y="0"/>
                </a:moveTo>
                <a:lnTo>
                  <a:pt x="441616" y="0"/>
                </a:lnTo>
                <a:lnTo>
                  <a:pt x="441616" y="633140"/>
                </a:lnTo>
                <a:lnTo>
                  <a:pt x="0" y="633140"/>
                </a:lnTo>
                <a:lnTo>
                  <a:pt x="0" y="0"/>
                </a:lnTo>
                <a:close/>
              </a:path>
            </a:pathLst>
          </a:custGeom>
          <a:blipFill>
            <a:blip>
              <a:extLst>
                <a:ext uri="{96DAC541-7B7A-43D3-8B79-37D633B846F1}">
                  <asvg:svgBlip xmlns:asvg="http://schemas.microsoft.com/office/drawing/2016/SVG/main" r:embed="rId8"/>
                </a:ext>
              </a:extLst>
            </a:blip>
            <a:stretch>
              <a:fillRect/>
            </a:stretch>
          </a:blipFill>
        </p:spPr>
      </p:sp>
      <p:grpSp>
        <p:nvGrpSpPr>
          <p:cNvPr id="36" name="Group 36"/>
          <p:cNvGrpSpPr/>
          <p:nvPr/>
        </p:nvGrpSpPr>
        <p:grpSpPr>
          <a:xfrm>
            <a:off x="11456950" y="4765448"/>
            <a:ext cx="6062379" cy="2204638"/>
            <a:chOff x="0" y="0"/>
            <a:chExt cx="2211572" cy="804258"/>
          </a:xfrm>
          <a:scene3d>
            <a:camera prst="orthographicFront">
              <a:rot lat="0" lon="0" rev="0"/>
            </a:camera>
            <a:lightRig rig="glow" dir="t">
              <a:rot lat="0" lon="0" rev="4800000"/>
            </a:lightRig>
          </a:scene3d>
        </p:grpSpPr>
        <p:sp>
          <p:nvSpPr>
            <p:cNvPr id="37" name="Freeform 37"/>
            <p:cNvSpPr/>
            <p:nvPr/>
          </p:nvSpPr>
          <p:spPr>
            <a:xfrm>
              <a:off x="0" y="0"/>
              <a:ext cx="2211572" cy="804258"/>
            </a:xfrm>
            <a:custGeom>
              <a:avLst/>
              <a:gdLst/>
              <a:ahLst/>
              <a:cxnLst/>
              <a:rect l="l" t="t" r="r" b="b"/>
              <a:pathLst>
                <a:path w="2211572" h="804258">
                  <a:moveTo>
                    <a:pt x="0" y="0"/>
                  </a:moveTo>
                  <a:lnTo>
                    <a:pt x="2211572" y="0"/>
                  </a:lnTo>
                  <a:lnTo>
                    <a:pt x="2211572" y="804258"/>
                  </a:lnTo>
                  <a:lnTo>
                    <a:pt x="0" y="80425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38" name="Group 38"/>
          <p:cNvGrpSpPr/>
          <p:nvPr/>
        </p:nvGrpSpPr>
        <p:grpSpPr>
          <a:xfrm>
            <a:off x="11832654" y="5115078"/>
            <a:ext cx="10152508" cy="1442527"/>
            <a:chOff x="0" y="0"/>
            <a:chExt cx="13536677" cy="1923370"/>
          </a:xfrm>
        </p:grpSpPr>
        <p:sp>
          <p:nvSpPr>
            <p:cNvPr id="39" name="TextBox 39"/>
            <p:cNvSpPr txBox="1"/>
            <p:nvPr/>
          </p:nvSpPr>
          <p:spPr>
            <a:xfrm>
              <a:off x="0" y="-28575"/>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Quan hệ nghiệp vụ</a:t>
              </a:r>
            </a:p>
          </p:txBody>
        </p:sp>
        <p:sp>
          <p:nvSpPr>
            <p:cNvPr id="40" name="TextBox 40"/>
            <p:cNvSpPr txBox="1"/>
            <p:nvPr/>
          </p:nvSpPr>
          <p:spPr>
            <a:xfrm>
              <a:off x="0" y="710308"/>
              <a:ext cx="13536677" cy="1221105"/>
            </a:xfrm>
            <a:prstGeom prst="rect">
              <a:avLst/>
            </a:prstGeom>
          </p:spPr>
          <p:txBody>
            <a:bodyPr lIns="0" tIns="0" rIns="0" bIns="0" rtlCol="0" anchor="t">
              <a:spAutoFit/>
            </a:bodyPr>
            <a:lstStyle/>
            <a:p>
              <a:pPr algn="l">
                <a:lnSpc>
                  <a:spcPts val="3959"/>
                </a:lnSpc>
              </a:pPr>
              <a:r>
                <a:rPr lang="en-US" sz="2199">
                  <a:solidFill>
                    <a:srgbClr val="000000"/>
                  </a:solidFill>
                  <a:latin typeface="Cabin"/>
                  <a:ea typeface="Cabin"/>
                  <a:cs typeface="Cabin"/>
                  <a:sym typeface="Cabin"/>
                </a:rPr>
                <a:t>ProgressReports theo dõi tiếnđộ.</a:t>
              </a:r>
            </a:p>
            <a:p>
              <a:pPr algn="l">
                <a:lnSpc>
                  <a:spcPts val="3959"/>
                </a:lnSpc>
              </a:pPr>
              <a:r>
                <a:rPr lang="en-US" sz="2199">
                  <a:solidFill>
                    <a:srgbClr val="000000"/>
                  </a:solidFill>
                  <a:latin typeface="Cabin"/>
                  <a:ea typeface="Cabin"/>
                  <a:cs typeface="Cabin"/>
                  <a:sym typeface="Cabin"/>
                </a:rPr>
                <a:t>FinalSubmissions quản lý bài nộp cuối kỳ.</a:t>
              </a:r>
            </a:p>
          </p:txBody>
        </p:sp>
      </p:grpSp>
      <p:sp>
        <p:nvSpPr>
          <p:cNvPr id="41" name="TextBox 41"/>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1028700" y="657204"/>
            <a:ext cx="16445245" cy="1906519"/>
            <a:chOff x="0" y="0"/>
            <a:chExt cx="5999270" cy="695503"/>
          </a:xfrm>
          <a:scene3d>
            <a:camera prst="orthographicFront">
              <a:rot lat="0" lon="0" rev="0"/>
            </a:camera>
            <a:lightRig rig="glow" dir="t">
              <a:rot lat="0" lon="0" rev="4800000"/>
            </a:lightRig>
          </a:scene3d>
        </p:grpSpPr>
        <p:sp>
          <p:nvSpPr>
            <p:cNvPr id="4" name="Freeform 4"/>
            <p:cNvSpPr/>
            <p:nvPr/>
          </p:nvSpPr>
          <p:spPr>
            <a:xfrm>
              <a:off x="0" y="0"/>
              <a:ext cx="5999270" cy="695503"/>
            </a:xfrm>
            <a:custGeom>
              <a:avLst/>
              <a:gdLst/>
              <a:ahLst/>
              <a:cxnLst/>
              <a:rect l="l" t="t" r="r" b="b"/>
              <a:pathLst>
                <a:path w="5999270" h="695503">
                  <a:moveTo>
                    <a:pt x="0" y="0"/>
                  </a:moveTo>
                  <a:lnTo>
                    <a:pt x="5999270" y="0"/>
                  </a:lnTo>
                  <a:lnTo>
                    <a:pt x="5999270" y="695503"/>
                  </a:lnTo>
                  <a:lnTo>
                    <a:pt x="0" y="69550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1028700" y="3877256"/>
            <a:ext cx="4336713" cy="4357464"/>
            <a:chOff x="0" y="0"/>
            <a:chExt cx="1582045" cy="1589615"/>
          </a:xfrm>
          <a:scene3d>
            <a:camera prst="orthographicFront">
              <a:rot lat="0" lon="0" rev="0"/>
            </a:camera>
            <a:lightRig rig="glow" dir="t">
              <a:rot lat="0" lon="0" rev="4800000"/>
            </a:lightRig>
          </a:scene3d>
        </p:grpSpPr>
        <p:sp>
          <p:nvSpPr>
            <p:cNvPr id="6" name="Freeform 6"/>
            <p:cNvSpPr/>
            <p:nvPr/>
          </p:nvSpPr>
          <p:spPr>
            <a:xfrm>
              <a:off x="0" y="0"/>
              <a:ext cx="1582045" cy="1589615"/>
            </a:xfrm>
            <a:custGeom>
              <a:avLst/>
              <a:gdLst/>
              <a:ahLst/>
              <a:cxnLst/>
              <a:rect l="l" t="t" r="r" b="b"/>
              <a:pathLst>
                <a:path w="1582045" h="1589615">
                  <a:moveTo>
                    <a:pt x="0" y="0"/>
                  </a:moveTo>
                  <a:lnTo>
                    <a:pt x="1582045" y="0"/>
                  </a:lnTo>
                  <a:lnTo>
                    <a:pt x="1582045"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7" name="TextBox 7"/>
          <p:cNvSpPr txBox="1"/>
          <p:nvPr/>
        </p:nvSpPr>
        <p:spPr>
          <a:xfrm>
            <a:off x="3961525" y="915172"/>
            <a:ext cx="10364949" cy="1228725"/>
          </a:xfrm>
          <a:prstGeom prst="rect">
            <a:avLst/>
          </a:prstGeom>
        </p:spPr>
        <p:txBody>
          <a:bodyPr lIns="0" tIns="0" rIns="0" bIns="0" rtlCol="0" anchor="t">
            <a:spAutoFit/>
          </a:bodyPr>
          <a:lstStyle/>
          <a:p>
            <a:pPr algn="ctr">
              <a:lnSpc>
                <a:spcPts val="9600"/>
              </a:lnSpc>
            </a:pPr>
            <a:r>
              <a:rPr lang="en-US" sz="8000" b="1">
                <a:solidFill>
                  <a:srgbClr val="003EA8"/>
                </a:solidFill>
                <a:latin typeface="Muli Bold"/>
                <a:ea typeface="Muli Bold"/>
                <a:cs typeface="Muli Bold"/>
                <a:sym typeface="Muli Bold"/>
              </a:rPr>
              <a:t>Kiến Trúc Tổng Thể</a:t>
            </a:r>
          </a:p>
        </p:txBody>
      </p:sp>
      <p:grpSp>
        <p:nvGrpSpPr>
          <p:cNvPr id="8" name="Group 8"/>
          <p:cNvGrpSpPr/>
          <p:nvPr/>
        </p:nvGrpSpPr>
        <p:grpSpPr>
          <a:xfrm>
            <a:off x="1404404" y="4226885"/>
            <a:ext cx="5583817" cy="959610"/>
            <a:chOff x="0" y="0"/>
            <a:chExt cx="7445090" cy="1279479"/>
          </a:xfrm>
        </p:grpSpPr>
        <p:sp>
          <p:nvSpPr>
            <p:cNvPr id="9" name="TextBox 9"/>
            <p:cNvSpPr txBox="1"/>
            <p:nvPr/>
          </p:nvSpPr>
          <p:spPr>
            <a:xfrm>
              <a:off x="0" y="-28575"/>
              <a:ext cx="7445090"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Frontend</a:t>
              </a:r>
            </a:p>
          </p:txBody>
        </p:sp>
        <p:sp>
          <p:nvSpPr>
            <p:cNvPr id="10" name="TextBox 10"/>
            <p:cNvSpPr txBox="1"/>
            <p:nvPr/>
          </p:nvSpPr>
          <p:spPr>
            <a:xfrm>
              <a:off x="0" y="815083"/>
              <a:ext cx="7445090" cy="4643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React + HTML + CSS + JS</a:t>
              </a:r>
            </a:p>
          </p:txBody>
        </p:sp>
      </p:grpSp>
      <p:sp>
        <p:nvSpPr>
          <p:cNvPr id="11" name="Freeform 11"/>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a:off x="14011526" y="8735435"/>
            <a:ext cx="441616" cy="633141"/>
          </a:xfrm>
          <a:custGeom>
            <a:avLst/>
            <a:gdLst/>
            <a:ahLst/>
            <a:cxnLst/>
            <a:rect l="l" t="t" r="r" b="b"/>
            <a:pathLst>
              <a:path w="441616" h="633141">
                <a:moveTo>
                  <a:pt x="0" y="0"/>
                </a:moveTo>
                <a:lnTo>
                  <a:pt x="441616" y="0"/>
                </a:lnTo>
                <a:lnTo>
                  <a:pt x="441616" y="633140"/>
                </a:lnTo>
                <a:lnTo>
                  <a:pt x="0" y="63314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4" name="Group 14"/>
          <p:cNvGrpSpPr/>
          <p:nvPr/>
        </p:nvGrpSpPr>
        <p:grpSpPr>
          <a:xfrm>
            <a:off x="1028700" y="2772395"/>
            <a:ext cx="7015450" cy="796589"/>
            <a:chOff x="0" y="0"/>
            <a:chExt cx="2559255" cy="290598"/>
          </a:xfrm>
          <a:scene3d>
            <a:camera prst="orthographicFront">
              <a:rot lat="0" lon="0" rev="0"/>
            </a:camera>
            <a:lightRig rig="glow" dir="t">
              <a:rot lat="0" lon="0" rev="4800000"/>
            </a:lightRig>
          </a:scene3d>
        </p:grpSpPr>
        <p:sp>
          <p:nvSpPr>
            <p:cNvPr id="15" name="Freeform 15"/>
            <p:cNvSpPr/>
            <p:nvPr/>
          </p:nvSpPr>
          <p:spPr>
            <a:xfrm>
              <a:off x="0" y="0"/>
              <a:ext cx="2559255" cy="290598"/>
            </a:xfrm>
            <a:custGeom>
              <a:avLst/>
              <a:gdLst/>
              <a:ahLst/>
              <a:cxnLst/>
              <a:rect l="l" t="t" r="r" b="b"/>
              <a:pathLst>
                <a:path w="2559255" h="290598">
                  <a:moveTo>
                    <a:pt x="0" y="0"/>
                  </a:moveTo>
                  <a:lnTo>
                    <a:pt x="2559255" y="0"/>
                  </a:lnTo>
                  <a:lnTo>
                    <a:pt x="2559255" y="290598"/>
                  </a:lnTo>
                  <a:lnTo>
                    <a:pt x="0" y="29059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16" name="Group 16"/>
          <p:cNvGrpSpPr/>
          <p:nvPr/>
        </p:nvGrpSpPr>
        <p:grpSpPr>
          <a:xfrm>
            <a:off x="6385172" y="3912181"/>
            <a:ext cx="4336713" cy="4322539"/>
            <a:chOff x="0" y="0"/>
            <a:chExt cx="1582045" cy="1576874"/>
          </a:xfrm>
          <a:scene3d>
            <a:camera prst="orthographicFront">
              <a:rot lat="0" lon="0" rev="0"/>
            </a:camera>
            <a:lightRig rig="glow" dir="t">
              <a:rot lat="0" lon="0" rev="4800000"/>
            </a:lightRig>
          </a:scene3d>
        </p:grpSpPr>
        <p:sp>
          <p:nvSpPr>
            <p:cNvPr id="17" name="Freeform 17"/>
            <p:cNvSpPr/>
            <p:nvPr/>
          </p:nvSpPr>
          <p:spPr>
            <a:xfrm>
              <a:off x="0" y="0"/>
              <a:ext cx="1582045" cy="1576874"/>
            </a:xfrm>
            <a:custGeom>
              <a:avLst/>
              <a:gdLst/>
              <a:ahLst/>
              <a:cxnLst/>
              <a:rect l="l" t="t" r="r" b="b"/>
              <a:pathLst>
                <a:path w="1582045" h="1576874">
                  <a:moveTo>
                    <a:pt x="0" y="0"/>
                  </a:moveTo>
                  <a:lnTo>
                    <a:pt x="1582045" y="0"/>
                  </a:lnTo>
                  <a:lnTo>
                    <a:pt x="1582045" y="1576874"/>
                  </a:lnTo>
                  <a:lnTo>
                    <a:pt x="0" y="157687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18" name="Group 18"/>
          <p:cNvGrpSpPr/>
          <p:nvPr/>
        </p:nvGrpSpPr>
        <p:grpSpPr>
          <a:xfrm>
            <a:off x="6760875" y="4261810"/>
            <a:ext cx="5583817" cy="959610"/>
            <a:chOff x="0" y="0"/>
            <a:chExt cx="7445090" cy="1279479"/>
          </a:xfrm>
        </p:grpSpPr>
        <p:sp>
          <p:nvSpPr>
            <p:cNvPr id="19" name="TextBox 19"/>
            <p:cNvSpPr txBox="1"/>
            <p:nvPr/>
          </p:nvSpPr>
          <p:spPr>
            <a:xfrm>
              <a:off x="0" y="-28575"/>
              <a:ext cx="7445090"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Backend</a:t>
              </a:r>
            </a:p>
          </p:txBody>
        </p:sp>
        <p:sp>
          <p:nvSpPr>
            <p:cNvPr id="20" name="TextBox 20"/>
            <p:cNvSpPr txBox="1"/>
            <p:nvPr/>
          </p:nvSpPr>
          <p:spPr>
            <a:xfrm>
              <a:off x="0" y="815083"/>
              <a:ext cx="7445090" cy="4643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Node.js + RESTful API</a:t>
              </a:r>
            </a:p>
          </p:txBody>
        </p:sp>
      </p:grpSp>
      <p:grpSp>
        <p:nvGrpSpPr>
          <p:cNvPr id="21" name="Group 21"/>
          <p:cNvGrpSpPr/>
          <p:nvPr/>
        </p:nvGrpSpPr>
        <p:grpSpPr>
          <a:xfrm>
            <a:off x="12179240" y="3842331"/>
            <a:ext cx="5304912" cy="4392389"/>
            <a:chOff x="0" y="0"/>
            <a:chExt cx="1935246" cy="1602355"/>
          </a:xfrm>
          <a:scene3d>
            <a:camera prst="orthographicFront">
              <a:rot lat="0" lon="0" rev="0"/>
            </a:camera>
            <a:lightRig rig="glow" dir="t">
              <a:rot lat="0" lon="0" rev="4800000"/>
            </a:lightRig>
          </a:scene3d>
        </p:grpSpPr>
        <p:sp>
          <p:nvSpPr>
            <p:cNvPr id="22" name="Freeform 22"/>
            <p:cNvSpPr/>
            <p:nvPr/>
          </p:nvSpPr>
          <p:spPr>
            <a:xfrm>
              <a:off x="0" y="0"/>
              <a:ext cx="1935246" cy="1602355"/>
            </a:xfrm>
            <a:custGeom>
              <a:avLst/>
              <a:gdLst/>
              <a:ahLst/>
              <a:cxnLst/>
              <a:rect l="l" t="t" r="r" b="b"/>
              <a:pathLst>
                <a:path w="1935246" h="1602355">
                  <a:moveTo>
                    <a:pt x="0" y="0"/>
                  </a:moveTo>
                  <a:lnTo>
                    <a:pt x="1935246" y="0"/>
                  </a:lnTo>
                  <a:lnTo>
                    <a:pt x="1935246" y="1602355"/>
                  </a:lnTo>
                  <a:lnTo>
                    <a:pt x="0" y="160235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23" name="Group 23"/>
          <p:cNvGrpSpPr/>
          <p:nvPr/>
        </p:nvGrpSpPr>
        <p:grpSpPr>
          <a:xfrm>
            <a:off x="1219094" y="5843720"/>
            <a:ext cx="4236508" cy="1624965"/>
            <a:chOff x="0" y="0"/>
            <a:chExt cx="5648677" cy="2166620"/>
          </a:xfrm>
        </p:grpSpPr>
        <p:sp>
          <p:nvSpPr>
            <p:cNvPr id="24" name="Freeform 24"/>
            <p:cNvSpPr/>
            <p:nvPr/>
          </p:nvSpPr>
          <p:spPr>
            <a:xfrm>
              <a:off x="0" y="127000"/>
              <a:ext cx="824794" cy="835505"/>
            </a:xfrm>
            <a:custGeom>
              <a:avLst/>
              <a:gdLst/>
              <a:ahLst/>
              <a:cxnLst/>
              <a:rect l="l" t="t" r="r" b="b"/>
              <a:pathLst>
                <a:path w="824794" h="835505">
                  <a:moveTo>
                    <a:pt x="0" y="0"/>
                  </a:moveTo>
                  <a:lnTo>
                    <a:pt x="824794" y="0"/>
                  </a:lnTo>
                  <a:lnTo>
                    <a:pt x="824794" y="835505"/>
                  </a:lnTo>
                  <a:lnTo>
                    <a:pt x="0" y="835505"/>
                  </a:lnTo>
                  <a:lnTo>
                    <a:pt x="0" y="0"/>
                  </a:lnTo>
                  <a:close/>
                </a:path>
              </a:pathLst>
            </a:custGeom>
            <a:blipFill>
              <a:blip r:embed="rId6"/>
              <a:stretch>
                <a:fillRect/>
              </a:stretch>
            </a:blipFill>
          </p:spPr>
        </p:sp>
        <p:sp>
          <p:nvSpPr>
            <p:cNvPr id="25" name="TextBox 25"/>
            <p:cNvSpPr txBox="1"/>
            <p:nvPr/>
          </p:nvSpPr>
          <p:spPr>
            <a:xfrm>
              <a:off x="966990" y="-19050"/>
              <a:ext cx="4681687" cy="1118023"/>
            </a:xfrm>
            <a:prstGeom prst="rect">
              <a:avLst/>
            </a:prstGeom>
          </p:spPr>
          <p:txBody>
            <a:bodyPr lIns="0" tIns="0" rIns="0" bIns="0" rtlCol="0" anchor="t">
              <a:spAutoFit/>
            </a:bodyPr>
            <a:lstStyle/>
            <a:p>
              <a:pPr algn="l">
                <a:lnSpc>
                  <a:spcPts val="3380"/>
                </a:lnSpc>
              </a:pPr>
              <a:r>
                <a:rPr lang="en-US" sz="2600" b="1">
                  <a:solidFill>
                    <a:srgbClr val="003EA8"/>
                  </a:solidFill>
                  <a:latin typeface="Muli Ultra-Bold"/>
                  <a:ea typeface="Muli Ultra-Bold"/>
                  <a:cs typeface="Muli Ultra-Bold"/>
                  <a:sym typeface="Muli Ultra-Bold"/>
                </a:rPr>
                <a:t>Tách biệt</a:t>
              </a:r>
            </a:p>
            <a:p>
              <a:pPr algn="l">
                <a:lnSpc>
                  <a:spcPts val="3380"/>
                </a:lnSpc>
              </a:pPr>
              <a:r>
                <a:rPr lang="en-US" sz="2600" b="1">
                  <a:solidFill>
                    <a:srgbClr val="003EA8"/>
                  </a:solidFill>
                  <a:latin typeface="Muli Ultra-Bold"/>
                  <a:ea typeface="Muli Ultra-Bold"/>
                  <a:cs typeface="Muli Ultra-Bold"/>
                  <a:sym typeface="Muli Ultra-Bold"/>
                </a:rPr>
                <a:t>Frontend &amp; Backend</a:t>
              </a:r>
            </a:p>
          </p:txBody>
        </p:sp>
        <p:sp>
          <p:nvSpPr>
            <p:cNvPr id="26" name="TextBox 26"/>
            <p:cNvSpPr txBox="1"/>
            <p:nvPr/>
          </p:nvSpPr>
          <p:spPr>
            <a:xfrm>
              <a:off x="40798" y="1219623"/>
              <a:ext cx="5099809" cy="9469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Kiến trúc rõ ràng, dễ phân công phát triển.</a:t>
              </a:r>
            </a:p>
          </p:txBody>
        </p:sp>
      </p:grpSp>
      <p:sp>
        <p:nvSpPr>
          <p:cNvPr id="27" name="Freeform 27"/>
          <p:cNvSpPr/>
          <p:nvPr/>
        </p:nvSpPr>
        <p:spPr>
          <a:xfrm>
            <a:off x="6710960" y="5915064"/>
            <a:ext cx="594565" cy="602287"/>
          </a:xfrm>
          <a:custGeom>
            <a:avLst/>
            <a:gdLst/>
            <a:ahLst/>
            <a:cxnLst/>
            <a:rect l="l" t="t" r="r" b="b"/>
            <a:pathLst>
              <a:path w="594565" h="602287">
                <a:moveTo>
                  <a:pt x="0" y="0"/>
                </a:moveTo>
                <a:lnTo>
                  <a:pt x="594565" y="0"/>
                </a:lnTo>
                <a:lnTo>
                  <a:pt x="594565" y="602287"/>
                </a:lnTo>
                <a:lnTo>
                  <a:pt x="0" y="602287"/>
                </a:lnTo>
                <a:lnTo>
                  <a:pt x="0" y="0"/>
                </a:lnTo>
                <a:close/>
              </a:path>
            </a:pathLst>
          </a:custGeom>
          <a:blipFill>
            <a:blip r:embed="rId7"/>
            <a:stretch>
              <a:fillRect/>
            </a:stretch>
          </a:blipFill>
        </p:spPr>
      </p:sp>
      <p:sp>
        <p:nvSpPr>
          <p:cNvPr id="28" name="Freeform 28"/>
          <p:cNvSpPr/>
          <p:nvPr/>
        </p:nvSpPr>
        <p:spPr>
          <a:xfrm>
            <a:off x="12554943" y="5921786"/>
            <a:ext cx="563858" cy="619998"/>
          </a:xfrm>
          <a:custGeom>
            <a:avLst/>
            <a:gdLst/>
            <a:ahLst/>
            <a:cxnLst/>
            <a:rect l="l" t="t" r="r" b="b"/>
            <a:pathLst>
              <a:path w="563858" h="619998">
                <a:moveTo>
                  <a:pt x="0" y="0"/>
                </a:moveTo>
                <a:lnTo>
                  <a:pt x="563858" y="0"/>
                </a:lnTo>
                <a:lnTo>
                  <a:pt x="563858" y="619997"/>
                </a:lnTo>
                <a:lnTo>
                  <a:pt x="0" y="619997"/>
                </a:lnTo>
                <a:lnTo>
                  <a:pt x="0" y="0"/>
                </a:lnTo>
                <a:close/>
              </a:path>
            </a:pathLst>
          </a:custGeom>
          <a:blipFill>
            <a:blip r:embed="rId8"/>
            <a:stretch>
              <a:fillRect l="-4273" r="-4273"/>
            </a:stretch>
          </a:blipFill>
        </p:spPr>
      </p:sp>
      <p:grpSp>
        <p:nvGrpSpPr>
          <p:cNvPr id="29" name="Group 29"/>
          <p:cNvGrpSpPr/>
          <p:nvPr/>
        </p:nvGrpSpPr>
        <p:grpSpPr>
          <a:xfrm>
            <a:off x="1404404" y="2895103"/>
            <a:ext cx="10152508" cy="947227"/>
            <a:chOff x="0" y="0"/>
            <a:chExt cx="13536677" cy="1262970"/>
          </a:xfrm>
        </p:grpSpPr>
        <p:sp>
          <p:nvSpPr>
            <p:cNvPr id="30" name="TextBox 30"/>
            <p:cNvSpPr txBox="1"/>
            <p:nvPr/>
          </p:nvSpPr>
          <p:spPr>
            <a:xfrm>
              <a:off x="0" y="-28575"/>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Client — Server Architecture</a:t>
              </a:r>
            </a:p>
          </p:txBody>
        </p:sp>
        <p:sp>
          <p:nvSpPr>
            <p:cNvPr id="31" name="TextBox 31"/>
            <p:cNvSpPr txBox="1"/>
            <p:nvPr/>
          </p:nvSpPr>
          <p:spPr>
            <a:xfrm>
              <a:off x="0" y="710308"/>
              <a:ext cx="13536677" cy="560705"/>
            </a:xfrm>
            <a:prstGeom prst="rect">
              <a:avLst/>
            </a:prstGeom>
          </p:spPr>
          <p:txBody>
            <a:bodyPr lIns="0" tIns="0" rIns="0" bIns="0" rtlCol="0" anchor="t">
              <a:spAutoFit/>
            </a:bodyPr>
            <a:lstStyle/>
            <a:p>
              <a:pPr algn="l">
                <a:lnSpc>
                  <a:spcPts val="3959"/>
                </a:lnSpc>
              </a:pPr>
              <a:endParaRPr/>
            </a:p>
          </p:txBody>
        </p:sp>
      </p:grpSp>
      <p:grpSp>
        <p:nvGrpSpPr>
          <p:cNvPr id="32" name="Group 32"/>
          <p:cNvGrpSpPr/>
          <p:nvPr/>
        </p:nvGrpSpPr>
        <p:grpSpPr>
          <a:xfrm>
            <a:off x="12554943" y="4191960"/>
            <a:ext cx="5583817" cy="959610"/>
            <a:chOff x="0" y="0"/>
            <a:chExt cx="7445090" cy="1279479"/>
          </a:xfrm>
        </p:grpSpPr>
        <p:sp>
          <p:nvSpPr>
            <p:cNvPr id="33" name="TextBox 33"/>
            <p:cNvSpPr txBox="1"/>
            <p:nvPr/>
          </p:nvSpPr>
          <p:spPr>
            <a:xfrm>
              <a:off x="0" y="-28575"/>
              <a:ext cx="7445090"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Database</a:t>
              </a:r>
            </a:p>
          </p:txBody>
        </p:sp>
        <p:sp>
          <p:nvSpPr>
            <p:cNvPr id="34" name="TextBox 34"/>
            <p:cNvSpPr txBox="1"/>
            <p:nvPr/>
          </p:nvSpPr>
          <p:spPr>
            <a:xfrm>
              <a:off x="0" y="815083"/>
              <a:ext cx="7445090" cy="4643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SQL Server (TvuStudentProjectPortal)</a:t>
              </a:r>
            </a:p>
          </p:txBody>
        </p:sp>
      </p:grpSp>
      <p:sp>
        <p:nvSpPr>
          <p:cNvPr id="35" name="TextBox 35"/>
          <p:cNvSpPr txBox="1"/>
          <p:nvPr/>
        </p:nvSpPr>
        <p:spPr>
          <a:xfrm>
            <a:off x="7516867" y="6014932"/>
            <a:ext cx="3511266" cy="414655"/>
          </a:xfrm>
          <a:prstGeom prst="rect">
            <a:avLst/>
          </a:prstGeom>
        </p:spPr>
        <p:txBody>
          <a:bodyPr lIns="0" tIns="0" rIns="0" bIns="0" rtlCol="0" anchor="t">
            <a:spAutoFit/>
          </a:bodyPr>
          <a:lstStyle/>
          <a:p>
            <a:pPr algn="l">
              <a:lnSpc>
                <a:spcPts val="3380"/>
              </a:lnSpc>
            </a:pPr>
            <a:r>
              <a:rPr lang="en-US" sz="2600" b="1">
                <a:solidFill>
                  <a:srgbClr val="003EA8"/>
                </a:solidFill>
                <a:latin typeface="Muli Ultra-Bold"/>
                <a:ea typeface="Muli Ultra-Bold"/>
                <a:cs typeface="Muli Ultra-Bold"/>
                <a:sym typeface="Muli Ultra-Bold"/>
              </a:rPr>
              <a:t>Dễ bảo trì</a:t>
            </a:r>
          </a:p>
        </p:txBody>
      </p:sp>
      <p:sp>
        <p:nvSpPr>
          <p:cNvPr id="36" name="TextBox 36"/>
          <p:cNvSpPr txBox="1"/>
          <p:nvPr/>
        </p:nvSpPr>
        <p:spPr>
          <a:xfrm>
            <a:off x="6641100" y="6753675"/>
            <a:ext cx="3824856" cy="715010"/>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Mỗi tầng độc lập, thay đổi không ảnh hưởng toàn hệ thống.</a:t>
            </a:r>
          </a:p>
        </p:txBody>
      </p:sp>
      <p:sp>
        <p:nvSpPr>
          <p:cNvPr id="37" name="TextBox 37"/>
          <p:cNvSpPr txBox="1"/>
          <p:nvPr/>
        </p:nvSpPr>
        <p:spPr>
          <a:xfrm>
            <a:off x="13591219" y="5999355"/>
            <a:ext cx="3511266" cy="414655"/>
          </a:xfrm>
          <a:prstGeom prst="rect">
            <a:avLst/>
          </a:prstGeom>
        </p:spPr>
        <p:txBody>
          <a:bodyPr lIns="0" tIns="0" rIns="0" bIns="0" rtlCol="0" anchor="t">
            <a:spAutoFit/>
          </a:bodyPr>
          <a:lstStyle/>
          <a:p>
            <a:pPr algn="l">
              <a:lnSpc>
                <a:spcPts val="3380"/>
              </a:lnSpc>
            </a:pPr>
            <a:r>
              <a:rPr lang="en-US" sz="2600" b="1">
                <a:solidFill>
                  <a:srgbClr val="003EA8"/>
                </a:solidFill>
                <a:latin typeface="Muli Ultra-Bold"/>
                <a:ea typeface="Muli Ultra-Bold"/>
                <a:cs typeface="Muli Ultra-Bold"/>
                <a:sym typeface="Muli Ultra-Bold"/>
              </a:rPr>
              <a:t>Dễ mở rộng</a:t>
            </a:r>
          </a:p>
        </p:txBody>
      </p:sp>
      <p:sp>
        <p:nvSpPr>
          <p:cNvPr id="38" name="TextBox 38"/>
          <p:cNvSpPr txBox="1"/>
          <p:nvPr/>
        </p:nvSpPr>
        <p:spPr>
          <a:xfrm>
            <a:off x="12554943" y="6753675"/>
            <a:ext cx="4547541" cy="715010"/>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Có thể phát triển nhiều Client sử dụng chung API.</a:t>
            </a:r>
          </a:p>
        </p:txBody>
      </p:sp>
      <p:sp>
        <p:nvSpPr>
          <p:cNvPr id="39" name="TextBox 39"/>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1028700" y="657204"/>
            <a:ext cx="16445245" cy="1906519"/>
            <a:chOff x="0" y="0"/>
            <a:chExt cx="5999270" cy="695503"/>
          </a:xfrm>
          <a:scene3d>
            <a:camera prst="orthographicFront">
              <a:rot lat="0" lon="0" rev="0"/>
            </a:camera>
            <a:lightRig rig="glow" dir="t">
              <a:rot lat="0" lon="0" rev="4800000"/>
            </a:lightRig>
          </a:scene3d>
        </p:grpSpPr>
        <p:sp>
          <p:nvSpPr>
            <p:cNvPr id="4" name="Freeform 4"/>
            <p:cNvSpPr/>
            <p:nvPr/>
          </p:nvSpPr>
          <p:spPr>
            <a:xfrm>
              <a:off x="0" y="0"/>
              <a:ext cx="5999270" cy="695503"/>
            </a:xfrm>
            <a:custGeom>
              <a:avLst/>
              <a:gdLst/>
              <a:ahLst/>
              <a:cxnLst/>
              <a:rect l="l" t="t" r="r" b="b"/>
              <a:pathLst>
                <a:path w="5999270" h="695503">
                  <a:moveTo>
                    <a:pt x="0" y="0"/>
                  </a:moveTo>
                  <a:lnTo>
                    <a:pt x="5999270" y="0"/>
                  </a:lnTo>
                  <a:lnTo>
                    <a:pt x="5999270" y="695503"/>
                  </a:lnTo>
                  <a:lnTo>
                    <a:pt x="0" y="69550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1028700" y="3820523"/>
            <a:ext cx="3539017" cy="3555951"/>
            <a:chOff x="0" y="0"/>
            <a:chExt cx="1582045" cy="1589615"/>
          </a:xfrm>
          <a:scene3d>
            <a:camera prst="orthographicFront">
              <a:rot lat="0" lon="0" rev="0"/>
            </a:camera>
            <a:lightRig rig="glow" dir="t">
              <a:rot lat="0" lon="0" rev="4800000"/>
            </a:lightRig>
          </a:scene3d>
        </p:grpSpPr>
        <p:sp>
          <p:nvSpPr>
            <p:cNvPr id="6" name="Freeform 6"/>
            <p:cNvSpPr/>
            <p:nvPr/>
          </p:nvSpPr>
          <p:spPr>
            <a:xfrm>
              <a:off x="0" y="0"/>
              <a:ext cx="1582045" cy="1589615"/>
            </a:xfrm>
            <a:custGeom>
              <a:avLst/>
              <a:gdLst/>
              <a:ahLst/>
              <a:cxnLst/>
              <a:rect l="l" t="t" r="r" b="b"/>
              <a:pathLst>
                <a:path w="1582045" h="1589615">
                  <a:moveTo>
                    <a:pt x="0" y="0"/>
                  </a:moveTo>
                  <a:lnTo>
                    <a:pt x="1582045" y="0"/>
                  </a:lnTo>
                  <a:lnTo>
                    <a:pt x="1582045"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7" name="TextBox 7"/>
          <p:cNvSpPr txBox="1"/>
          <p:nvPr/>
        </p:nvSpPr>
        <p:spPr>
          <a:xfrm>
            <a:off x="3961525" y="915172"/>
            <a:ext cx="10364949" cy="1228725"/>
          </a:xfrm>
          <a:prstGeom prst="rect">
            <a:avLst/>
          </a:prstGeom>
        </p:spPr>
        <p:txBody>
          <a:bodyPr lIns="0" tIns="0" rIns="0" bIns="0" rtlCol="0" anchor="t">
            <a:spAutoFit/>
          </a:bodyPr>
          <a:lstStyle/>
          <a:p>
            <a:pPr algn="ctr">
              <a:lnSpc>
                <a:spcPts val="9600"/>
              </a:lnSpc>
            </a:pPr>
            <a:r>
              <a:rPr lang="en-US" sz="8000" b="1">
                <a:solidFill>
                  <a:srgbClr val="003EA8"/>
                </a:solidFill>
                <a:latin typeface="Muli Bold"/>
                <a:ea typeface="Muli Bold"/>
                <a:cs typeface="Muli Bold"/>
                <a:sym typeface="Muli Bold"/>
              </a:rPr>
              <a:t>Công Nghệ Sử Dụng</a:t>
            </a:r>
          </a:p>
        </p:txBody>
      </p:sp>
      <p:sp>
        <p:nvSpPr>
          <p:cNvPr id="8" name="TextBox 8"/>
          <p:cNvSpPr txBox="1"/>
          <p:nvPr/>
        </p:nvSpPr>
        <p:spPr>
          <a:xfrm>
            <a:off x="1463939" y="4129579"/>
            <a:ext cx="3103778" cy="648668"/>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Frontend</a:t>
            </a:r>
          </a:p>
        </p:txBody>
      </p:sp>
      <p:sp>
        <p:nvSpPr>
          <p:cNvPr id="9" name="TextBox 9"/>
          <p:cNvSpPr txBox="1"/>
          <p:nvPr/>
        </p:nvSpPr>
        <p:spPr>
          <a:xfrm>
            <a:off x="1463939" y="5252688"/>
            <a:ext cx="2515148" cy="1043356"/>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React · HTML5 · CSS3 · JavaScript</a:t>
            </a:r>
          </a:p>
        </p:txBody>
      </p:sp>
      <p:sp>
        <p:nvSpPr>
          <p:cNvPr id="10" name="Freeform 10"/>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a:off x="14011526" y="8735435"/>
            <a:ext cx="441616" cy="633141"/>
          </a:xfrm>
          <a:custGeom>
            <a:avLst/>
            <a:gdLst/>
            <a:ahLst/>
            <a:cxnLst/>
            <a:rect l="l" t="t" r="r" b="b"/>
            <a:pathLst>
              <a:path w="441616" h="633141">
                <a:moveTo>
                  <a:pt x="0" y="0"/>
                </a:moveTo>
                <a:lnTo>
                  <a:pt x="441616" y="0"/>
                </a:lnTo>
                <a:lnTo>
                  <a:pt x="441616" y="633140"/>
                </a:lnTo>
                <a:lnTo>
                  <a:pt x="0" y="63314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3934928" y="3820523"/>
            <a:ext cx="3539017" cy="3555951"/>
            <a:chOff x="0" y="0"/>
            <a:chExt cx="1582045" cy="1589615"/>
          </a:xfrm>
          <a:scene3d>
            <a:camera prst="orthographicFront">
              <a:rot lat="0" lon="0" rev="0"/>
            </a:camera>
            <a:lightRig rig="glow" dir="t">
              <a:rot lat="0" lon="0" rev="4800000"/>
            </a:lightRig>
          </a:scene3d>
        </p:grpSpPr>
        <p:sp>
          <p:nvSpPr>
            <p:cNvPr id="14" name="Freeform 14"/>
            <p:cNvSpPr/>
            <p:nvPr/>
          </p:nvSpPr>
          <p:spPr>
            <a:xfrm>
              <a:off x="0" y="0"/>
              <a:ext cx="1582045" cy="1589615"/>
            </a:xfrm>
            <a:custGeom>
              <a:avLst/>
              <a:gdLst/>
              <a:ahLst/>
              <a:cxnLst/>
              <a:rect l="l" t="t" r="r" b="b"/>
              <a:pathLst>
                <a:path w="1582045" h="1589615">
                  <a:moveTo>
                    <a:pt x="0" y="0"/>
                  </a:moveTo>
                  <a:lnTo>
                    <a:pt x="1582045" y="0"/>
                  </a:lnTo>
                  <a:lnTo>
                    <a:pt x="1582045"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5" name="TextBox 15"/>
          <p:cNvSpPr txBox="1"/>
          <p:nvPr/>
        </p:nvSpPr>
        <p:spPr>
          <a:xfrm>
            <a:off x="14370167" y="4129579"/>
            <a:ext cx="3103778" cy="1972792"/>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Công cụ &amp; kỹ thuật</a:t>
            </a:r>
          </a:p>
          <a:p>
            <a:pPr algn="l">
              <a:lnSpc>
                <a:spcPts val="5271"/>
              </a:lnSpc>
            </a:pPr>
            <a:endParaRPr lang="en-US" sz="4054" b="1">
              <a:solidFill>
                <a:srgbClr val="003EA8"/>
              </a:solidFill>
              <a:latin typeface="Muli Ultra-Bold"/>
              <a:ea typeface="Muli Ultra-Bold"/>
              <a:cs typeface="Muli Ultra-Bold"/>
              <a:sym typeface="Muli Ultra-Bold"/>
            </a:endParaRPr>
          </a:p>
        </p:txBody>
      </p:sp>
      <p:sp>
        <p:nvSpPr>
          <p:cNvPr id="16" name="TextBox 16"/>
          <p:cNvSpPr txBox="1"/>
          <p:nvPr/>
        </p:nvSpPr>
        <p:spPr>
          <a:xfrm>
            <a:off x="14370167" y="5712454"/>
            <a:ext cx="2757198" cy="1584040"/>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JWT Authentication · Swagger · Docker</a:t>
            </a:r>
          </a:p>
          <a:p>
            <a:pPr algn="l">
              <a:lnSpc>
                <a:spcPts val="4332"/>
              </a:lnSpc>
            </a:pPr>
            <a:endParaRPr lang="en-US" sz="2548">
              <a:solidFill>
                <a:srgbClr val="000000"/>
              </a:solidFill>
              <a:latin typeface="Cabin"/>
              <a:ea typeface="Cabin"/>
              <a:cs typeface="Cabin"/>
              <a:sym typeface="Cabin"/>
            </a:endParaRPr>
          </a:p>
        </p:txBody>
      </p:sp>
      <p:grpSp>
        <p:nvGrpSpPr>
          <p:cNvPr id="17" name="Group 17"/>
          <p:cNvGrpSpPr/>
          <p:nvPr/>
        </p:nvGrpSpPr>
        <p:grpSpPr>
          <a:xfrm>
            <a:off x="5307013" y="3820523"/>
            <a:ext cx="3539017" cy="3555951"/>
            <a:chOff x="0" y="0"/>
            <a:chExt cx="1582045" cy="1589615"/>
          </a:xfrm>
          <a:scene3d>
            <a:camera prst="orthographicFront">
              <a:rot lat="0" lon="0" rev="0"/>
            </a:camera>
            <a:lightRig rig="glow" dir="t">
              <a:rot lat="0" lon="0" rev="4800000"/>
            </a:lightRig>
          </a:scene3d>
        </p:grpSpPr>
        <p:sp>
          <p:nvSpPr>
            <p:cNvPr id="18" name="Freeform 18"/>
            <p:cNvSpPr/>
            <p:nvPr/>
          </p:nvSpPr>
          <p:spPr>
            <a:xfrm>
              <a:off x="0" y="0"/>
              <a:ext cx="1582045" cy="1589615"/>
            </a:xfrm>
            <a:custGeom>
              <a:avLst/>
              <a:gdLst/>
              <a:ahLst/>
              <a:cxnLst/>
              <a:rect l="l" t="t" r="r" b="b"/>
              <a:pathLst>
                <a:path w="1582045" h="1589615">
                  <a:moveTo>
                    <a:pt x="0" y="0"/>
                  </a:moveTo>
                  <a:lnTo>
                    <a:pt x="1582045" y="0"/>
                  </a:lnTo>
                  <a:lnTo>
                    <a:pt x="1582045"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9" name="TextBox 19"/>
          <p:cNvSpPr txBox="1"/>
          <p:nvPr/>
        </p:nvSpPr>
        <p:spPr>
          <a:xfrm>
            <a:off x="5742252" y="4129579"/>
            <a:ext cx="3103778" cy="648668"/>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Backend</a:t>
            </a:r>
          </a:p>
        </p:txBody>
      </p:sp>
      <p:sp>
        <p:nvSpPr>
          <p:cNvPr id="20" name="TextBox 20"/>
          <p:cNvSpPr txBox="1"/>
          <p:nvPr/>
        </p:nvSpPr>
        <p:spPr>
          <a:xfrm>
            <a:off x="5742252" y="5252688"/>
            <a:ext cx="2923607" cy="2124724"/>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Node.js · RESTful API · Routes · Controllers · Services · Models</a:t>
            </a:r>
          </a:p>
          <a:p>
            <a:pPr algn="l">
              <a:lnSpc>
                <a:spcPts val="4332"/>
              </a:lnSpc>
            </a:pPr>
            <a:endParaRPr lang="en-US" sz="2548">
              <a:solidFill>
                <a:srgbClr val="000000"/>
              </a:solidFill>
              <a:latin typeface="Cabin"/>
              <a:ea typeface="Cabin"/>
              <a:cs typeface="Cabin"/>
              <a:sym typeface="Cabin"/>
            </a:endParaRPr>
          </a:p>
        </p:txBody>
      </p:sp>
      <p:grpSp>
        <p:nvGrpSpPr>
          <p:cNvPr id="21" name="Group 21"/>
          <p:cNvGrpSpPr/>
          <p:nvPr/>
        </p:nvGrpSpPr>
        <p:grpSpPr>
          <a:xfrm>
            <a:off x="9636605" y="3820523"/>
            <a:ext cx="3539017" cy="3555951"/>
            <a:chOff x="0" y="0"/>
            <a:chExt cx="1582045" cy="1589615"/>
          </a:xfrm>
          <a:scene3d>
            <a:camera prst="orthographicFront">
              <a:rot lat="0" lon="0" rev="0"/>
            </a:camera>
            <a:lightRig rig="glow" dir="t">
              <a:rot lat="0" lon="0" rev="4800000"/>
            </a:lightRig>
          </a:scene3d>
        </p:grpSpPr>
        <p:sp>
          <p:nvSpPr>
            <p:cNvPr id="22" name="Freeform 22"/>
            <p:cNvSpPr/>
            <p:nvPr/>
          </p:nvSpPr>
          <p:spPr>
            <a:xfrm>
              <a:off x="0" y="0"/>
              <a:ext cx="1582045" cy="1589615"/>
            </a:xfrm>
            <a:custGeom>
              <a:avLst/>
              <a:gdLst/>
              <a:ahLst/>
              <a:cxnLst/>
              <a:rect l="l" t="t" r="r" b="b"/>
              <a:pathLst>
                <a:path w="1582045" h="1589615">
                  <a:moveTo>
                    <a:pt x="0" y="0"/>
                  </a:moveTo>
                  <a:lnTo>
                    <a:pt x="1582045" y="0"/>
                  </a:lnTo>
                  <a:lnTo>
                    <a:pt x="1582045"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3" name="TextBox 23"/>
          <p:cNvSpPr txBox="1"/>
          <p:nvPr/>
        </p:nvSpPr>
        <p:spPr>
          <a:xfrm>
            <a:off x="10071844" y="4129579"/>
            <a:ext cx="3103778" cy="648668"/>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Database</a:t>
            </a:r>
          </a:p>
        </p:txBody>
      </p:sp>
      <p:sp>
        <p:nvSpPr>
          <p:cNvPr id="24" name="TextBox 24"/>
          <p:cNvSpPr txBox="1"/>
          <p:nvPr/>
        </p:nvSpPr>
        <p:spPr>
          <a:xfrm>
            <a:off x="10071844" y="5252688"/>
            <a:ext cx="2923607" cy="502672"/>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SQL Server</a:t>
            </a:r>
          </a:p>
        </p:txBody>
      </p:sp>
      <p:sp>
        <p:nvSpPr>
          <p:cNvPr id="25" name="TextBox 25"/>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1028700" y="476365"/>
            <a:ext cx="16445245" cy="2835550"/>
            <a:chOff x="0" y="0"/>
            <a:chExt cx="5999270" cy="1034416"/>
          </a:xfrm>
          <a:scene3d>
            <a:camera prst="orthographicFront">
              <a:rot lat="0" lon="0" rev="0"/>
            </a:camera>
            <a:lightRig rig="glow" dir="t">
              <a:rot lat="0" lon="0" rev="4800000"/>
            </a:lightRig>
          </a:scene3d>
        </p:grpSpPr>
        <p:sp>
          <p:nvSpPr>
            <p:cNvPr id="4" name="Freeform 4"/>
            <p:cNvSpPr/>
            <p:nvPr/>
          </p:nvSpPr>
          <p:spPr>
            <a:xfrm>
              <a:off x="0" y="0"/>
              <a:ext cx="5999270" cy="1034416"/>
            </a:xfrm>
            <a:custGeom>
              <a:avLst/>
              <a:gdLst/>
              <a:ahLst/>
              <a:cxnLst/>
              <a:rect l="l" t="t" r="r" b="b"/>
              <a:pathLst>
                <a:path w="5999270" h="1034416">
                  <a:moveTo>
                    <a:pt x="0" y="0"/>
                  </a:moveTo>
                  <a:lnTo>
                    <a:pt x="5999270" y="0"/>
                  </a:lnTo>
                  <a:lnTo>
                    <a:pt x="5999270" y="1034416"/>
                  </a:lnTo>
                  <a:lnTo>
                    <a:pt x="0" y="1034416"/>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5" name="Group 5"/>
          <p:cNvGrpSpPr/>
          <p:nvPr/>
        </p:nvGrpSpPr>
        <p:grpSpPr>
          <a:xfrm>
            <a:off x="1028700" y="3816740"/>
            <a:ext cx="7858122" cy="1710321"/>
            <a:chOff x="0" y="0"/>
            <a:chExt cx="3512812" cy="764564"/>
          </a:xfrm>
          <a:scene3d>
            <a:camera prst="orthographicFront">
              <a:rot lat="0" lon="0" rev="0"/>
            </a:camera>
            <a:lightRig rig="glow" dir="t">
              <a:rot lat="0" lon="0" rev="4800000"/>
            </a:lightRig>
          </a:scene3d>
        </p:grpSpPr>
        <p:sp>
          <p:nvSpPr>
            <p:cNvPr id="6" name="Freeform 6"/>
            <p:cNvSpPr/>
            <p:nvPr/>
          </p:nvSpPr>
          <p:spPr>
            <a:xfrm>
              <a:off x="0" y="0"/>
              <a:ext cx="3512812" cy="764564"/>
            </a:xfrm>
            <a:custGeom>
              <a:avLst/>
              <a:gdLst/>
              <a:ahLst/>
              <a:cxnLst/>
              <a:rect l="l" t="t" r="r" b="b"/>
              <a:pathLst>
                <a:path w="3512812" h="764564">
                  <a:moveTo>
                    <a:pt x="0" y="0"/>
                  </a:moveTo>
                  <a:lnTo>
                    <a:pt x="3512812" y="0"/>
                  </a:lnTo>
                  <a:lnTo>
                    <a:pt x="3512812" y="764564"/>
                  </a:lnTo>
                  <a:lnTo>
                    <a:pt x="0" y="7645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7" name="TextBox 7"/>
          <p:cNvSpPr txBox="1"/>
          <p:nvPr/>
        </p:nvSpPr>
        <p:spPr>
          <a:xfrm>
            <a:off x="4068848" y="573948"/>
            <a:ext cx="10364949" cy="2447925"/>
          </a:xfrm>
          <a:prstGeom prst="rect">
            <a:avLst/>
          </a:prstGeom>
        </p:spPr>
        <p:txBody>
          <a:bodyPr lIns="0" tIns="0" rIns="0" bIns="0" rtlCol="0" anchor="t">
            <a:spAutoFit/>
          </a:bodyPr>
          <a:lstStyle/>
          <a:p>
            <a:pPr algn="ctr">
              <a:lnSpc>
                <a:spcPts val="9600"/>
              </a:lnSpc>
            </a:pPr>
            <a:r>
              <a:rPr lang="en-US" sz="8000" b="1">
                <a:solidFill>
                  <a:srgbClr val="003EA8"/>
                </a:solidFill>
                <a:latin typeface="Muli Bold"/>
                <a:ea typeface="Muli Bold"/>
                <a:cs typeface="Muli Bold"/>
                <a:sym typeface="Muli Bold"/>
              </a:rPr>
              <a:t>Kiến Trúc Backend Mô Hình Phân Tầng</a:t>
            </a:r>
          </a:p>
        </p:txBody>
      </p:sp>
      <p:sp>
        <p:nvSpPr>
          <p:cNvPr id="8" name="TextBox 8"/>
          <p:cNvSpPr txBox="1"/>
          <p:nvPr/>
        </p:nvSpPr>
        <p:spPr>
          <a:xfrm>
            <a:off x="1267273" y="3892573"/>
            <a:ext cx="3103778" cy="871161"/>
          </a:xfrm>
          <a:prstGeom prst="rect">
            <a:avLst/>
          </a:prstGeom>
        </p:spPr>
        <p:txBody>
          <a:bodyPr lIns="0" tIns="0" rIns="0" bIns="0" rtlCol="0" anchor="t">
            <a:spAutoFit/>
          </a:bodyPr>
          <a:lstStyle/>
          <a:p>
            <a:pPr algn="l">
              <a:lnSpc>
                <a:spcPts val="3451"/>
              </a:lnSpc>
            </a:pPr>
            <a:r>
              <a:rPr lang="en-US" sz="2654" b="1">
                <a:solidFill>
                  <a:srgbClr val="003EA8"/>
                </a:solidFill>
                <a:latin typeface="Muli Ultra-Bold"/>
                <a:ea typeface="Muli Ultra-Bold"/>
                <a:cs typeface="Muli Ultra-Bold"/>
                <a:sym typeface="Muli Ultra-Bold"/>
              </a:rPr>
              <a:t>1. </a:t>
            </a:r>
          </a:p>
          <a:p>
            <a:pPr algn="l">
              <a:lnSpc>
                <a:spcPts val="3451"/>
              </a:lnSpc>
            </a:pPr>
            <a:r>
              <a:rPr lang="en-US" sz="2654" b="1">
                <a:solidFill>
                  <a:srgbClr val="003EA8"/>
                </a:solidFill>
                <a:latin typeface="Muli Ultra-Bold"/>
                <a:ea typeface="Muli Ultra-Bold"/>
                <a:cs typeface="Muli Ultra-Bold"/>
                <a:sym typeface="Muli Ultra-Bold"/>
              </a:rPr>
              <a:t>Routes</a:t>
            </a:r>
          </a:p>
        </p:txBody>
      </p:sp>
      <p:sp>
        <p:nvSpPr>
          <p:cNvPr id="9" name="TextBox 9"/>
          <p:cNvSpPr txBox="1"/>
          <p:nvPr/>
        </p:nvSpPr>
        <p:spPr>
          <a:xfrm>
            <a:off x="1267273" y="4768696"/>
            <a:ext cx="7204864" cy="447762"/>
          </a:xfrm>
          <a:prstGeom prst="rect">
            <a:avLst/>
          </a:prstGeom>
        </p:spPr>
        <p:txBody>
          <a:bodyPr lIns="0" tIns="0" rIns="0" bIns="0" rtlCol="0" anchor="t">
            <a:spAutoFit/>
          </a:bodyPr>
          <a:lstStyle/>
          <a:p>
            <a:pPr algn="l">
              <a:lnSpc>
                <a:spcPts val="3822"/>
              </a:lnSpc>
            </a:pPr>
            <a:r>
              <a:rPr lang="en-US" sz="2248">
                <a:solidFill>
                  <a:srgbClr val="000000"/>
                </a:solidFill>
                <a:latin typeface="Cabin"/>
                <a:ea typeface="Cabin"/>
                <a:cs typeface="Cabin"/>
                <a:sym typeface="Cabin"/>
              </a:rPr>
              <a:t>Định nghĩa Endpoint và HTTP Method</a:t>
            </a:r>
          </a:p>
        </p:txBody>
      </p:sp>
      <p:sp>
        <p:nvSpPr>
          <p:cNvPr id="10" name="Freeform 10"/>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a:off x="14011526" y="8735435"/>
            <a:ext cx="441616" cy="633141"/>
          </a:xfrm>
          <a:custGeom>
            <a:avLst/>
            <a:gdLst/>
            <a:ahLst/>
            <a:cxnLst/>
            <a:rect l="l" t="t" r="r" b="b"/>
            <a:pathLst>
              <a:path w="441616" h="633141">
                <a:moveTo>
                  <a:pt x="0" y="0"/>
                </a:moveTo>
                <a:lnTo>
                  <a:pt x="441616" y="0"/>
                </a:lnTo>
                <a:lnTo>
                  <a:pt x="441616" y="633140"/>
                </a:lnTo>
                <a:lnTo>
                  <a:pt x="0" y="63314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9615823" y="3816740"/>
            <a:ext cx="7858122" cy="1710321"/>
            <a:chOff x="0" y="0"/>
            <a:chExt cx="3512812" cy="764564"/>
          </a:xfrm>
          <a:scene3d>
            <a:camera prst="orthographicFront">
              <a:rot lat="0" lon="0" rev="0"/>
            </a:camera>
            <a:lightRig rig="glow" dir="t">
              <a:rot lat="0" lon="0" rev="4800000"/>
            </a:lightRig>
          </a:scene3d>
        </p:grpSpPr>
        <p:sp>
          <p:nvSpPr>
            <p:cNvPr id="14" name="Freeform 14"/>
            <p:cNvSpPr/>
            <p:nvPr/>
          </p:nvSpPr>
          <p:spPr>
            <a:xfrm>
              <a:off x="0" y="0"/>
              <a:ext cx="3512812" cy="764564"/>
            </a:xfrm>
            <a:custGeom>
              <a:avLst/>
              <a:gdLst/>
              <a:ahLst/>
              <a:cxnLst/>
              <a:rect l="l" t="t" r="r" b="b"/>
              <a:pathLst>
                <a:path w="3512812" h="764564">
                  <a:moveTo>
                    <a:pt x="0" y="0"/>
                  </a:moveTo>
                  <a:lnTo>
                    <a:pt x="3512812" y="0"/>
                  </a:lnTo>
                  <a:lnTo>
                    <a:pt x="3512812" y="764564"/>
                  </a:lnTo>
                  <a:lnTo>
                    <a:pt x="0" y="7645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5" name="TextBox 15"/>
          <p:cNvSpPr txBox="1"/>
          <p:nvPr/>
        </p:nvSpPr>
        <p:spPr>
          <a:xfrm>
            <a:off x="9854396" y="3892573"/>
            <a:ext cx="3103778" cy="871161"/>
          </a:xfrm>
          <a:prstGeom prst="rect">
            <a:avLst/>
          </a:prstGeom>
        </p:spPr>
        <p:txBody>
          <a:bodyPr lIns="0" tIns="0" rIns="0" bIns="0" rtlCol="0" anchor="t">
            <a:spAutoFit/>
          </a:bodyPr>
          <a:lstStyle/>
          <a:p>
            <a:pPr algn="l">
              <a:lnSpc>
                <a:spcPts val="3451"/>
              </a:lnSpc>
            </a:pPr>
            <a:r>
              <a:rPr lang="en-US" sz="2654" b="1">
                <a:solidFill>
                  <a:srgbClr val="003EA8"/>
                </a:solidFill>
                <a:latin typeface="Muli Ultra-Bold"/>
                <a:ea typeface="Muli Ultra-Bold"/>
                <a:cs typeface="Muli Ultra-Bold"/>
                <a:sym typeface="Muli Ultra-Bold"/>
              </a:rPr>
              <a:t>2. </a:t>
            </a:r>
          </a:p>
          <a:p>
            <a:pPr algn="l">
              <a:lnSpc>
                <a:spcPts val="3451"/>
              </a:lnSpc>
            </a:pPr>
            <a:r>
              <a:rPr lang="en-US" sz="2654" b="1">
                <a:solidFill>
                  <a:srgbClr val="003EA8"/>
                </a:solidFill>
                <a:latin typeface="Muli Ultra-Bold"/>
                <a:ea typeface="Muli Ultra-Bold"/>
                <a:cs typeface="Muli Ultra-Bold"/>
                <a:sym typeface="Muli Ultra-Bold"/>
              </a:rPr>
              <a:t>Controllers</a:t>
            </a:r>
          </a:p>
        </p:txBody>
      </p:sp>
      <p:sp>
        <p:nvSpPr>
          <p:cNvPr id="16" name="TextBox 16"/>
          <p:cNvSpPr txBox="1"/>
          <p:nvPr/>
        </p:nvSpPr>
        <p:spPr>
          <a:xfrm>
            <a:off x="9854396" y="4768696"/>
            <a:ext cx="7204864" cy="447762"/>
          </a:xfrm>
          <a:prstGeom prst="rect">
            <a:avLst/>
          </a:prstGeom>
        </p:spPr>
        <p:txBody>
          <a:bodyPr lIns="0" tIns="0" rIns="0" bIns="0" rtlCol="0" anchor="t">
            <a:spAutoFit/>
          </a:bodyPr>
          <a:lstStyle/>
          <a:p>
            <a:pPr algn="l">
              <a:lnSpc>
                <a:spcPts val="3822"/>
              </a:lnSpc>
            </a:pPr>
            <a:r>
              <a:rPr lang="en-US" sz="2248">
                <a:solidFill>
                  <a:srgbClr val="000000"/>
                </a:solidFill>
                <a:latin typeface="Cabin"/>
                <a:ea typeface="Cabin"/>
                <a:cs typeface="Cabin"/>
                <a:sym typeface="Cabin"/>
              </a:rPr>
              <a:t>Tiếp nhận Request và trả Response</a:t>
            </a:r>
          </a:p>
        </p:txBody>
      </p:sp>
      <p:grpSp>
        <p:nvGrpSpPr>
          <p:cNvPr id="17" name="Group 17"/>
          <p:cNvGrpSpPr/>
          <p:nvPr/>
        </p:nvGrpSpPr>
        <p:grpSpPr>
          <a:xfrm>
            <a:off x="1028700" y="5774711"/>
            <a:ext cx="7858122" cy="1710321"/>
            <a:chOff x="0" y="0"/>
            <a:chExt cx="3512812" cy="764564"/>
          </a:xfrm>
          <a:scene3d>
            <a:camera prst="orthographicFront">
              <a:rot lat="0" lon="0" rev="0"/>
            </a:camera>
            <a:lightRig rig="glow" dir="t">
              <a:rot lat="0" lon="0" rev="4800000"/>
            </a:lightRig>
          </a:scene3d>
        </p:grpSpPr>
        <p:sp>
          <p:nvSpPr>
            <p:cNvPr id="18" name="Freeform 18"/>
            <p:cNvSpPr/>
            <p:nvPr/>
          </p:nvSpPr>
          <p:spPr>
            <a:xfrm>
              <a:off x="0" y="0"/>
              <a:ext cx="3512812" cy="764564"/>
            </a:xfrm>
            <a:custGeom>
              <a:avLst/>
              <a:gdLst/>
              <a:ahLst/>
              <a:cxnLst/>
              <a:rect l="l" t="t" r="r" b="b"/>
              <a:pathLst>
                <a:path w="3512812" h="764564">
                  <a:moveTo>
                    <a:pt x="0" y="0"/>
                  </a:moveTo>
                  <a:lnTo>
                    <a:pt x="3512812" y="0"/>
                  </a:lnTo>
                  <a:lnTo>
                    <a:pt x="3512812" y="764564"/>
                  </a:lnTo>
                  <a:lnTo>
                    <a:pt x="0" y="7645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9" name="TextBox 19"/>
          <p:cNvSpPr txBox="1"/>
          <p:nvPr/>
        </p:nvSpPr>
        <p:spPr>
          <a:xfrm>
            <a:off x="1267273" y="5850544"/>
            <a:ext cx="3103778" cy="871161"/>
          </a:xfrm>
          <a:prstGeom prst="rect">
            <a:avLst/>
          </a:prstGeom>
        </p:spPr>
        <p:txBody>
          <a:bodyPr lIns="0" tIns="0" rIns="0" bIns="0" rtlCol="0" anchor="t">
            <a:spAutoFit/>
          </a:bodyPr>
          <a:lstStyle/>
          <a:p>
            <a:pPr algn="l">
              <a:lnSpc>
                <a:spcPts val="3451"/>
              </a:lnSpc>
            </a:pPr>
            <a:r>
              <a:rPr lang="en-US" sz="2654" b="1">
                <a:solidFill>
                  <a:srgbClr val="003EA8"/>
                </a:solidFill>
                <a:latin typeface="Muli Ultra-Bold"/>
                <a:ea typeface="Muli Ultra-Bold"/>
                <a:cs typeface="Muli Ultra-Bold"/>
                <a:sym typeface="Muli Ultra-Bold"/>
              </a:rPr>
              <a:t>3. </a:t>
            </a:r>
          </a:p>
          <a:p>
            <a:pPr algn="l">
              <a:lnSpc>
                <a:spcPts val="3451"/>
              </a:lnSpc>
            </a:pPr>
            <a:r>
              <a:rPr lang="en-US" sz="2654" b="1">
                <a:solidFill>
                  <a:srgbClr val="003EA8"/>
                </a:solidFill>
                <a:latin typeface="Muli Ultra-Bold"/>
                <a:ea typeface="Muli Ultra-Bold"/>
                <a:cs typeface="Muli Ultra-Bold"/>
                <a:sym typeface="Muli Ultra-Bold"/>
              </a:rPr>
              <a:t>Services</a:t>
            </a:r>
          </a:p>
        </p:txBody>
      </p:sp>
      <p:sp>
        <p:nvSpPr>
          <p:cNvPr id="20" name="TextBox 20"/>
          <p:cNvSpPr txBox="1"/>
          <p:nvPr/>
        </p:nvSpPr>
        <p:spPr>
          <a:xfrm>
            <a:off x="1355329" y="6688567"/>
            <a:ext cx="7204864" cy="447762"/>
          </a:xfrm>
          <a:prstGeom prst="rect">
            <a:avLst/>
          </a:prstGeom>
        </p:spPr>
        <p:txBody>
          <a:bodyPr lIns="0" tIns="0" rIns="0" bIns="0" rtlCol="0" anchor="t">
            <a:spAutoFit/>
          </a:bodyPr>
          <a:lstStyle/>
          <a:p>
            <a:pPr algn="l">
              <a:lnSpc>
                <a:spcPts val="3822"/>
              </a:lnSpc>
            </a:pPr>
            <a:r>
              <a:rPr lang="en-US" sz="2248">
                <a:solidFill>
                  <a:srgbClr val="000000"/>
                </a:solidFill>
                <a:latin typeface="Cabin"/>
                <a:ea typeface="Cabin"/>
                <a:cs typeface="Cabin"/>
                <a:sym typeface="Cabin"/>
              </a:rPr>
              <a:t>Xử lý nghiệp vụ của hệ thống</a:t>
            </a:r>
          </a:p>
        </p:txBody>
      </p:sp>
      <p:grpSp>
        <p:nvGrpSpPr>
          <p:cNvPr id="21" name="Group 21"/>
          <p:cNvGrpSpPr/>
          <p:nvPr/>
        </p:nvGrpSpPr>
        <p:grpSpPr>
          <a:xfrm>
            <a:off x="9615823" y="5774711"/>
            <a:ext cx="7858122" cy="1710321"/>
            <a:chOff x="0" y="0"/>
            <a:chExt cx="3512812" cy="764564"/>
          </a:xfrm>
          <a:scene3d>
            <a:camera prst="orthographicFront">
              <a:rot lat="0" lon="0" rev="0"/>
            </a:camera>
            <a:lightRig rig="glow" dir="t">
              <a:rot lat="0" lon="0" rev="4800000"/>
            </a:lightRig>
          </a:scene3d>
        </p:grpSpPr>
        <p:sp>
          <p:nvSpPr>
            <p:cNvPr id="22" name="Freeform 22"/>
            <p:cNvSpPr/>
            <p:nvPr/>
          </p:nvSpPr>
          <p:spPr>
            <a:xfrm>
              <a:off x="0" y="0"/>
              <a:ext cx="3512812" cy="764564"/>
            </a:xfrm>
            <a:custGeom>
              <a:avLst/>
              <a:gdLst/>
              <a:ahLst/>
              <a:cxnLst/>
              <a:rect l="l" t="t" r="r" b="b"/>
              <a:pathLst>
                <a:path w="3512812" h="764564">
                  <a:moveTo>
                    <a:pt x="0" y="0"/>
                  </a:moveTo>
                  <a:lnTo>
                    <a:pt x="3512812" y="0"/>
                  </a:lnTo>
                  <a:lnTo>
                    <a:pt x="3512812" y="764564"/>
                  </a:lnTo>
                  <a:lnTo>
                    <a:pt x="0" y="7645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3" name="TextBox 23"/>
          <p:cNvSpPr txBox="1"/>
          <p:nvPr/>
        </p:nvSpPr>
        <p:spPr>
          <a:xfrm>
            <a:off x="9854396" y="5850544"/>
            <a:ext cx="3103778" cy="871161"/>
          </a:xfrm>
          <a:prstGeom prst="rect">
            <a:avLst/>
          </a:prstGeom>
        </p:spPr>
        <p:txBody>
          <a:bodyPr lIns="0" tIns="0" rIns="0" bIns="0" rtlCol="0" anchor="t">
            <a:spAutoFit/>
          </a:bodyPr>
          <a:lstStyle/>
          <a:p>
            <a:pPr algn="l">
              <a:lnSpc>
                <a:spcPts val="3451"/>
              </a:lnSpc>
            </a:pPr>
            <a:r>
              <a:rPr lang="en-US" sz="2654" b="1">
                <a:solidFill>
                  <a:srgbClr val="003EA8"/>
                </a:solidFill>
                <a:latin typeface="Muli Ultra-Bold"/>
                <a:ea typeface="Muli Ultra-Bold"/>
                <a:cs typeface="Muli Ultra-Bold"/>
                <a:sym typeface="Muli Ultra-Bold"/>
              </a:rPr>
              <a:t>4. </a:t>
            </a:r>
          </a:p>
          <a:p>
            <a:pPr algn="l">
              <a:lnSpc>
                <a:spcPts val="3451"/>
              </a:lnSpc>
            </a:pPr>
            <a:r>
              <a:rPr lang="en-US" sz="2654" b="1">
                <a:solidFill>
                  <a:srgbClr val="003EA8"/>
                </a:solidFill>
                <a:latin typeface="Muli Ultra-Bold"/>
                <a:ea typeface="Muli Ultra-Bold"/>
                <a:cs typeface="Muli Ultra-Bold"/>
                <a:sym typeface="Muli Ultra-Bold"/>
              </a:rPr>
              <a:t>Models</a:t>
            </a:r>
          </a:p>
        </p:txBody>
      </p:sp>
      <p:sp>
        <p:nvSpPr>
          <p:cNvPr id="24" name="TextBox 24"/>
          <p:cNvSpPr txBox="1"/>
          <p:nvPr/>
        </p:nvSpPr>
        <p:spPr>
          <a:xfrm>
            <a:off x="9854396" y="6726667"/>
            <a:ext cx="7204864" cy="447762"/>
          </a:xfrm>
          <a:prstGeom prst="rect">
            <a:avLst/>
          </a:prstGeom>
        </p:spPr>
        <p:txBody>
          <a:bodyPr lIns="0" tIns="0" rIns="0" bIns="0" rtlCol="0" anchor="t">
            <a:spAutoFit/>
          </a:bodyPr>
          <a:lstStyle/>
          <a:p>
            <a:pPr algn="l">
              <a:lnSpc>
                <a:spcPts val="3822"/>
              </a:lnSpc>
            </a:pPr>
            <a:r>
              <a:rPr lang="en-US" sz="2248">
                <a:solidFill>
                  <a:srgbClr val="000000"/>
                </a:solidFill>
                <a:latin typeface="Cabin"/>
                <a:ea typeface="Cabin"/>
                <a:cs typeface="Cabin"/>
                <a:sym typeface="Cabin"/>
              </a:rPr>
              <a:t>Thao tác và truy vấn dữ liệu</a:t>
            </a:r>
          </a:p>
        </p:txBody>
      </p:sp>
      <p:grpSp>
        <p:nvGrpSpPr>
          <p:cNvPr id="25" name="Group 25"/>
          <p:cNvGrpSpPr/>
          <p:nvPr/>
        </p:nvGrpSpPr>
        <p:grpSpPr>
          <a:xfrm>
            <a:off x="1028700" y="7658100"/>
            <a:ext cx="16445245" cy="1356936"/>
            <a:chOff x="0" y="0"/>
            <a:chExt cx="7351508" cy="606590"/>
          </a:xfrm>
          <a:scene3d>
            <a:camera prst="orthographicFront">
              <a:rot lat="0" lon="0" rev="0"/>
            </a:camera>
            <a:lightRig rig="glow" dir="t">
              <a:rot lat="0" lon="0" rev="4800000"/>
            </a:lightRig>
          </a:scene3d>
        </p:grpSpPr>
        <p:sp>
          <p:nvSpPr>
            <p:cNvPr id="26" name="Freeform 26"/>
            <p:cNvSpPr/>
            <p:nvPr/>
          </p:nvSpPr>
          <p:spPr>
            <a:xfrm>
              <a:off x="0" y="0"/>
              <a:ext cx="7351508" cy="606590"/>
            </a:xfrm>
            <a:custGeom>
              <a:avLst/>
              <a:gdLst/>
              <a:ahLst/>
              <a:cxnLst/>
              <a:rect l="l" t="t" r="r" b="b"/>
              <a:pathLst>
                <a:path w="7351508" h="606590">
                  <a:moveTo>
                    <a:pt x="0" y="0"/>
                  </a:moveTo>
                  <a:lnTo>
                    <a:pt x="7351508" y="0"/>
                  </a:lnTo>
                  <a:lnTo>
                    <a:pt x="7351508" y="606590"/>
                  </a:lnTo>
                  <a:lnTo>
                    <a:pt x="0" y="606590"/>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7" name="TextBox 27"/>
          <p:cNvSpPr txBox="1"/>
          <p:nvPr/>
        </p:nvSpPr>
        <p:spPr>
          <a:xfrm>
            <a:off x="6096670" y="7612640"/>
            <a:ext cx="6495495" cy="1309311"/>
          </a:xfrm>
          <a:prstGeom prst="rect">
            <a:avLst/>
          </a:prstGeom>
        </p:spPr>
        <p:txBody>
          <a:bodyPr lIns="0" tIns="0" rIns="0" bIns="0" rtlCol="0" anchor="t">
            <a:spAutoFit/>
          </a:bodyPr>
          <a:lstStyle/>
          <a:p>
            <a:pPr algn="ctr">
              <a:lnSpc>
                <a:spcPts val="3451"/>
              </a:lnSpc>
            </a:pPr>
            <a:r>
              <a:rPr lang="en-US" sz="2654" b="1">
                <a:solidFill>
                  <a:srgbClr val="003EA8"/>
                </a:solidFill>
                <a:latin typeface="Muli Ultra-Bold"/>
                <a:ea typeface="Muli Ultra-Bold"/>
                <a:cs typeface="Muli Ultra-Bold"/>
                <a:sym typeface="Muli Ultra-Bold"/>
              </a:rPr>
              <a:t>5. </a:t>
            </a:r>
          </a:p>
          <a:p>
            <a:pPr algn="ctr">
              <a:lnSpc>
                <a:spcPts val="3451"/>
              </a:lnSpc>
            </a:pPr>
            <a:r>
              <a:rPr lang="en-US" sz="2654" b="1">
                <a:solidFill>
                  <a:srgbClr val="003EA8"/>
                </a:solidFill>
                <a:latin typeface="Muli Ultra-Bold"/>
                <a:ea typeface="Muli Ultra-Bold"/>
                <a:cs typeface="Muli Ultra-Bold"/>
                <a:sym typeface="Muli Ultra-Bold"/>
              </a:rPr>
              <a:t>SQL Server</a:t>
            </a:r>
          </a:p>
          <a:p>
            <a:pPr algn="ctr">
              <a:lnSpc>
                <a:spcPts val="3451"/>
              </a:lnSpc>
            </a:pPr>
            <a:endParaRPr lang="en-US" sz="2654" b="1">
              <a:solidFill>
                <a:srgbClr val="003EA8"/>
              </a:solidFill>
              <a:latin typeface="Muli Ultra-Bold"/>
              <a:ea typeface="Muli Ultra-Bold"/>
              <a:cs typeface="Muli Ultra-Bold"/>
              <a:sym typeface="Muli Ultra-Bold"/>
            </a:endParaRPr>
          </a:p>
        </p:txBody>
      </p:sp>
      <p:sp>
        <p:nvSpPr>
          <p:cNvPr id="28" name="TextBox 28"/>
          <p:cNvSpPr txBox="1"/>
          <p:nvPr/>
        </p:nvSpPr>
        <p:spPr>
          <a:xfrm>
            <a:off x="1805355" y="8393690"/>
            <a:ext cx="15078125" cy="447762"/>
          </a:xfrm>
          <a:prstGeom prst="rect">
            <a:avLst/>
          </a:prstGeom>
        </p:spPr>
        <p:txBody>
          <a:bodyPr lIns="0" tIns="0" rIns="0" bIns="0" rtlCol="0" anchor="t">
            <a:spAutoFit/>
          </a:bodyPr>
          <a:lstStyle/>
          <a:p>
            <a:pPr algn="ctr">
              <a:lnSpc>
                <a:spcPts val="3822"/>
              </a:lnSpc>
            </a:pPr>
            <a:r>
              <a:rPr lang="en-US" sz="2248">
                <a:solidFill>
                  <a:srgbClr val="000000"/>
                </a:solidFill>
                <a:latin typeface="Cabin"/>
                <a:ea typeface="Cabin"/>
                <a:cs typeface="Cabin"/>
                <a:sym typeface="Cabin"/>
              </a:rPr>
              <a:t>Lưu trữ dữ liệu</a:t>
            </a:r>
          </a:p>
        </p:txBody>
      </p:sp>
      <p:sp>
        <p:nvSpPr>
          <p:cNvPr id="29" name="TextBox 29"/>
          <p:cNvSpPr txBox="1"/>
          <p:nvPr/>
        </p:nvSpPr>
        <p:spPr>
          <a:xfrm>
            <a:off x="1028700" y="9239053"/>
            <a:ext cx="16445245" cy="447762"/>
          </a:xfrm>
          <a:prstGeom prst="rect">
            <a:avLst/>
          </a:prstGeom>
        </p:spPr>
        <p:txBody>
          <a:bodyPr lIns="0" tIns="0" rIns="0" bIns="0" rtlCol="0" anchor="t">
            <a:spAutoFit/>
          </a:bodyPr>
          <a:lstStyle/>
          <a:p>
            <a:pPr algn="ctr">
              <a:lnSpc>
                <a:spcPts val="3822"/>
              </a:lnSpc>
            </a:pPr>
            <a:r>
              <a:rPr lang="en-US" sz="2248">
                <a:solidFill>
                  <a:srgbClr val="000000"/>
                </a:solidFill>
                <a:latin typeface="Cabin"/>
                <a:ea typeface="Cabin"/>
                <a:cs typeface="Cabin"/>
                <a:sym typeface="Cabin"/>
              </a:rPr>
              <a:t>Lợi ích: Phân tách trách nhiệm · Dễ bảo trì · Dễ kiểm thử · Dễ mở rộng</a:t>
            </a:r>
          </a:p>
        </p:txBody>
      </p:sp>
      <p:sp>
        <p:nvSpPr>
          <p:cNvPr id="30" name="TextBox 30"/>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sp>
        <p:nvSpPr>
          <p:cNvPr id="3" name="Freeform 3"/>
          <p:cNvSpPr/>
          <p:nvPr/>
        </p:nvSpPr>
        <p:spPr>
          <a:xfrm>
            <a:off x="14826857" y="8505307"/>
            <a:ext cx="3927179" cy="1392364"/>
          </a:xfrm>
          <a:custGeom>
            <a:avLst/>
            <a:gdLst/>
            <a:ahLst/>
            <a:cxnLst/>
            <a:rect l="l" t="t" r="r" b="b"/>
            <a:pathLst>
              <a:path w="3927179" h="1392364">
                <a:moveTo>
                  <a:pt x="0" y="0"/>
                </a:moveTo>
                <a:lnTo>
                  <a:pt x="3927179" y="0"/>
                </a:lnTo>
                <a:lnTo>
                  <a:pt x="3927179" y="1392363"/>
                </a:lnTo>
                <a:lnTo>
                  <a:pt x="0" y="139236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8321297" y="4674974"/>
            <a:ext cx="9009410" cy="4946960"/>
            <a:chOff x="0" y="0"/>
            <a:chExt cx="3286657" cy="1804664"/>
          </a:xfrm>
          <a:scene3d>
            <a:camera prst="orthographicFront">
              <a:rot lat="0" lon="0" rev="0"/>
            </a:camera>
            <a:lightRig rig="glow" dir="t">
              <a:rot lat="0" lon="0" rev="4800000"/>
            </a:lightRig>
          </a:scene3d>
        </p:grpSpPr>
        <p:sp>
          <p:nvSpPr>
            <p:cNvPr id="5" name="Freeform 5"/>
            <p:cNvSpPr/>
            <p:nvPr/>
          </p:nvSpPr>
          <p:spPr>
            <a:xfrm>
              <a:off x="0" y="0"/>
              <a:ext cx="3286657" cy="1804664"/>
            </a:xfrm>
            <a:custGeom>
              <a:avLst/>
              <a:gdLst/>
              <a:ahLst/>
              <a:cxnLst/>
              <a:rect l="l" t="t" r="r" b="b"/>
              <a:pathLst>
                <a:path w="3286657" h="1804664">
                  <a:moveTo>
                    <a:pt x="0" y="0"/>
                  </a:moveTo>
                  <a:lnTo>
                    <a:pt x="3286657" y="0"/>
                  </a:lnTo>
                  <a:lnTo>
                    <a:pt x="3286657" y="1804664"/>
                  </a:lnTo>
                  <a:lnTo>
                    <a:pt x="0" y="18046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6" name="Group 6"/>
          <p:cNvGrpSpPr/>
          <p:nvPr/>
        </p:nvGrpSpPr>
        <p:grpSpPr>
          <a:xfrm>
            <a:off x="905495" y="4674974"/>
            <a:ext cx="7087021" cy="4946960"/>
            <a:chOff x="0" y="0"/>
            <a:chExt cx="2585364" cy="1804664"/>
          </a:xfrm>
          <a:scene3d>
            <a:camera prst="orthographicFront">
              <a:rot lat="0" lon="0" rev="0"/>
            </a:camera>
            <a:lightRig rig="glow" dir="t">
              <a:rot lat="0" lon="0" rev="4800000"/>
            </a:lightRig>
          </a:scene3d>
        </p:grpSpPr>
        <p:sp>
          <p:nvSpPr>
            <p:cNvPr id="7" name="Freeform 7"/>
            <p:cNvSpPr/>
            <p:nvPr/>
          </p:nvSpPr>
          <p:spPr>
            <a:xfrm>
              <a:off x="0" y="0"/>
              <a:ext cx="2585364" cy="1804664"/>
            </a:xfrm>
            <a:custGeom>
              <a:avLst/>
              <a:gdLst/>
              <a:ahLst/>
              <a:cxnLst/>
              <a:rect l="l" t="t" r="r" b="b"/>
              <a:pathLst>
                <a:path w="2585364" h="1804664">
                  <a:moveTo>
                    <a:pt x="0" y="0"/>
                  </a:moveTo>
                  <a:lnTo>
                    <a:pt x="2585364" y="0"/>
                  </a:lnTo>
                  <a:lnTo>
                    <a:pt x="2585364" y="1804664"/>
                  </a:lnTo>
                  <a:lnTo>
                    <a:pt x="0" y="18046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8" name="Freeform 8"/>
          <p:cNvSpPr/>
          <p:nvPr/>
        </p:nvSpPr>
        <p:spPr>
          <a:xfrm>
            <a:off x="-714499" y="0"/>
            <a:ext cx="3927179" cy="1392364"/>
          </a:xfrm>
          <a:custGeom>
            <a:avLst/>
            <a:gdLst/>
            <a:ahLst/>
            <a:cxnLst/>
            <a:rect l="l" t="t" r="r" b="b"/>
            <a:pathLst>
              <a:path w="3927179" h="1392364">
                <a:moveTo>
                  <a:pt x="0" y="0"/>
                </a:moveTo>
                <a:lnTo>
                  <a:pt x="3927179" y="0"/>
                </a:lnTo>
                <a:lnTo>
                  <a:pt x="3927179" y="1392364"/>
                </a:lnTo>
                <a:lnTo>
                  <a:pt x="0" y="139236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905495" y="973442"/>
            <a:ext cx="16425212" cy="1919447"/>
            <a:chOff x="0" y="0"/>
            <a:chExt cx="5991962" cy="700220"/>
          </a:xfrm>
          <a:scene3d>
            <a:camera prst="orthographicFront">
              <a:rot lat="0" lon="0" rev="0"/>
            </a:camera>
            <a:lightRig rig="glow" dir="t">
              <a:rot lat="0" lon="0" rev="4800000"/>
            </a:lightRig>
          </a:scene3d>
        </p:grpSpPr>
        <p:sp>
          <p:nvSpPr>
            <p:cNvPr id="10" name="Freeform 10"/>
            <p:cNvSpPr/>
            <p:nvPr/>
          </p:nvSpPr>
          <p:spPr>
            <a:xfrm>
              <a:off x="0" y="0"/>
              <a:ext cx="5991962" cy="700219"/>
            </a:xfrm>
            <a:custGeom>
              <a:avLst/>
              <a:gdLst/>
              <a:ahLst/>
              <a:cxnLst/>
              <a:rect l="l" t="t" r="r" b="b"/>
              <a:pathLst>
                <a:path w="5991962" h="700219">
                  <a:moveTo>
                    <a:pt x="0" y="0"/>
                  </a:moveTo>
                  <a:lnTo>
                    <a:pt x="5991962" y="0"/>
                  </a:lnTo>
                  <a:lnTo>
                    <a:pt x="5991962" y="700219"/>
                  </a:lnTo>
                  <a:lnTo>
                    <a:pt x="0" y="700219"/>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1" name="Freeform 11"/>
          <p:cNvSpPr/>
          <p:nvPr/>
        </p:nvSpPr>
        <p:spPr>
          <a:xfrm>
            <a:off x="1159832" y="4938965"/>
            <a:ext cx="6794584" cy="4438028"/>
          </a:xfrm>
          <a:custGeom>
            <a:avLst/>
            <a:gdLst/>
            <a:ahLst/>
            <a:cxnLst/>
            <a:rect l="l" t="t" r="r" b="b"/>
            <a:pathLst>
              <a:path w="6794584" h="4438028">
                <a:moveTo>
                  <a:pt x="0" y="0"/>
                </a:moveTo>
                <a:lnTo>
                  <a:pt x="6794584" y="0"/>
                </a:lnTo>
                <a:lnTo>
                  <a:pt x="6794584" y="4438028"/>
                </a:lnTo>
                <a:lnTo>
                  <a:pt x="0" y="4438028"/>
                </a:lnTo>
                <a:lnTo>
                  <a:pt x="0" y="0"/>
                </a:lnTo>
                <a:close/>
              </a:path>
            </a:pathLst>
          </a:custGeom>
          <a:blipFill>
            <a:blip r:embed="rId5"/>
            <a:stretch>
              <a:fillRect/>
            </a:stretch>
          </a:blipFill>
        </p:spPr>
      </p:sp>
      <p:sp>
        <p:nvSpPr>
          <p:cNvPr id="12" name="TextBox 12"/>
          <p:cNvSpPr txBox="1"/>
          <p:nvPr/>
        </p:nvSpPr>
        <p:spPr>
          <a:xfrm>
            <a:off x="-310447" y="1314040"/>
            <a:ext cx="18838047" cy="1152525"/>
          </a:xfrm>
          <a:prstGeom prst="rect">
            <a:avLst/>
          </a:prstGeom>
        </p:spPr>
        <p:txBody>
          <a:bodyPr lIns="0" tIns="0" rIns="0" bIns="0" rtlCol="0" anchor="t">
            <a:spAutoFit/>
          </a:bodyPr>
          <a:lstStyle/>
          <a:p>
            <a:pPr algn="ctr">
              <a:lnSpc>
                <a:spcPts val="9000"/>
              </a:lnSpc>
            </a:pPr>
            <a:r>
              <a:rPr lang="en-US" sz="7500" b="1">
                <a:solidFill>
                  <a:srgbClr val="003EA8"/>
                </a:solidFill>
                <a:latin typeface="Muli Bold"/>
                <a:ea typeface="Muli Bold"/>
                <a:cs typeface="Muli Bold"/>
                <a:sym typeface="Muli Bold"/>
              </a:rPr>
              <a:t>RESTful API &amp; JWT Authentication</a:t>
            </a:r>
          </a:p>
        </p:txBody>
      </p:sp>
      <p:sp>
        <p:nvSpPr>
          <p:cNvPr id="13" name="TextBox 13"/>
          <p:cNvSpPr txBox="1"/>
          <p:nvPr/>
        </p:nvSpPr>
        <p:spPr>
          <a:xfrm>
            <a:off x="9511338" y="5076825"/>
            <a:ext cx="7747962" cy="596900"/>
          </a:xfrm>
          <a:prstGeom prst="rect">
            <a:avLst/>
          </a:prstGeom>
        </p:spPr>
        <p:txBody>
          <a:bodyPr lIns="0" tIns="0" rIns="0" bIns="0" rtlCol="0" anchor="t">
            <a:spAutoFit/>
          </a:bodyPr>
          <a:lstStyle/>
          <a:p>
            <a:pPr algn="l">
              <a:lnSpc>
                <a:spcPts val="4900"/>
              </a:lnSpc>
            </a:pPr>
            <a:r>
              <a:rPr lang="en-US" sz="3500" b="1">
                <a:solidFill>
                  <a:srgbClr val="003EA8"/>
                </a:solidFill>
                <a:latin typeface="Muli Bold"/>
                <a:ea typeface="Muli Bold"/>
                <a:cs typeface="Muli Bold"/>
                <a:sym typeface="Muli Bold"/>
              </a:rPr>
              <a:t>JWT Authentication</a:t>
            </a:r>
          </a:p>
        </p:txBody>
      </p:sp>
      <p:sp>
        <p:nvSpPr>
          <p:cNvPr id="14" name="TextBox 14"/>
          <p:cNvSpPr txBox="1"/>
          <p:nvPr/>
        </p:nvSpPr>
        <p:spPr>
          <a:xfrm>
            <a:off x="905495" y="3259143"/>
            <a:ext cx="7747962" cy="438785"/>
          </a:xfrm>
          <a:prstGeom prst="rect">
            <a:avLst/>
          </a:prstGeom>
        </p:spPr>
        <p:txBody>
          <a:bodyPr lIns="0" tIns="0" rIns="0" bIns="0" rtlCol="0" anchor="t">
            <a:spAutoFit/>
          </a:bodyPr>
          <a:lstStyle/>
          <a:p>
            <a:pPr algn="l">
              <a:lnSpc>
                <a:spcPts val="3640"/>
              </a:lnSpc>
            </a:pPr>
            <a:r>
              <a:rPr lang="en-US" sz="2600" b="1">
                <a:solidFill>
                  <a:srgbClr val="003EA8"/>
                </a:solidFill>
                <a:latin typeface="Muli Bold"/>
                <a:ea typeface="Muli Bold"/>
                <a:cs typeface="Muli Bold"/>
                <a:sym typeface="Muli Bold"/>
              </a:rPr>
              <a:t>RESTful API</a:t>
            </a:r>
          </a:p>
        </p:txBody>
      </p:sp>
      <p:sp>
        <p:nvSpPr>
          <p:cNvPr id="15" name="TextBox 15"/>
          <p:cNvSpPr txBox="1"/>
          <p:nvPr/>
        </p:nvSpPr>
        <p:spPr>
          <a:xfrm>
            <a:off x="905495" y="3728726"/>
            <a:ext cx="7747962" cy="372745"/>
          </a:xfrm>
          <a:prstGeom prst="rect">
            <a:avLst/>
          </a:prstGeom>
        </p:spPr>
        <p:txBody>
          <a:bodyPr lIns="0" tIns="0" rIns="0" bIns="0" rtlCol="0" anchor="t">
            <a:spAutoFit/>
          </a:bodyPr>
          <a:lstStyle/>
          <a:p>
            <a:pPr algn="l">
              <a:lnSpc>
                <a:spcPts val="3079"/>
              </a:lnSpc>
            </a:pPr>
            <a:r>
              <a:rPr lang="en-US" sz="2199">
                <a:solidFill>
                  <a:srgbClr val="000000"/>
                </a:solidFill>
                <a:latin typeface="Cabin"/>
                <a:ea typeface="Cabin"/>
                <a:cs typeface="Cabin"/>
                <a:sym typeface="Cabin"/>
              </a:rPr>
              <a:t>Frontend React giao tiếp với Backend Node.js qua API.</a:t>
            </a:r>
          </a:p>
        </p:txBody>
      </p:sp>
      <p:sp>
        <p:nvSpPr>
          <p:cNvPr id="16" name="TextBox 16"/>
          <p:cNvSpPr txBox="1"/>
          <p:nvPr/>
        </p:nvSpPr>
        <p:spPr>
          <a:xfrm>
            <a:off x="9511338" y="6171459"/>
            <a:ext cx="6779763" cy="2148205"/>
          </a:xfrm>
          <a:prstGeom prst="rect">
            <a:avLst/>
          </a:prstGeom>
        </p:spPr>
        <p:txBody>
          <a:bodyPr lIns="0" tIns="0" rIns="0" bIns="0" rtlCol="0" anchor="t">
            <a:spAutoFit/>
          </a:bodyPr>
          <a:lstStyle/>
          <a:p>
            <a:pPr algn="just">
              <a:lnSpc>
                <a:spcPts val="4399"/>
              </a:lnSpc>
            </a:pPr>
            <a:r>
              <a:rPr lang="en-US" sz="2199">
                <a:solidFill>
                  <a:srgbClr val="000000"/>
                </a:solidFill>
                <a:latin typeface="Cabin"/>
                <a:ea typeface="Cabin"/>
                <a:cs typeface="Cabin"/>
                <a:sym typeface="Cabin"/>
              </a:rPr>
              <a:t>- Đăng nhập thành công → tạo JWT</a:t>
            </a:r>
          </a:p>
          <a:p>
            <a:pPr algn="just">
              <a:lnSpc>
                <a:spcPts val="4399"/>
              </a:lnSpc>
            </a:pPr>
            <a:r>
              <a:rPr lang="en-US" sz="2199">
                <a:solidFill>
                  <a:srgbClr val="000000"/>
                </a:solidFill>
                <a:latin typeface="Cabin"/>
                <a:ea typeface="Cabin"/>
                <a:cs typeface="Cabin"/>
                <a:sym typeface="Cabin"/>
              </a:rPr>
              <a:t>- Client gửi token ở mỗi request</a:t>
            </a:r>
          </a:p>
          <a:p>
            <a:pPr algn="just">
              <a:lnSpc>
                <a:spcPts val="4399"/>
              </a:lnSpc>
            </a:pPr>
            <a:r>
              <a:rPr lang="en-US" sz="2199">
                <a:solidFill>
                  <a:srgbClr val="000000"/>
                </a:solidFill>
                <a:latin typeface="Cabin"/>
                <a:ea typeface="Cabin"/>
                <a:cs typeface="Cabin"/>
                <a:sym typeface="Cabin"/>
              </a:rPr>
              <a:t>- Backend xác thực token và role</a:t>
            </a:r>
          </a:p>
          <a:p>
            <a:pPr algn="just">
              <a:lnSpc>
                <a:spcPts val="4399"/>
              </a:lnSpc>
            </a:pPr>
            <a:r>
              <a:rPr lang="en-US" sz="2199">
                <a:solidFill>
                  <a:srgbClr val="000000"/>
                </a:solidFill>
                <a:latin typeface="Cabin"/>
                <a:ea typeface="Cabin"/>
                <a:cs typeface="Cabin"/>
                <a:sym typeface="Cabin"/>
              </a:rPr>
              <a:t>- Quyền truy cập: Admin / Teacher / Student</a:t>
            </a:r>
          </a:p>
        </p:txBody>
      </p:sp>
      <p:sp>
        <p:nvSpPr>
          <p:cNvPr id="17" name="TextBox 17"/>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sp>
        <p:nvSpPr>
          <p:cNvPr id="3" name="Freeform 3"/>
          <p:cNvSpPr/>
          <p:nvPr/>
        </p:nvSpPr>
        <p:spPr>
          <a:xfrm>
            <a:off x="14826857" y="8505307"/>
            <a:ext cx="3927179" cy="1392364"/>
          </a:xfrm>
          <a:custGeom>
            <a:avLst/>
            <a:gdLst/>
            <a:ahLst/>
            <a:cxnLst/>
            <a:rect l="l" t="t" r="r" b="b"/>
            <a:pathLst>
              <a:path w="3927179" h="1392364">
                <a:moveTo>
                  <a:pt x="0" y="0"/>
                </a:moveTo>
                <a:lnTo>
                  <a:pt x="3927179" y="0"/>
                </a:lnTo>
                <a:lnTo>
                  <a:pt x="3927179" y="1392363"/>
                </a:lnTo>
                <a:lnTo>
                  <a:pt x="0" y="139236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9511338" y="4674974"/>
            <a:ext cx="7819369" cy="4946960"/>
            <a:chOff x="0" y="0"/>
            <a:chExt cx="2852527" cy="1804664"/>
          </a:xfrm>
          <a:scene3d>
            <a:camera prst="orthographicFront">
              <a:rot lat="0" lon="0" rev="0"/>
            </a:camera>
            <a:lightRig rig="glow" dir="t">
              <a:rot lat="0" lon="0" rev="4800000"/>
            </a:lightRig>
          </a:scene3d>
        </p:grpSpPr>
        <p:sp>
          <p:nvSpPr>
            <p:cNvPr id="5" name="Freeform 5"/>
            <p:cNvSpPr/>
            <p:nvPr/>
          </p:nvSpPr>
          <p:spPr>
            <a:xfrm>
              <a:off x="0" y="0"/>
              <a:ext cx="2852527" cy="1804664"/>
            </a:xfrm>
            <a:custGeom>
              <a:avLst/>
              <a:gdLst/>
              <a:ahLst/>
              <a:cxnLst/>
              <a:rect l="l" t="t" r="r" b="b"/>
              <a:pathLst>
                <a:path w="2852527" h="1804664">
                  <a:moveTo>
                    <a:pt x="0" y="0"/>
                  </a:moveTo>
                  <a:lnTo>
                    <a:pt x="2852527" y="0"/>
                  </a:lnTo>
                  <a:lnTo>
                    <a:pt x="2852527" y="1804664"/>
                  </a:lnTo>
                  <a:lnTo>
                    <a:pt x="0" y="18046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6" name="Freeform 6"/>
          <p:cNvSpPr/>
          <p:nvPr/>
        </p:nvSpPr>
        <p:spPr>
          <a:xfrm>
            <a:off x="-714499" y="0"/>
            <a:ext cx="3927179" cy="1392364"/>
          </a:xfrm>
          <a:custGeom>
            <a:avLst/>
            <a:gdLst/>
            <a:ahLst/>
            <a:cxnLst/>
            <a:rect l="l" t="t" r="r" b="b"/>
            <a:pathLst>
              <a:path w="3927179" h="1392364">
                <a:moveTo>
                  <a:pt x="0" y="0"/>
                </a:moveTo>
                <a:lnTo>
                  <a:pt x="3927179" y="0"/>
                </a:lnTo>
                <a:lnTo>
                  <a:pt x="3927179" y="1392364"/>
                </a:lnTo>
                <a:lnTo>
                  <a:pt x="0" y="139236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905495" y="474214"/>
            <a:ext cx="16425212" cy="3175673"/>
            <a:chOff x="0" y="0"/>
            <a:chExt cx="5991962" cy="1158494"/>
          </a:xfrm>
          <a:scene3d>
            <a:camera prst="orthographicFront">
              <a:rot lat="0" lon="0" rev="0"/>
            </a:camera>
            <a:lightRig rig="glow" dir="t">
              <a:rot lat="0" lon="0" rev="4800000"/>
            </a:lightRig>
          </a:scene3d>
        </p:grpSpPr>
        <p:sp>
          <p:nvSpPr>
            <p:cNvPr id="8" name="Freeform 8"/>
            <p:cNvSpPr/>
            <p:nvPr/>
          </p:nvSpPr>
          <p:spPr>
            <a:xfrm>
              <a:off x="0" y="0"/>
              <a:ext cx="5991962" cy="1158494"/>
            </a:xfrm>
            <a:custGeom>
              <a:avLst/>
              <a:gdLst/>
              <a:ahLst/>
              <a:cxnLst/>
              <a:rect l="l" t="t" r="r" b="b"/>
              <a:pathLst>
                <a:path w="5991962" h="1158494">
                  <a:moveTo>
                    <a:pt x="0" y="0"/>
                  </a:moveTo>
                  <a:lnTo>
                    <a:pt x="5991962" y="0"/>
                  </a:lnTo>
                  <a:lnTo>
                    <a:pt x="5991962" y="1158494"/>
                  </a:lnTo>
                  <a:lnTo>
                    <a:pt x="0" y="115849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9" name="TextBox 9"/>
          <p:cNvSpPr txBox="1"/>
          <p:nvPr/>
        </p:nvSpPr>
        <p:spPr>
          <a:xfrm>
            <a:off x="-285794" y="769428"/>
            <a:ext cx="18838047" cy="2295525"/>
          </a:xfrm>
          <a:prstGeom prst="rect">
            <a:avLst/>
          </a:prstGeom>
        </p:spPr>
        <p:txBody>
          <a:bodyPr lIns="0" tIns="0" rIns="0" bIns="0" rtlCol="0" anchor="t">
            <a:spAutoFit/>
          </a:bodyPr>
          <a:lstStyle/>
          <a:p>
            <a:pPr algn="ctr">
              <a:lnSpc>
                <a:spcPts val="9000"/>
              </a:lnSpc>
            </a:pPr>
            <a:r>
              <a:rPr lang="en-US" sz="7500" b="1" dirty="0">
                <a:solidFill>
                  <a:srgbClr val="003EA8"/>
                </a:solidFill>
                <a:latin typeface="Muli Bold"/>
                <a:ea typeface="Muli Bold"/>
                <a:cs typeface="Muli Bold"/>
                <a:sym typeface="Muli Bold"/>
              </a:rPr>
              <a:t>Quản Lý </a:t>
            </a:r>
            <a:r>
              <a:rPr lang="en-US" sz="7500" b="1" dirty="0" err="1">
                <a:solidFill>
                  <a:srgbClr val="003EA8"/>
                </a:solidFill>
                <a:latin typeface="Muli Bold"/>
                <a:ea typeface="Muli Bold"/>
                <a:cs typeface="Muli Bold"/>
                <a:sym typeface="Muli Bold"/>
              </a:rPr>
              <a:t>Dự</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Án</a:t>
            </a:r>
            <a:r>
              <a:rPr lang="en-US" sz="7500" b="1" dirty="0">
                <a:solidFill>
                  <a:srgbClr val="003EA8"/>
                </a:solidFill>
                <a:latin typeface="Muli Bold"/>
                <a:ea typeface="Muli Bold"/>
                <a:cs typeface="Muli Bold"/>
                <a:sym typeface="Muli Bold"/>
              </a:rPr>
              <a:t> &amp; </a:t>
            </a:r>
            <a:r>
              <a:rPr lang="en-US" sz="7500" b="1" dirty="0" err="1">
                <a:solidFill>
                  <a:srgbClr val="003EA8"/>
                </a:solidFill>
                <a:latin typeface="Muli Bold"/>
                <a:ea typeface="Muli Bold"/>
                <a:cs typeface="Muli Bold"/>
                <a:sym typeface="Muli Bold"/>
              </a:rPr>
              <a:t>Kiểm</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Thử</a:t>
            </a:r>
            <a:endParaRPr lang="en-US" sz="7500" b="1" dirty="0">
              <a:solidFill>
                <a:srgbClr val="003EA8"/>
              </a:solidFill>
              <a:latin typeface="Muli Bold"/>
              <a:ea typeface="Muli Bold"/>
              <a:cs typeface="Muli Bold"/>
              <a:sym typeface="Muli Bold"/>
            </a:endParaRPr>
          </a:p>
          <a:p>
            <a:pPr algn="ctr">
              <a:lnSpc>
                <a:spcPts val="9000"/>
              </a:lnSpc>
            </a:pPr>
            <a:r>
              <a:rPr lang="en-US" sz="7500" b="1" dirty="0">
                <a:solidFill>
                  <a:srgbClr val="003EA8"/>
                </a:solidFill>
                <a:latin typeface="Muli Bold"/>
                <a:ea typeface="Muli Bold"/>
                <a:cs typeface="Muli Bold"/>
                <a:sym typeface="Muli Bold"/>
              </a:rPr>
              <a:t>Quy </a:t>
            </a:r>
            <a:r>
              <a:rPr lang="en-US" sz="7500" b="1" dirty="0" err="1">
                <a:solidFill>
                  <a:srgbClr val="003EA8"/>
                </a:solidFill>
                <a:latin typeface="Muli Bold"/>
                <a:ea typeface="Muli Bold"/>
                <a:cs typeface="Muli Bold"/>
                <a:sym typeface="Muli Bold"/>
              </a:rPr>
              <a:t>Trình</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Phát</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Triển</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và</a:t>
            </a:r>
            <a:r>
              <a:rPr lang="en-US" sz="7500" b="1" dirty="0">
                <a:solidFill>
                  <a:srgbClr val="003EA8"/>
                </a:solidFill>
                <a:latin typeface="Muli Bold"/>
                <a:ea typeface="Muli Bold"/>
                <a:cs typeface="Muli Bold"/>
                <a:sym typeface="Muli Bold"/>
              </a:rPr>
              <a:t> Test Cases</a:t>
            </a:r>
          </a:p>
        </p:txBody>
      </p:sp>
      <p:sp>
        <p:nvSpPr>
          <p:cNvPr id="10" name="TextBox 10"/>
          <p:cNvSpPr txBox="1"/>
          <p:nvPr/>
        </p:nvSpPr>
        <p:spPr>
          <a:xfrm>
            <a:off x="9768515" y="5076825"/>
            <a:ext cx="7747962" cy="596900"/>
          </a:xfrm>
          <a:prstGeom prst="rect">
            <a:avLst/>
          </a:prstGeom>
        </p:spPr>
        <p:txBody>
          <a:bodyPr lIns="0" tIns="0" rIns="0" bIns="0" rtlCol="0" anchor="t">
            <a:spAutoFit/>
          </a:bodyPr>
          <a:lstStyle/>
          <a:p>
            <a:pPr algn="l">
              <a:lnSpc>
                <a:spcPts val="4900"/>
              </a:lnSpc>
            </a:pPr>
            <a:r>
              <a:rPr lang="en-US" sz="3500" b="1">
                <a:solidFill>
                  <a:srgbClr val="003EA8"/>
                </a:solidFill>
                <a:latin typeface="Muli Bold"/>
                <a:ea typeface="Muli Bold"/>
                <a:cs typeface="Muli Bold"/>
                <a:sym typeface="Muli Bold"/>
              </a:rPr>
              <a:t>Kiểm Thử Phần Mềm &amp; Test Cases</a:t>
            </a:r>
          </a:p>
        </p:txBody>
      </p:sp>
      <p:sp>
        <p:nvSpPr>
          <p:cNvPr id="11" name="TextBox 11"/>
          <p:cNvSpPr txBox="1"/>
          <p:nvPr/>
        </p:nvSpPr>
        <p:spPr>
          <a:xfrm>
            <a:off x="931394" y="3947483"/>
            <a:ext cx="16425212" cy="389255"/>
          </a:xfrm>
          <a:prstGeom prst="rect">
            <a:avLst/>
          </a:prstGeom>
        </p:spPr>
        <p:txBody>
          <a:bodyPr lIns="0" tIns="0" rIns="0" bIns="0" rtlCol="0" anchor="t">
            <a:spAutoFit/>
          </a:bodyPr>
          <a:lstStyle/>
          <a:p>
            <a:pPr algn="ctr">
              <a:lnSpc>
                <a:spcPts val="3219"/>
              </a:lnSpc>
            </a:pPr>
            <a:r>
              <a:rPr lang="en-US" sz="2299">
                <a:solidFill>
                  <a:srgbClr val="000000"/>
                </a:solidFill>
                <a:latin typeface="Cabin"/>
                <a:ea typeface="Cabin"/>
                <a:cs typeface="Cabin"/>
                <a:sym typeface="Cabin"/>
              </a:rPr>
              <a:t>Đảm bảo chất lượng và tiến độ dự án thông qua quy trình phát triển rõ ràng và kiểm thử nghiêm ngặt.</a:t>
            </a:r>
          </a:p>
        </p:txBody>
      </p:sp>
      <p:sp>
        <p:nvSpPr>
          <p:cNvPr id="12" name="TextBox 12"/>
          <p:cNvSpPr txBox="1"/>
          <p:nvPr/>
        </p:nvSpPr>
        <p:spPr>
          <a:xfrm>
            <a:off x="10010683" y="6086475"/>
            <a:ext cx="6779763" cy="1595755"/>
          </a:xfrm>
          <a:prstGeom prst="rect">
            <a:avLst/>
          </a:prstGeom>
        </p:spPr>
        <p:txBody>
          <a:bodyPr lIns="0" tIns="0" rIns="0" bIns="0" rtlCol="0" anchor="t">
            <a:spAutoFit/>
          </a:bodyPr>
          <a:lstStyle/>
          <a:p>
            <a:pPr algn="ctr">
              <a:lnSpc>
                <a:spcPts val="4399"/>
              </a:lnSpc>
            </a:pPr>
            <a:r>
              <a:rPr lang="en-US" sz="2199">
                <a:solidFill>
                  <a:srgbClr val="000000"/>
                </a:solidFill>
                <a:latin typeface="Cabin"/>
                <a:ea typeface="Cabin"/>
                <a:cs typeface="Cabin"/>
                <a:sym typeface="Cabin"/>
              </a:rPr>
              <a:t>- Đúng chức năng</a:t>
            </a:r>
          </a:p>
          <a:p>
            <a:pPr algn="ctr">
              <a:lnSpc>
                <a:spcPts val="4399"/>
              </a:lnSpc>
            </a:pPr>
            <a:r>
              <a:rPr lang="en-US" sz="2199">
                <a:solidFill>
                  <a:srgbClr val="000000"/>
                </a:solidFill>
                <a:latin typeface="Cabin"/>
                <a:ea typeface="Cabin"/>
                <a:cs typeface="Cabin"/>
                <a:sym typeface="Cabin"/>
              </a:rPr>
              <a:t>- Phát hiện sớm</a:t>
            </a:r>
          </a:p>
          <a:p>
            <a:pPr algn="ctr">
              <a:lnSpc>
                <a:spcPts val="4399"/>
              </a:lnSpc>
            </a:pPr>
            <a:r>
              <a:rPr lang="en-US" sz="2199">
                <a:solidFill>
                  <a:srgbClr val="000000"/>
                </a:solidFill>
                <a:latin typeface="Cabin"/>
                <a:ea typeface="Cabin"/>
                <a:cs typeface="Cabin"/>
                <a:sym typeface="Cabin"/>
              </a:rPr>
              <a:t>- Cải thiện trảinghiệm</a:t>
            </a:r>
          </a:p>
        </p:txBody>
      </p:sp>
      <p:grpSp>
        <p:nvGrpSpPr>
          <p:cNvPr id="13" name="Group 13"/>
          <p:cNvGrpSpPr/>
          <p:nvPr/>
        </p:nvGrpSpPr>
        <p:grpSpPr>
          <a:xfrm>
            <a:off x="931394" y="4674974"/>
            <a:ext cx="7758762" cy="4946960"/>
            <a:chOff x="0" y="0"/>
            <a:chExt cx="2830418" cy="1804664"/>
          </a:xfrm>
          <a:scene3d>
            <a:camera prst="orthographicFront">
              <a:rot lat="0" lon="0" rev="0"/>
            </a:camera>
            <a:lightRig rig="glow" dir="t">
              <a:rot lat="0" lon="0" rev="4800000"/>
            </a:lightRig>
          </a:scene3d>
        </p:grpSpPr>
        <p:sp>
          <p:nvSpPr>
            <p:cNvPr id="14" name="Freeform 14"/>
            <p:cNvSpPr/>
            <p:nvPr/>
          </p:nvSpPr>
          <p:spPr>
            <a:xfrm>
              <a:off x="0" y="0"/>
              <a:ext cx="2830418" cy="1804664"/>
            </a:xfrm>
            <a:custGeom>
              <a:avLst/>
              <a:gdLst/>
              <a:ahLst/>
              <a:cxnLst/>
              <a:rect l="l" t="t" r="r" b="b"/>
              <a:pathLst>
                <a:path w="2830418" h="1804664">
                  <a:moveTo>
                    <a:pt x="0" y="0"/>
                  </a:moveTo>
                  <a:lnTo>
                    <a:pt x="2830418" y="0"/>
                  </a:lnTo>
                  <a:lnTo>
                    <a:pt x="2830418" y="1804664"/>
                  </a:lnTo>
                  <a:lnTo>
                    <a:pt x="0" y="18046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5" name="TextBox 15"/>
          <p:cNvSpPr txBox="1"/>
          <p:nvPr/>
        </p:nvSpPr>
        <p:spPr>
          <a:xfrm>
            <a:off x="1249090" y="5032375"/>
            <a:ext cx="6971849" cy="1216025"/>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Quy Trình Phát Triển Phần Mềm (SDLC)</a:t>
            </a:r>
          </a:p>
        </p:txBody>
      </p:sp>
      <p:sp>
        <p:nvSpPr>
          <p:cNvPr id="16" name="TextBox 16"/>
          <p:cNvSpPr txBox="1"/>
          <p:nvPr/>
        </p:nvSpPr>
        <p:spPr>
          <a:xfrm>
            <a:off x="1441696" y="6250940"/>
            <a:ext cx="6405101" cy="2700655"/>
          </a:xfrm>
          <a:prstGeom prst="rect">
            <a:avLst/>
          </a:prstGeom>
        </p:spPr>
        <p:txBody>
          <a:bodyPr lIns="0" tIns="0" rIns="0" bIns="0" rtlCol="0" anchor="t">
            <a:spAutoFit/>
          </a:bodyPr>
          <a:lstStyle/>
          <a:p>
            <a:pPr algn="ctr">
              <a:lnSpc>
                <a:spcPts val="4399"/>
              </a:lnSpc>
            </a:pPr>
            <a:r>
              <a:rPr lang="en-US" sz="2199">
                <a:solidFill>
                  <a:srgbClr val="000000"/>
                </a:solidFill>
                <a:latin typeface="Cabin"/>
                <a:ea typeface="Cabin"/>
                <a:cs typeface="Cabin"/>
                <a:sym typeface="Cabin"/>
              </a:rPr>
              <a:t>1.Phân Tích Yêu Cầu</a:t>
            </a:r>
          </a:p>
          <a:p>
            <a:pPr algn="ctr">
              <a:lnSpc>
                <a:spcPts val="4399"/>
              </a:lnSpc>
            </a:pPr>
            <a:r>
              <a:rPr lang="en-US" sz="2199">
                <a:solidFill>
                  <a:srgbClr val="000000"/>
                </a:solidFill>
                <a:latin typeface="Cabin"/>
                <a:ea typeface="Cabin"/>
                <a:cs typeface="Cabin"/>
                <a:sym typeface="Cabin"/>
              </a:rPr>
              <a:t>2.Thiết Kế Hệ Thống</a:t>
            </a:r>
          </a:p>
          <a:p>
            <a:pPr algn="ctr">
              <a:lnSpc>
                <a:spcPts val="4399"/>
              </a:lnSpc>
            </a:pPr>
            <a:r>
              <a:rPr lang="en-US" sz="2199">
                <a:solidFill>
                  <a:srgbClr val="000000"/>
                </a:solidFill>
                <a:latin typeface="Cabin"/>
                <a:ea typeface="Cabin"/>
                <a:cs typeface="Cabin"/>
                <a:sym typeface="Cabin"/>
              </a:rPr>
              <a:t>3.Phát Triển &amp; Mã Hóa</a:t>
            </a:r>
          </a:p>
          <a:p>
            <a:pPr algn="ctr">
              <a:lnSpc>
                <a:spcPts val="4399"/>
              </a:lnSpc>
            </a:pPr>
            <a:r>
              <a:rPr lang="en-US" sz="2199">
                <a:solidFill>
                  <a:srgbClr val="000000"/>
                </a:solidFill>
                <a:latin typeface="Cabin"/>
                <a:ea typeface="Cabin"/>
                <a:cs typeface="Cabin"/>
                <a:sym typeface="Cabin"/>
              </a:rPr>
              <a:t>4.Kiểm Thử</a:t>
            </a:r>
          </a:p>
          <a:p>
            <a:pPr algn="ctr">
              <a:lnSpc>
                <a:spcPts val="4399"/>
              </a:lnSpc>
            </a:pPr>
            <a:r>
              <a:rPr lang="en-US" sz="2199">
                <a:solidFill>
                  <a:srgbClr val="000000"/>
                </a:solidFill>
                <a:latin typeface="Cabin"/>
                <a:ea typeface="Cabin"/>
                <a:cs typeface="Cabin"/>
                <a:sym typeface="Cabin"/>
              </a:rPr>
              <a:t>5.Triển Khai &amp; Bảo Trì</a:t>
            </a:r>
          </a:p>
        </p:txBody>
      </p:sp>
      <p:sp>
        <p:nvSpPr>
          <p:cNvPr id="17" name="TextBox 17"/>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grpSp>
        <p:nvGrpSpPr>
          <p:cNvPr id="3" name="Group 3"/>
          <p:cNvGrpSpPr/>
          <p:nvPr/>
        </p:nvGrpSpPr>
        <p:grpSpPr>
          <a:xfrm>
            <a:off x="1028700" y="384898"/>
            <a:ext cx="16445245" cy="2835550"/>
            <a:chOff x="0" y="0"/>
            <a:chExt cx="5999270" cy="1034416"/>
          </a:xfrm>
          <a:scene3d>
            <a:camera prst="orthographicFront">
              <a:rot lat="0" lon="0" rev="0"/>
            </a:camera>
            <a:lightRig rig="glow" dir="t">
              <a:rot lat="0" lon="0" rev="4800000"/>
            </a:lightRig>
          </a:scene3d>
        </p:grpSpPr>
        <p:sp>
          <p:nvSpPr>
            <p:cNvPr id="4" name="Freeform 4"/>
            <p:cNvSpPr/>
            <p:nvPr/>
          </p:nvSpPr>
          <p:spPr>
            <a:xfrm>
              <a:off x="0" y="0"/>
              <a:ext cx="5999270" cy="1034416"/>
            </a:xfrm>
            <a:custGeom>
              <a:avLst/>
              <a:gdLst/>
              <a:ahLst/>
              <a:cxnLst/>
              <a:rect l="l" t="t" r="r" b="b"/>
              <a:pathLst>
                <a:path w="5999270" h="1034416">
                  <a:moveTo>
                    <a:pt x="0" y="0"/>
                  </a:moveTo>
                  <a:lnTo>
                    <a:pt x="5999270" y="0"/>
                  </a:lnTo>
                  <a:lnTo>
                    <a:pt x="5999270" y="1034416"/>
                  </a:lnTo>
                  <a:lnTo>
                    <a:pt x="0" y="1034416"/>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5" name="TextBox 5"/>
          <p:cNvSpPr txBox="1"/>
          <p:nvPr/>
        </p:nvSpPr>
        <p:spPr>
          <a:xfrm>
            <a:off x="514350" y="573948"/>
            <a:ext cx="17259300" cy="2295525"/>
          </a:xfrm>
          <a:prstGeom prst="rect">
            <a:avLst/>
          </a:prstGeom>
        </p:spPr>
        <p:txBody>
          <a:bodyPr lIns="0" tIns="0" rIns="0" bIns="0" rtlCol="0" anchor="t">
            <a:spAutoFit/>
          </a:bodyPr>
          <a:lstStyle/>
          <a:p>
            <a:pPr algn="ctr">
              <a:lnSpc>
                <a:spcPts val="9000"/>
              </a:lnSpc>
            </a:pPr>
            <a:r>
              <a:rPr lang="en-US" sz="7500" b="1" dirty="0">
                <a:solidFill>
                  <a:srgbClr val="003EA8"/>
                </a:solidFill>
                <a:latin typeface="Muli Bold"/>
                <a:ea typeface="Muli Bold"/>
                <a:cs typeface="Muli Bold"/>
                <a:sym typeface="Muli Bold"/>
              </a:rPr>
              <a:t>Giao </a:t>
            </a:r>
            <a:r>
              <a:rPr lang="en-US" sz="7500" b="1" dirty="0" err="1">
                <a:solidFill>
                  <a:srgbClr val="003EA8"/>
                </a:solidFill>
                <a:latin typeface="Muli Bold"/>
                <a:ea typeface="Muli Bold"/>
                <a:cs typeface="Muli Bold"/>
                <a:sym typeface="Muli Bold"/>
              </a:rPr>
              <a:t>Diện</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HệThống</a:t>
            </a:r>
            <a:endParaRPr lang="en-US" sz="7500" b="1" dirty="0">
              <a:solidFill>
                <a:srgbClr val="003EA8"/>
              </a:solidFill>
              <a:latin typeface="Muli Bold"/>
              <a:ea typeface="Muli Bold"/>
              <a:cs typeface="Muli Bold"/>
              <a:sym typeface="Muli Bold"/>
            </a:endParaRPr>
          </a:p>
          <a:p>
            <a:pPr algn="ctr">
              <a:lnSpc>
                <a:spcPts val="9000"/>
              </a:lnSpc>
            </a:pPr>
            <a:r>
              <a:rPr lang="en-US" sz="7500" b="1" dirty="0">
                <a:solidFill>
                  <a:srgbClr val="003EA8"/>
                </a:solidFill>
                <a:latin typeface="Muli Bold"/>
                <a:ea typeface="Muli Bold"/>
                <a:cs typeface="Muli Bold"/>
                <a:sym typeface="Muli Bold"/>
              </a:rPr>
              <a:t>Dashboard </a:t>
            </a:r>
            <a:r>
              <a:rPr lang="en-US" sz="7500" b="1" dirty="0" err="1">
                <a:solidFill>
                  <a:srgbClr val="003EA8"/>
                </a:solidFill>
                <a:latin typeface="Muli Bold"/>
                <a:ea typeface="Muli Bold"/>
                <a:cs typeface="Muli Bold"/>
                <a:sym typeface="Muli Bold"/>
              </a:rPr>
              <a:t>và</a:t>
            </a:r>
            <a:r>
              <a:rPr lang="en-US" sz="7500" b="1" dirty="0">
                <a:solidFill>
                  <a:srgbClr val="003EA8"/>
                </a:solidFill>
                <a:latin typeface="Muli Bold"/>
                <a:ea typeface="Muli Bold"/>
                <a:cs typeface="Muli Bold"/>
                <a:sym typeface="Muli Bold"/>
              </a:rPr>
              <a:t> Các </a:t>
            </a:r>
            <a:r>
              <a:rPr lang="en-US" sz="7500" b="1" dirty="0" err="1">
                <a:solidFill>
                  <a:srgbClr val="003EA8"/>
                </a:solidFill>
                <a:latin typeface="Muli Bold"/>
                <a:ea typeface="Muli Bold"/>
                <a:cs typeface="Muli Bold"/>
                <a:sym typeface="Muli Bold"/>
              </a:rPr>
              <a:t>Màn</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Hình</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Chính</a:t>
            </a:r>
            <a:endParaRPr lang="en-US" sz="7500" b="1" dirty="0">
              <a:solidFill>
                <a:srgbClr val="003EA8"/>
              </a:solidFill>
              <a:latin typeface="Muli Bold"/>
              <a:ea typeface="Muli Bold"/>
              <a:cs typeface="Muli Bold"/>
              <a:sym typeface="Muli Bold"/>
            </a:endParaRPr>
          </a:p>
        </p:txBody>
      </p:sp>
      <p:sp>
        <p:nvSpPr>
          <p:cNvPr id="6" name="Freeform 6"/>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4011526" y="9345035"/>
            <a:ext cx="441616" cy="633141"/>
          </a:xfrm>
          <a:custGeom>
            <a:avLst/>
            <a:gdLst/>
            <a:ahLst/>
            <a:cxnLst/>
            <a:rect l="l" t="t" r="r" b="b"/>
            <a:pathLst>
              <a:path w="441616" h="633141">
                <a:moveTo>
                  <a:pt x="0" y="0"/>
                </a:moveTo>
                <a:lnTo>
                  <a:pt x="441616" y="0"/>
                </a:lnTo>
                <a:lnTo>
                  <a:pt x="441616" y="633140"/>
                </a:lnTo>
                <a:lnTo>
                  <a:pt x="0" y="63314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028700" y="8174615"/>
            <a:ext cx="16445245" cy="1356936"/>
            <a:chOff x="0" y="0"/>
            <a:chExt cx="7351508" cy="606590"/>
          </a:xfrm>
          <a:scene3d>
            <a:camera prst="orthographicFront">
              <a:rot lat="0" lon="0" rev="0"/>
            </a:camera>
            <a:lightRig rig="glow" dir="t">
              <a:rot lat="0" lon="0" rev="4800000"/>
            </a:lightRig>
          </a:scene3d>
        </p:grpSpPr>
        <p:sp>
          <p:nvSpPr>
            <p:cNvPr id="10" name="Freeform 10"/>
            <p:cNvSpPr/>
            <p:nvPr/>
          </p:nvSpPr>
          <p:spPr>
            <a:xfrm>
              <a:off x="0" y="0"/>
              <a:ext cx="7351508" cy="606590"/>
            </a:xfrm>
            <a:custGeom>
              <a:avLst/>
              <a:gdLst/>
              <a:ahLst/>
              <a:cxnLst/>
              <a:rect l="l" t="t" r="r" b="b"/>
              <a:pathLst>
                <a:path w="7351508" h="606590">
                  <a:moveTo>
                    <a:pt x="0" y="0"/>
                  </a:moveTo>
                  <a:lnTo>
                    <a:pt x="7351508" y="0"/>
                  </a:lnTo>
                  <a:lnTo>
                    <a:pt x="7351508" y="606590"/>
                  </a:lnTo>
                  <a:lnTo>
                    <a:pt x="0" y="606590"/>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1" name="TextBox 11"/>
          <p:cNvSpPr txBox="1"/>
          <p:nvPr/>
        </p:nvSpPr>
        <p:spPr>
          <a:xfrm>
            <a:off x="6096670" y="8340089"/>
            <a:ext cx="6495495" cy="433011"/>
          </a:xfrm>
          <a:prstGeom prst="rect">
            <a:avLst/>
          </a:prstGeom>
        </p:spPr>
        <p:txBody>
          <a:bodyPr lIns="0" tIns="0" rIns="0" bIns="0" rtlCol="0" anchor="t">
            <a:spAutoFit/>
          </a:bodyPr>
          <a:lstStyle/>
          <a:p>
            <a:pPr algn="ctr">
              <a:lnSpc>
                <a:spcPts val="3451"/>
              </a:lnSpc>
            </a:pPr>
            <a:r>
              <a:rPr lang="en-US" sz="2654" b="1">
                <a:solidFill>
                  <a:srgbClr val="003EA8"/>
                </a:solidFill>
                <a:latin typeface="Muli Ultra-Bold"/>
                <a:ea typeface="Muli Ultra-Bold"/>
                <a:cs typeface="Muli Ultra-Bold"/>
                <a:sym typeface="Muli Ultra-Bold"/>
              </a:rPr>
              <a:t>Theo dõi Tiến độ</a:t>
            </a:r>
          </a:p>
        </p:txBody>
      </p:sp>
      <p:sp>
        <p:nvSpPr>
          <p:cNvPr id="12" name="TextBox 12"/>
          <p:cNvSpPr txBox="1"/>
          <p:nvPr/>
        </p:nvSpPr>
        <p:spPr>
          <a:xfrm>
            <a:off x="1805355" y="8821072"/>
            <a:ext cx="15078125" cy="447762"/>
          </a:xfrm>
          <a:prstGeom prst="rect">
            <a:avLst/>
          </a:prstGeom>
        </p:spPr>
        <p:txBody>
          <a:bodyPr lIns="0" tIns="0" rIns="0" bIns="0" rtlCol="0" anchor="t">
            <a:spAutoFit/>
          </a:bodyPr>
          <a:lstStyle/>
          <a:p>
            <a:pPr algn="ctr">
              <a:lnSpc>
                <a:spcPts val="3822"/>
              </a:lnSpc>
            </a:pPr>
            <a:r>
              <a:rPr lang="en-US" sz="2248">
                <a:solidFill>
                  <a:srgbClr val="000000"/>
                </a:solidFill>
                <a:latin typeface="Cabin"/>
                <a:ea typeface="Cabin"/>
                <a:cs typeface="Cabin"/>
                <a:sym typeface="Cabin"/>
              </a:rPr>
              <a:t>Cập nhật milestone và phản hồi</a:t>
            </a:r>
          </a:p>
        </p:txBody>
      </p:sp>
      <p:grpSp>
        <p:nvGrpSpPr>
          <p:cNvPr id="13" name="Group 13"/>
          <p:cNvGrpSpPr/>
          <p:nvPr/>
        </p:nvGrpSpPr>
        <p:grpSpPr>
          <a:xfrm>
            <a:off x="1028700" y="4430123"/>
            <a:ext cx="3750811" cy="3555951"/>
            <a:chOff x="0" y="0"/>
            <a:chExt cx="1676723" cy="1589615"/>
          </a:xfrm>
          <a:scene3d>
            <a:camera prst="orthographicFront">
              <a:rot lat="0" lon="0" rev="0"/>
            </a:camera>
            <a:lightRig rig="glow" dir="t">
              <a:rot lat="0" lon="0" rev="4800000"/>
            </a:lightRig>
          </a:scene3d>
        </p:grpSpPr>
        <p:sp>
          <p:nvSpPr>
            <p:cNvPr id="14" name="Freeform 14"/>
            <p:cNvSpPr/>
            <p:nvPr/>
          </p:nvSpPr>
          <p:spPr>
            <a:xfrm>
              <a:off x="0" y="0"/>
              <a:ext cx="1676723" cy="1589615"/>
            </a:xfrm>
            <a:custGeom>
              <a:avLst/>
              <a:gdLst/>
              <a:ahLst/>
              <a:cxnLst/>
              <a:rect l="l" t="t" r="r" b="b"/>
              <a:pathLst>
                <a:path w="1676723" h="1589615">
                  <a:moveTo>
                    <a:pt x="0" y="0"/>
                  </a:moveTo>
                  <a:lnTo>
                    <a:pt x="1676723" y="0"/>
                  </a:lnTo>
                  <a:lnTo>
                    <a:pt x="1676723"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5" name="TextBox 15"/>
          <p:cNvSpPr txBox="1"/>
          <p:nvPr/>
        </p:nvSpPr>
        <p:spPr>
          <a:xfrm>
            <a:off x="1463939" y="4739179"/>
            <a:ext cx="3103778" cy="648668"/>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Dashboard</a:t>
            </a:r>
          </a:p>
        </p:txBody>
      </p:sp>
      <p:sp>
        <p:nvSpPr>
          <p:cNvPr id="16" name="TextBox 16"/>
          <p:cNvSpPr txBox="1"/>
          <p:nvPr/>
        </p:nvSpPr>
        <p:spPr>
          <a:xfrm>
            <a:off x="1210141" y="5862288"/>
            <a:ext cx="3497075" cy="502672"/>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Tổng quan và thông báo</a:t>
            </a:r>
          </a:p>
        </p:txBody>
      </p:sp>
      <p:grpSp>
        <p:nvGrpSpPr>
          <p:cNvPr id="17" name="Group 17"/>
          <p:cNvGrpSpPr/>
          <p:nvPr/>
        </p:nvGrpSpPr>
        <p:grpSpPr>
          <a:xfrm>
            <a:off x="13621622" y="4430123"/>
            <a:ext cx="3852323" cy="3555951"/>
            <a:chOff x="0" y="0"/>
            <a:chExt cx="1722102" cy="1589615"/>
          </a:xfrm>
          <a:scene3d>
            <a:camera prst="orthographicFront">
              <a:rot lat="0" lon="0" rev="0"/>
            </a:camera>
            <a:lightRig rig="glow" dir="t">
              <a:rot lat="0" lon="0" rev="4800000"/>
            </a:lightRig>
          </a:scene3d>
        </p:grpSpPr>
        <p:sp>
          <p:nvSpPr>
            <p:cNvPr id="18" name="Freeform 18"/>
            <p:cNvSpPr/>
            <p:nvPr/>
          </p:nvSpPr>
          <p:spPr>
            <a:xfrm>
              <a:off x="0" y="0"/>
              <a:ext cx="1722101" cy="1589615"/>
            </a:xfrm>
            <a:custGeom>
              <a:avLst/>
              <a:gdLst/>
              <a:ahLst/>
              <a:cxnLst/>
              <a:rect l="l" t="t" r="r" b="b"/>
              <a:pathLst>
                <a:path w="1722101" h="1589615">
                  <a:moveTo>
                    <a:pt x="0" y="0"/>
                  </a:moveTo>
                  <a:lnTo>
                    <a:pt x="1722101" y="0"/>
                  </a:lnTo>
                  <a:lnTo>
                    <a:pt x="1722101"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9" name="TextBox 19"/>
          <p:cNvSpPr txBox="1"/>
          <p:nvPr/>
        </p:nvSpPr>
        <p:spPr>
          <a:xfrm>
            <a:off x="13869272" y="4739179"/>
            <a:ext cx="3423698" cy="1320106"/>
          </a:xfrm>
          <a:prstGeom prst="rect">
            <a:avLst/>
          </a:prstGeom>
        </p:spPr>
        <p:txBody>
          <a:bodyPr lIns="0" tIns="0" rIns="0" bIns="0" rtlCol="0" anchor="t">
            <a:spAutoFit/>
          </a:bodyPr>
          <a:lstStyle/>
          <a:p>
            <a:pPr algn="ctr">
              <a:lnSpc>
                <a:spcPts val="5271"/>
              </a:lnSpc>
            </a:pPr>
            <a:r>
              <a:rPr lang="en-US" sz="4054" b="1">
                <a:solidFill>
                  <a:srgbClr val="003EA8"/>
                </a:solidFill>
                <a:latin typeface="Muli Ultra-Bold"/>
                <a:ea typeface="Muli Ultra-Bold"/>
                <a:cs typeface="Muli Ultra-Bold"/>
                <a:sym typeface="Muli Ultra-Bold"/>
              </a:rPr>
              <a:t>Nộp Báo cáo &amp; Đồ án</a:t>
            </a:r>
          </a:p>
        </p:txBody>
      </p:sp>
      <p:sp>
        <p:nvSpPr>
          <p:cNvPr id="20" name="TextBox 20"/>
          <p:cNvSpPr txBox="1"/>
          <p:nvPr/>
        </p:nvSpPr>
        <p:spPr>
          <a:xfrm>
            <a:off x="14011526" y="6322054"/>
            <a:ext cx="3115839" cy="1047838"/>
          </a:xfrm>
          <a:prstGeom prst="rect">
            <a:avLst/>
          </a:prstGeom>
        </p:spPr>
        <p:txBody>
          <a:bodyPr lIns="0" tIns="0" rIns="0" bIns="0" rtlCol="0" anchor="t">
            <a:spAutoFit/>
          </a:bodyPr>
          <a:lstStyle/>
          <a:p>
            <a:pPr algn="ctr">
              <a:lnSpc>
                <a:spcPts val="4332"/>
              </a:lnSpc>
            </a:pPr>
            <a:r>
              <a:rPr lang="en-US" sz="2548">
                <a:solidFill>
                  <a:srgbClr val="000000"/>
                </a:solidFill>
                <a:latin typeface="Cabin"/>
                <a:ea typeface="Cabin"/>
                <a:cs typeface="Cabin"/>
                <a:sym typeface="Cabin"/>
              </a:rPr>
              <a:t>Gửi báo cáo và </a:t>
            </a:r>
          </a:p>
          <a:p>
            <a:pPr algn="ctr">
              <a:lnSpc>
                <a:spcPts val="4332"/>
              </a:lnSpc>
            </a:pPr>
            <a:r>
              <a:rPr lang="en-US" sz="2548">
                <a:solidFill>
                  <a:srgbClr val="000000"/>
                </a:solidFill>
                <a:latin typeface="Cabin"/>
                <a:ea typeface="Cabin"/>
                <a:cs typeface="Cabin"/>
                <a:sym typeface="Cabin"/>
              </a:rPr>
              <a:t>sản phẩm cuối</a:t>
            </a:r>
          </a:p>
        </p:txBody>
      </p:sp>
      <p:grpSp>
        <p:nvGrpSpPr>
          <p:cNvPr id="21" name="Group 21"/>
          <p:cNvGrpSpPr/>
          <p:nvPr/>
        </p:nvGrpSpPr>
        <p:grpSpPr>
          <a:xfrm>
            <a:off x="5049835" y="4430123"/>
            <a:ext cx="3992860" cy="3555951"/>
            <a:chOff x="0" y="0"/>
            <a:chExt cx="1784926" cy="1589615"/>
          </a:xfrm>
          <a:scene3d>
            <a:camera prst="orthographicFront">
              <a:rot lat="0" lon="0" rev="0"/>
            </a:camera>
            <a:lightRig rig="glow" dir="t">
              <a:rot lat="0" lon="0" rev="4800000"/>
            </a:lightRig>
          </a:scene3d>
        </p:grpSpPr>
        <p:sp>
          <p:nvSpPr>
            <p:cNvPr id="22" name="Freeform 22"/>
            <p:cNvSpPr/>
            <p:nvPr/>
          </p:nvSpPr>
          <p:spPr>
            <a:xfrm>
              <a:off x="0" y="0"/>
              <a:ext cx="1784926" cy="1589615"/>
            </a:xfrm>
            <a:custGeom>
              <a:avLst/>
              <a:gdLst/>
              <a:ahLst/>
              <a:cxnLst/>
              <a:rect l="l" t="t" r="r" b="b"/>
              <a:pathLst>
                <a:path w="1784926" h="1589615">
                  <a:moveTo>
                    <a:pt x="0" y="0"/>
                  </a:moveTo>
                  <a:lnTo>
                    <a:pt x="1784926" y="0"/>
                  </a:lnTo>
                  <a:lnTo>
                    <a:pt x="1784926"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3" name="TextBox 23"/>
          <p:cNvSpPr txBox="1"/>
          <p:nvPr/>
        </p:nvSpPr>
        <p:spPr>
          <a:xfrm>
            <a:off x="5197640" y="4739179"/>
            <a:ext cx="3637355" cy="648668"/>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Quản lý Đề tài</a:t>
            </a:r>
          </a:p>
        </p:txBody>
      </p:sp>
      <p:sp>
        <p:nvSpPr>
          <p:cNvPr id="24" name="TextBox 24"/>
          <p:cNvSpPr txBox="1"/>
          <p:nvPr/>
        </p:nvSpPr>
        <p:spPr>
          <a:xfrm>
            <a:off x="5188810" y="5862288"/>
            <a:ext cx="3704846" cy="502672"/>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Tìm kiếm và theo dõi đề tài</a:t>
            </a:r>
          </a:p>
        </p:txBody>
      </p:sp>
      <p:grpSp>
        <p:nvGrpSpPr>
          <p:cNvPr id="25" name="Group 25"/>
          <p:cNvGrpSpPr/>
          <p:nvPr/>
        </p:nvGrpSpPr>
        <p:grpSpPr>
          <a:xfrm>
            <a:off x="9385596" y="4430123"/>
            <a:ext cx="3969326" cy="3555951"/>
            <a:chOff x="0" y="0"/>
            <a:chExt cx="1774406" cy="1589615"/>
          </a:xfrm>
          <a:scene3d>
            <a:camera prst="orthographicFront">
              <a:rot lat="0" lon="0" rev="0"/>
            </a:camera>
            <a:lightRig rig="glow" dir="t">
              <a:rot lat="0" lon="0" rev="4800000"/>
            </a:lightRig>
          </a:scene3d>
        </p:grpSpPr>
        <p:sp>
          <p:nvSpPr>
            <p:cNvPr id="26" name="Freeform 26"/>
            <p:cNvSpPr/>
            <p:nvPr/>
          </p:nvSpPr>
          <p:spPr>
            <a:xfrm>
              <a:off x="0" y="0"/>
              <a:ext cx="1774405" cy="1589615"/>
            </a:xfrm>
            <a:custGeom>
              <a:avLst/>
              <a:gdLst/>
              <a:ahLst/>
              <a:cxnLst/>
              <a:rect l="l" t="t" r="r" b="b"/>
              <a:pathLst>
                <a:path w="1774405" h="1589615">
                  <a:moveTo>
                    <a:pt x="0" y="0"/>
                  </a:moveTo>
                  <a:lnTo>
                    <a:pt x="1774405" y="0"/>
                  </a:lnTo>
                  <a:lnTo>
                    <a:pt x="1774405" y="1589615"/>
                  </a:lnTo>
                  <a:lnTo>
                    <a:pt x="0" y="1589615"/>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27" name="TextBox 27"/>
          <p:cNvSpPr txBox="1"/>
          <p:nvPr/>
        </p:nvSpPr>
        <p:spPr>
          <a:xfrm>
            <a:off x="9528471" y="4739179"/>
            <a:ext cx="3826451" cy="648668"/>
          </a:xfrm>
          <a:prstGeom prst="rect">
            <a:avLst/>
          </a:prstGeom>
        </p:spPr>
        <p:txBody>
          <a:bodyPr lIns="0" tIns="0" rIns="0" bIns="0" rtlCol="0" anchor="t">
            <a:spAutoFit/>
          </a:bodyPr>
          <a:lstStyle/>
          <a:p>
            <a:pPr algn="l">
              <a:lnSpc>
                <a:spcPts val="5271"/>
              </a:lnSpc>
            </a:pPr>
            <a:r>
              <a:rPr lang="en-US" sz="4054" b="1">
                <a:solidFill>
                  <a:srgbClr val="003EA8"/>
                </a:solidFill>
                <a:latin typeface="Muli Ultra-Bold"/>
                <a:ea typeface="Muli Ultra-Bold"/>
                <a:cs typeface="Muli Ultra-Bold"/>
                <a:sym typeface="Muli Ultra-Bold"/>
              </a:rPr>
              <a:t>Quản lý Nhóm</a:t>
            </a:r>
          </a:p>
        </p:txBody>
      </p:sp>
      <p:sp>
        <p:nvSpPr>
          <p:cNvPr id="28" name="TextBox 28"/>
          <p:cNvSpPr txBox="1"/>
          <p:nvPr/>
        </p:nvSpPr>
        <p:spPr>
          <a:xfrm>
            <a:off x="9566571" y="5862288"/>
            <a:ext cx="3678774" cy="502672"/>
          </a:xfrm>
          <a:prstGeom prst="rect">
            <a:avLst/>
          </a:prstGeom>
        </p:spPr>
        <p:txBody>
          <a:bodyPr lIns="0" tIns="0" rIns="0" bIns="0" rtlCol="0" anchor="t">
            <a:spAutoFit/>
          </a:bodyPr>
          <a:lstStyle/>
          <a:p>
            <a:pPr algn="l">
              <a:lnSpc>
                <a:spcPts val="4332"/>
              </a:lnSpc>
            </a:pPr>
            <a:r>
              <a:rPr lang="en-US" sz="2548">
                <a:solidFill>
                  <a:srgbClr val="000000"/>
                </a:solidFill>
                <a:latin typeface="Cabin"/>
                <a:ea typeface="Cabin"/>
                <a:cs typeface="Cabin"/>
                <a:sym typeface="Cabin"/>
              </a:rPr>
              <a:t>Tạo và quản lý thành viên</a:t>
            </a:r>
          </a:p>
        </p:txBody>
      </p:sp>
      <p:sp>
        <p:nvSpPr>
          <p:cNvPr id="29" name="TextBox 29"/>
          <p:cNvSpPr txBox="1"/>
          <p:nvPr/>
        </p:nvSpPr>
        <p:spPr>
          <a:xfrm>
            <a:off x="1087033" y="3591962"/>
            <a:ext cx="7747962" cy="438785"/>
          </a:xfrm>
          <a:prstGeom prst="rect">
            <a:avLst/>
          </a:prstGeom>
        </p:spPr>
        <p:txBody>
          <a:bodyPr lIns="0" tIns="0" rIns="0" bIns="0" rtlCol="0" anchor="t">
            <a:spAutoFit/>
          </a:bodyPr>
          <a:lstStyle/>
          <a:p>
            <a:pPr algn="l">
              <a:lnSpc>
                <a:spcPts val="3640"/>
              </a:lnSpc>
            </a:pPr>
            <a:r>
              <a:rPr lang="en-US" sz="2600" b="1">
                <a:solidFill>
                  <a:srgbClr val="003EA8"/>
                </a:solidFill>
                <a:latin typeface="Muli Bold"/>
                <a:ea typeface="Muli Bold"/>
                <a:cs typeface="Muli Bold"/>
                <a:sym typeface="Muli Bold"/>
              </a:rPr>
              <a:t>Các Màn Hình Chính</a:t>
            </a:r>
          </a:p>
        </p:txBody>
      </p:sp>
      <p:sp>
        <p:nvSpPr>
          <p:cNvPr id="30" name="TextBox 30"/>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sp>
        <p:nvSpPr>
          <p:cNvPr id="3" name="Freeform 3"/>
          <p:cNvSpPr/>
          <p:nvPr/>
        </p:nvSpPr>
        <p:spPr>
          <a:xfrm>
            <a:off x="14826857" y="8505307"/>
            <a:ext cx="3927179" cy="1392364"/>
          </a:xfrm>
          <a:custGeom>
            <a:avLst/>
            <a:gdLst/>
            <a:ahLst/>
            <a:cxnLst/>
            <a:rect l="l" t="t" r="r" b="b"/>
            <a:pathLst>
              <a:path w="3927179" h="1392364">
                <a:moveTo>
                  <a:pt x="0" y="0"/>
                </a:moveTo>
                <a:lnTo>
                  <a:pt x="3927179" y="0"/>
                </a:lnTo>
                <a:lnTo>
                  <a:pt x="3927179" y="1392363"/>
                </a:lnTo>
                <a:lnTo>
                  <a:pt x="0" y="139236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9511338" y="3987829"/>
            <a:ext cx="7819369" cy="4946960"/>
            <a:chOff x="0" y="0"/>
            <a:chExt cx="2852527" cy="1804664"/>
          </a:xfrm>
          <a:scene3d>
            <a:camera prst="orthographicFront">
              <a:rot lat="0" lon="0" rev="0"/>
            </a:camera>
            <a:lightRig rig="glow" dir="t">
              <a:rot lat="0" lon="0" rev="4800000"/>
            </a:lightRig>
          </a:scene3d>
        </p:grpSpPr>
        <p:sp>
          <p:nvSpPr>
            <p:cNvPr id="5" name="Freeform 5"/>
            <p:cNvSpPr/>
            <p:nvPr/>
          </p:nvSpPr>
          <p:spPr>
            <a:xfrm>
              <a:off x="0" y="0"/>
              <a:ext cx="2852527" cy="1804664"/>
            </a:xfrm>
            <a:custGeom>
              <a:avLst/>
              <a:gdLst/>
              <a:ahLst/>
              <a:cxnLst/>
              <a:rect l="l" t="t" r="r" b="b"/>
              <a:pathLst>
                <a:path w="2852527" h="1804664">
                  <a:moveTo>
                    <a:pt x="0" y="0"/>
                  </a:moveTo>
                  <a:lnTo>
                    <a:pt x="2852527" y="0"/>
                  </a:lnTo>
                  <a:lnTo>
                    <a:pt x="2852527" y="1804664"/>
                  </a:lnTo>
                  <a:lnTo>
                    <a:pt x="0" y="18046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6" name="Freeform 6"/>
          <p:cNvSpPr/>
          <p:nvPr/>
        </p:nvSpPr>
        <p:spPr>
          <a:xfrm>
            <a:off x="-714499" y="0"/>
            <a:ext cx="3927179" cy="1392364"/>
          </a:xfrm>
          <a:custGeom>
            <a:avLst/>
            <a:gdLst/>
            <a:ahLst/>
            <a:cxnLst/>
            <a:rect l="l" t="t" r="r" b="b"/>
            <a:pathLst>
              <a:path w="3927179" h="1392364">
                <a:moveTo>
                  <a:pt x="0" y="0"/>
                </a:moveTo>
                <a:lnTo>
                  <a:pt x="3927179" y="0"/>
                </a:lnTo>
                <a:lnTo>
                  <a:pt x="3927179" y="1392364"/>
                </a:lnTo>
                <a:lnTo>
                  <a:pt x="0" y="139236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905495" y="474214"/>
            <a:ext cx="16425212" cy="3175673"/>
            <a:chOff x="0" y="0"/>
            <a:chExt cx="5991962" cy="1158494"/>
          </a:xfrm>
          <a:scene3d>
            <a:camera prst="orthographicFront">
              <a:rot lat="0" lon="0" rev="0"/>
            </a:camera>
            <a:lightRig rig="glow" dir="t">
              <a:rot lat="0" lon="0" rev="4800000"/>
            </a:lightRig>
          </a:scene3d>
        </p:grpSpPr>
        <p:sp>
          <p:nvSpPr>
            <p:cNvPr id="8" name="Freeform 8"/>
            <p:cNvSpPr/>
            <p:nvPr/>
          </p:nvSpPr>
          <p:spPr>
            <a:xfrm>
              <a:off x="0" y="0"/>
              <a:ext cx="5991962" cy="1158494"/>
            </a:xfrm>
            <a:custGeom>
              <a:avLst/>
              <a:gdLst/>
              <a:ahLst/>
              <a:cxnLst/>
              <a:rect l="l" t="t" r="r" b="b"/>
              <a:pathLst>
                <a:path w="5991962" h="1158494">
                  <a:moveTo>
                    <a:pt x="0" y="0"/>
                  </a:moveTo>
                  <a:lnTo>
                    <a:pt x="5991962" y="0"/>
                  </a:lnTo>
                  <a:lnTo>
                    <a:pt x="5991962" y="1158494"/>
                  </a:lnTo>
                  <a:lnTo>
                    <a:pt x="0" y="115849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9" name="TextBox 9"/>
          <p:cNvSpPr txBox="1"/>
          <p:nvPr/>
        </p:nvSpPr>
        <p:spPr>
          <a:xfrm>
            <a:off x="-285794" y="769428"/>
            <a:ext cx="18838047" cy="2295525"/>
          </a:xfrm>
          <a:prstGeom prst="rect">
            <a:avLst/>
          </a:prstGeom>
        </p:spPr>
        <p:txBody>
          <a:bodyPr lIns="0" tIns="0" rIns="0" bIns="0" rtlCol="0" anchor="t">
            <a:spAutoFit/>
          </a:bodyPr>
          <a:lstStyle/>
          <a:p>
            <a:pPr algn="ctr">
              <a:lnSpc>
                <a:spcPts val="9000"/>
              </a:lnSpc>
            </a:pPr>
            <a:r>
              <a:rPr lang="en-US" sz="7500" b="1">
                <a:solidFill>
                  <a:srgbClr val="003EA8"/>
                </a:solidFill>
                <a:latin typeface="Muli Bold"/>
                <a:ea typeface="Muli Bold"/>
                <a:cs typeface="Muli Bold"/>
                <a:sym typeface="Muli Bold"/>
              </a:rPr>
              <a:t>Swagger &amp; Docker</a:t>
            </a:r>
          </a:p>
          <a:p>
            <a:pPr algn="ctr">
              <a:lnSpc>
                <a:spcPts val="9000"/>
              </a:lnSpc>
            </a:pPr>
            <a:r>
              <a:rPr lang="en-US" sz="7500" b="1">
                <a:solidFill>
                  <a:srgbClr val="003EA8"/>
                </a:solidFill>
                <a:latin typeface="Muli Bold"/>
                <a:ea typeface="Muli Bold"/>
                <a:cs typeface="Muli Bold"/>
                <a:sym typeface="Muli Bold"/>
              </a:rPr>
              <a:t>Tài Liệu Hóa API và Container Hóa</a:t>
            </a:r>
          </a:p>
        </p:txBody>
      </p:sp>
      <p:sp>
        <p:nvSpPr>
          <p:cNvPr id="10" name="TextBox 10"/>
          <p:cNvSpPr txBox="1"/>
          <p:nvPr/>
        </p:nvSpPr>
        <p:spPr>
          <a:xfrm>
            <a:off x="9511338" y="4345229"/>
            <a:ext cx="7747962" cy="596900"/>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Docker</a:t>
            </a:r>
          </a:p>
        </p:txBody>
      </p:sp>
      <p:sp>
        <p:nvSpPr>
          <p:cNvPr id="11" name="TextBox 11"/>
          <p:cNvSpPr txBox="1"/>
          <p:nvPr/>
        </p:nvSpPr>
        <p:spPr>
          <a:xfrm>
            <a:off x="10152165" y="4943542"/>
            <a:ext cx="6779763" cy="3253105"/>
          </a:xfrm>
          <a:prstGeom prst="rect">
            <a:avLst/>
          </a:prstGeom>
        </p:spPr>
        <p:txBody>
          <a:bodyPr lIns="0" tIns="0" rIns="0" bIns="0" rtlCol="0" anchor="t">
            <a:spAutoFit/>
          </a:bodyPr>
          <a:lstStyle/>
          <a:p>
            <a:pPr algn="l">
              <a:lnSpc>
                <a:spcPts val="4399"/>
              </a:lnSpc>
            </a:pPr>
            <a:r>
              <a:rPr lang="en-US" sz="2199">
                <a:solidFill>
                  <a:srgbClr val="000000"/>
                </a:solidFill>
                <a:latin typeface="Cabin"/>
                <a:ea typeface="Cabin"/>
                <a:cs typeface="Cabin"/>
                <a:sym typeface="Cabin"/>
              </a:rPr>
              <a:t>Docker đóng gói ứng dụng vào container để chạy nhất quán trên mọi môi trường.</a:t>
            </a:r>
          </a:p>
          <a:p>
            <a:pPr algn="l">
              <a:lnSpc>
                <a:spcPts val="4399"/>
              </a:lnSpc>
            </a:pPr>
            <a:endParaRPr lang="en-US" sz="2199">
              <a:solidFill>
                <a:srgbClr val="000000"/>
              </a:solidFill>
              <a:latin typeface="Cabin"/>
              <a:ea typeface="Cabin"/>
              <a:cs typeface="Cabin"/>
              <a:sym typeface="Cabin"/>
            </a:endParaRPr>
          </a:p>
          <a:p>
            <a:pPr algn="l">
              <a:lnSpc>
                <a:spcPts val="4399"/>
              </a:lnSpc>
            </a:pPr>
            <a:r>
              <a:rPr lang="en-US" sz="2199">
                <a:solidFill>
                  <a:srgbClr val="000000"/>
                </a:solidFill>
                <a:latin typeface="Cabin"/>
                <a:ea typeface="Cabin"/>
                <a:cs typeface="Cabin"/>
                <a:sym typeface="Cabin"/>
              </a:rPr>
              <a:t>- Gói ứng dụng và dependency</a:t>
            </a:r>
          </a:p>
          <a:p>
            <a:pPr algn="l">
              <a:lnSpc>
                <a:spcPts val="4399"/>
              </a:lnSpc>
            </a:pPr>
            <a:r>
              <a:rPr lang="en-US" sz="2199">
                <a:solidFill>
                  <a:srgbClr val="000000"/>
                </a:solidFill>
                <a:latin typeface="Cabin"/>
                <a:ea typeface="Cabin"/>
                <a:cs typeface="Cabin"/>
                <a:sym typeface="Cabin"/>
              </a:rPr>
              <a:t>- Đảm bảo môi trường đồng nhất</a:t>
            </a:r>
          </a:p>
          <a:p>
            <a:pPr algn="l">
              <a:lnSpc>
                <a:spcPts val="4399"/>
              </a:lnSpc>
            </a:pPr>
            <a:r>
              <a:rPr lang="en-US" sz="2199">
                <a:solidFill>
                  <a:srgbClr val="000000"/>
                </a:solidFill>
                <a:latin typeface="Cabin"/>
                <a:ea typeface="Cabin"/>
                <a:cs typeface="Cabin"/>
                <a:sym typeface="Cabin"/>
              </a:rPr>
              <a:t>- Triển khai nhanh, dễ mở rộng</a:t>
            </a:r>
          </a:p>
        </p:txBody>
      </p:sp>
      <p:grpSp>
        <p:nvGrpSpPr>
          <p:cNvPr id="12" name="Group 12"/>
          <p:cNvGrpSpPr/>
          <p:nvPr/>
        </p:nvGrpSpPr>
        <p:grpSpPr>
          <a:xfrm>
            <a:off x="931394" y="3924300"/>
            <a:ext cx="7758762" cy="4946960"/>
            <a:chOff x="0" y="0"/>
            <a:chExt cx="2830418" cy="1804664"/>
          </a:xfrm>
          <a:scene3d>
            <a:camera prst="orthographicFront">
              <a:rot lat="0" lon="0" rev="0"/>
            </a:camera>
            <a:lightRig rig="glow" dir="t">
              <a:rot lat="0" lon="0" rev="4800000"/>
            </a:lightRig>
          </a:scene3d>
        </p:grpSpPr>
        <p:sp>
          <p:nvSpPr>
            <p:cNvPr id="13" name="Freeform 13"/>
            <p:cNvSpPr/>
            <p:nvPr/>
          </p:nvSpPr>
          <p:spPr>
            <a:xfrm>
              <a:off x="0" y="0"/>
              <a:ext cx="2830418" cy="1804664"/>
            </a:xfrm>
            <a:custGeom>
              <a:avLst/>
              <a:gdLst/>
              <a:ahLst/>
              <a:cxnLst/>
              <a:rect l="l" t="t" r="r" b="b"/>
              <a:pathLst>
                <a:path w="2830418" h="1804664">
                  <a:moveTo>
                    <a:pt x="0" y="0"/>
                  </a:moveTo>
                  <a:lnTo>
                    <a:pt x="2830418" y="0"/>
                  </a:lnTo>
                  <a:lnTo>
                    <a:pt x="2830418" y="1804664"/>
                  </a:lnTo>
                  <a:lnTo>
                    <a:pt x="0" y="180466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14" name="TextBox 14"/>
          <p:cNvSpPr txBox="1"/>
          <p:nvPr/>
        </p:nvSpPr>
        <p:spPr>
          <a:xfrm>
            <a:off x="1249090" y="4345229"/>
            <a:ext cx="6971849" cy="596900"/>
          </a:xfrm>
          <a:prstGeom prst="rect">
            <a:avLst/>
          </a:prstGeom>
        </p:spPr>
        <p:txBody>
          <a:bodyPr lIns="0" tIns="0" rIns="0" bIns="0" rtlCol="0" anchor="t">
            <a:spAutoFit/>
          </a:bodyPr>
          <a:lstStyle/>
          <a:p>
            <a:pPr algn="ctr">
              <a:lnSpc>
                <a:spcPts val="4900"/>
              </a:lnSpc>
            </a:pPr>
            <a:r>
              <a:rPr lang="en-US" sz="3500" b="1">
                <a:solidFill>
                  <a:srgbClr val="003EA8"/>
                </a:solidFill>
                <a:latin typeface="Muli Bold"/>
                <a:ea typeface="Muli Bold"/>
                <a:cs typeface="Muli Bold"/>
                <a:sym typeface="Muli Bold"/>
              </a:rPr>
              <a:t>Swagger (OpenAPI)</a:t>
            </a:r>
          </a:p>
        </p:txBody>
      </p:sp>
      <p:sp>
        <p:nvSpPr>
          <p:cNvPr id="15" name="TextBox 15"/>
          <p:cNvSpPr txBox="1"/>
          <p:nvPr/>
        </p:nvSpPr>
        <p:spPr>
          <a:xfrm>
            <a:off x="1608225" y="4943542"/>
            <a:ext cx="6405101" cy="3253105"/>
          </a:xfrm>
          <a:prstGeom prst="rect">
            <a:avLst/>
          </a:prstGeom>
        </p:spPr>
        <p:txBody>
          <a:bodyPr lIns="0" tIns="0" rIns="0" bIns="0" rtlCol="0" anchor="t">
            <a:spAutoFit/>
          </a:bodyPr>
          <a:lstStyle/>
          <a:p>
            <a:pPr algn="l">
              <a:lnSpc>
                <a:spcPts val="4399"/>
              </a:lnSpc>
            </a:pPr>
            <a:r>
              <a:rPr lang="en-US" sz="2199" dirty="0">
                <a:solidFill>
                  <a:srgbClr val="000000"/>
                </a:solidFill>
                <a:latin typeface="Cabin"/>
                <a:ea typeface="Cabin"/>
                <a:cs typeface="Cabin"/>
                <a:sym typeface="Cabin"/>
              </a:rPr>
              <a:t>Swagger/</a:t>
            </a:r>
            <a:r>
              <a:rPr lang="en-US" sz="2199" dirty="0" err="1">
                <a:solidFill>
                  <a:srgbClr val="000000"/>
                </a:solidFill>
                <a:latin typeface="Cabin"/>
                <a:ea typeface="Cabin"/>
                <a:cs typeface="Cabin"/>
                <a:sym typeface="Cabin"/>
              </a:rPr>
              <a:t>OpenAPI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giúp</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mô</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tả</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kiểm</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thử</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và</a:t>
            </a:r>
            <a:r>
              <a:rPr lang="en-US" sz="2199" dirty="0">
                <a:solidFill>
                  <a:srgbClr val="000000"/>
                </a:solidFill>
                <a:latin typeface="Cabin"/>
                <a:ea typeface="Cabin"/>
                <a:cs typeface="Cabin"/>
                <a:sym typeface="Cabin"/>
              </a:rPr>
              <a:t> chia </a:t>
            </a:r>
            <a:r>
              <a:rPr lang="en-US" sz="2199" dirty="0" err="1">
                <a:solidFill>
                  <a:srgbClr val="000000"/>
                </a:solidFill>
                <a:latin typeface="Cabin"/>
                <a:ea typeface="Cabin"/>
                <a:cs typeface="Cabin"/>
                <a:sym typeface="Cabin"/>
              </a:rPr>
              <a:t>sẻ</a:t>
            </a:r>
            <a:r>
              <a:rPr lang="en-US" sz="2199" dirty="0">
                <a:solidFill>
                  <a:srgbClr val="000000"/>
                </a:solidFill>
                <a:latin typeface="Cabin"/>
                <a:ea typeface="Cabin"/>
                <a:cs typeface="Cabin"/>
                <a:sym typeface="Cabin"/>
              </a:rPr>
              <a:t> API </a:t>
            </a:r>
            <a:r>
              <a:rPr lang="en-US" sz="2199" dirty="0" err="1">
                <a:solidFill>
                  <a:srgbClr val="000000"/>
                </a:solidFill>
                <a:latin typeface="Cabin"/>
                <a:ea typeface="Cabin"/>
                <a:cs typeface="Cabin"/>
                <a:sym typeface="Cabin"/>
              </a:rPr>
              <a:t>rõ</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ràng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thống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nhất</a:t>
            </a:r>
            <a:r>
              <a:rPr lang="en-US" sz="2199" dirty="0">
                <a:solidFill>
                  <a:srgbClr val="000000"/>
                </a:solidFill>
                <a:latin typeface="Cabin"/>
                <a:ea typeface="Cabin"/>
                <a:cs typeface="Cabin"/>
                <a:sym typeface="Cabin"/>
              </a:rPr>
              <a:t>.</a:t>
            </a:r>
          </a:p>
          <a:p>
            <a:pPr algn="l">
              <a:lnSpc>
                <a:spcPts val="4399"/>
              </a:lnSpc>
            </a:pPr>
            <a:endParaRPr lang="en-US" sz="2199" dirty="0">
              <a:solidFill>
                <a:srgbClr val="000000"/>
              </a:solidFill>
              <a:latin typeface="Cabin"/>
              <a:ea typeface="Cabin"/>
              <a:cs typeface="Cabin"/>
              <a:sym typeface="Cabin"/>
            </a:endParaRPr>
          </a:p>
          <a:p>
            <a:pPr algn="l">
              <a:lnSpc>
                <a:spcPts val="4399"/>
              </a:lnSpc>
            </a:pPr>
            <a:r>
              <a:rPr lang="en-US" sz="2199" dirty="0">
                <a:solidFill>
                  <a:srgbClr val="000000"/>
                </a:solidFill>
                <a:latin typeface="Cabin"/>
                <a:ea typeface="Cabin"/>
                <a:cs typeface="Cabin"/>
                <a:sym typeface="Cabin"/>
              </a:rPr>
              <a:t>- Tài </a:t>
            </a:r>
            <a:r>
              <a:rPr lang="en-US" sz="2199" dirty="0" err="1">
                <a:solidFill>
                  <a:srgbClr val="000000"/>
                </a:solidFill>
                <a:latin typeface="Cabin"/>
                <a:ea typeface="Cabin"/>
                <a:cs typeface="Cabin"/>
                <a:sym typeface="Cabin"/>
              </a:rPr>
              <a:t>liệu</a:t>
            </a:r>
            <a:r>
              <a:rPr lang="en-US" sz="2199" dirty="0">
                <a:solidFill>
                  <a:srgbClr val="000000"/>
                </a:solidFill>
                <a:latin typeface="Cabin"/>
                <a:ea typeface="Cabin"/>
                <a:cs typeface="Cabin"/>
                <a:sym typeface="Cabin"/>
              </a:rPr>
              <a:t> API </a:t>
            </a:r>
            <a:r>
              <a:rPr lang="en-US" sz="2199" dirty="0" err="1">
                <a:solidFill>
                  <a:srgbClr val="000000"/>
                </a:solidFill>
                <a:latin typeface="Cabin"/>
                <a:ea typeface="Cabin"/>
                <a:cs typeface="Cabin"/>
                <a:sym typeface="Cabin"/>
              </a:rPr>
              <a:t>tương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tác</a:t>
            </a:r>
            <a:endParaRPr lang="en-US" sz="2199" dirty="0">
              <a:solidFill>
                <a:srgbClr val="000000"/>
              </a:solidFill>
              <a:latin typeface="Cabin"/>
              <a:ea typeface="Cabin"/>
              <a:cs typeface="Cabin"/>
              <a:sym typeface="Cabin"/>
            </a:endParaRPr>
          </a:p>
          <a:p>
            <a:pPr algn="l">
              <a:lnSpc>
                <a:spcPts val="4399"/>
              </a:lnSpc>
            </a:pP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Thử</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nghiệm</a:t>
            </a:r>
            <a:r>
              <a:rPr lang="en-US" sz="2199" dirty="0">
                <a:solidFill>
                  <a:srgbClr val="000000"/>
                </a:solidFill>
                <a:latin typeface="Cabin"/>
                <a:ea typeface="Cabin"/>
                <a:cs typeface="Cabin"/>
                <a:sym typeface="Cabin"/>
              </a:rPr>
              <a:t> endpoint </a:t>
            </a:r>
            <a:r>
              <a:rPr lang="en-US" sz="2199" dirty="0" err="1">
                <a:solidFill>
                  <a:srgbClr val="000000"/>
                </a:solidFill>
                <a:latin typeface="Cabin"/>
                <a:ea typeface="Cabin"/>
                <a:cs typeface="Cabin"/>
                <a:sym typeface="Cabin"/>
              </a:rPr>
              <a:t>trực</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tiếp</a:t>
            </a:r>
            <a:endParaRPr lang="en-US" sz="2199" dirty="0">
              <a:solidFill>
                <a:srgbClr val="000000"/>
              </a:solidFill>
              <a:latin typeface="Cabin"/>
              <a:ea typeface="Cabin"/>
              <a:cs typeface="Cabin"/>
              <a:sym typeface="Cabin"/>
            </a:endParaRPr>
          </a:p>
          <a:p>
            <a:pPr algn="just">
              <a:lnSpc>
                <a:spcPts val="4399"/>
              </a:lnSpc>
            </a:pP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Hỗ</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trợ</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phối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hợp</a:t>
            </a:r>
            <a:r>
              <a:rPr lang="en-US" sz="2199" dirty="0">
                <a:solidFill>
                  <a:srgbClr val="000000"/>
                </a:solidFill>
                <a:latin typeface="Cabin"/>
                <a:ea typeface="Cabin"/>
                <a:cs typeface="Cabin"/>
                <a:sym typeface="Cabin"/>
              </a:rPr>
              <a:t> Frontend/Backend</a:t>
            </a:r>
          </a:p>
        </p:txBody>
      </p:sp>
      <p:sp>
        <p:nvSpPr>
          <p:cNvPr id="16" name="TextBox 16"/>
          <p:cNvSpPr txBox="1"/>
          <p:nvPr/>
        </p:nvSpPr>
        <p:spPr>
          <a:xfrm>
            <a:off x="1028700" y="9239053"/>
            <a:ext cx="16445245" cy="447762"/>
          </a:xfrm>
          <a:prstGeom prst="rect">
            <a:avLst/>
          </a:prstGeom>
        </p:spPr>
        <p:txBody>
          <a:bodyPr lIns="0" tIns="0" rIns="0" bIns="0" rtlCol="0" anchor="t">
            <a:spAutoFit/>
          </a:bodyPr>
          <a:lstStyle/>
          <a:p>
            <a:pPr algn="ctr">
              <a:lnSpc>
                <a:spcPts val="3822"/>
              </a:lnSpc>
            </a:pPr>
            <a:r>
              <a:rPr lang="en-US" sz="2248">
                <a:solidFill>
                  <a:srgbClr val="000000"/>
                </a:solidFill>
                <a:latin typeface="Cabin"/>
                <a:ea typeface="Cabin"/>
                <a:cs typeface="Cabin"/>
                <a:sym typeface="Cabin"/>
              </a:rPr>
              <a:t>Hai công nghệ này giúp phát triển, triển khai và quản lý ứng dụng hiệu quả hơn.</a:t>
            </a:r>
          </a:p>
        </p:txBody>
      </p:sp>
      <p:sp>
        <p:nvSpPr>
          <p:cNvPr id="17" name="TextBox 17"/>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sp>
        <p:nvSpPr>
          <p:cNvPr id="3" name="Freeform 3"/>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Freeform 5"/>
          <p:cNvSpPr/>
          <p:nvPr/>
        </p:nvSpPr>
        <p:spPr>
          <a:xfrm>
            <a:off x="14011526" y="8735435"/>
            <a:ext cx="441616" cy="633141"/>
          </a:xfrm>
          <a:custGeom>
            <a:avLst/>
            <a:gdLst/>
            <a:ahLst/>
            <a:cxnLst/>
            <a:rect l="l" t="t" r="r" b="b"/>
            <a:pathLst>
              <a:path w="441616" h="633141">
                <a:moveTo>
                  <a:pt x="0" y="0"/>
                </a:moveTo>
                <a:lnTo>
                  <a:pt x="441616" y="0"/>
                </a:lnTo>
                <a:lnTo>
                  <a:pt x="441616" y="633140"/>
                </a:lnTo>
                <a:lnTo>
                  <a:pt x="0" y="63314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1028700" y="4437424"/>
            <a:ext cx="7437977" cy="1589019"/>
            <a:chOff x="0" y="0"/>
            <a:chExt cx="2713394" cy="579678"/>
          </a:xfrm>
          <a:scene3d>
            <a:camera prst="orthographicFront">
              <a:rot lat="0" lon="0" rev="0"/>
            </a:camera>
            <a:lightRig rig="glow" dir="t">
              <a:rot lat="0" lon="0" rev="4800000"/>
            </a:lightRig>
          </a:scene3d>
        </p:grpSpPr>
        <p:sp>
          <p:nvSpPr>
            <p:cNvPr id="7" name="Freeform 7"/>
            <p:cNvSpPr/>
            <p:nvPr/>
          </p:nvSpPr>
          <p:spPr>
            <a:xfrm>
              <a:off x="0" y="0"/>
              <a:ext cx="2713394" cy="579678"/>
            </a:xfrm>
            <a:custGeom>
              <a:avLst/>
              <a:gdLst/>
              <a:ahLst/>
              <a:cxnLst/>
              <a:rect l="l" t="t" r="r" b="b"/>
              <a:pathLst>
                <a:path w="2713394" h="579678">
                  <a:moveTo>
                    <a:pt x="0" y="0"/>
                  </a:moveTo>
                  <a:lnTo>
                    <a:pt x="2713394" y="0"/>
                  </a:lnTo>
                  <a:lnTo>
                    <a:pt x="2713394"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8" name="Group 8"/>
          <p:cNvGrpSpPr/>
          <p:nvPr/>
        </p:nvGrpSpPr>
        <p:grpSpPr>
          <a:xfrm>
            <a:off x="1028700" y="6235603"/>
            <a:ext cx="7437977" cy="1520078"/>
            <a:chOff x="0" y="0"/>
            <a:chExt cx="2713394" cy="597584"/>
          </a:xfrm>
          <a:scene3d>
            <a:camera prst="orthographicFront">
              <a:rot lat="0" lon="0" rev="0"/>
            </a:camera>
            <a:lightRig rig="glow" dir="t">
              <a:rot lat="0" lon="0" rev="4800000"/>
            </a:lightRig>
          </a:scene3d>
        </p:grpSpPr>
        <p:sp>
          <p:nvSpPr>
            <p:cNvPr id="9" name="Freeform 9"/>
            <p:cNvSpPr/>
            <p:nvPr/>
          </p:nvSpPr>
          <p:spPr>
            <a:xfrm>
              <a:off x="0" y="0"/>
              <a:ext cx="2713394" cy="597583"/>
            </a:xfrm>
            <a:custGeom>
              <a:avLst/>
              <a:gdLst/>
              <a:ahLst/>
              <a:cxnLst/>
              <a:rect l="l" t="t" r="r" b="b"/>
              <a:pathLst>
                <a:path w="2713394" h="597583">
                  <a:moveTo>
                    <a:pt x="0" y="0"/>
                  </a:moveTo>
                  <a:lnTo>
                    <a:pt x="2713394" y="0"/>
                  </a:lnTo>
                  <a:lnTo>
                    <a:pt x="2713394" y="597583"/>
                  </a:lnTo>
                  <a:lnTo>
                    <a:pt x="0" y="59758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10" name="Group 10"/>
          <p:cNvGrpSpPr/>
          <p:nvPr/>
        </p:nvGrpSpPr>
        <p:grpSpPr>
          <a:xfrm>
            <a:off x="1028700" y="7974081"/>
            <a:ext cx="7437977" cy="1589019"/>
            <a:chOff x="0" y="0"/>
            <a:chExt cx="2713394" cy="579678"/>
          </a:xfrm>
          <a:scene3d>
            <a:camera prst="orthographicFront">
              <a:rot lat="0" lon="0" rev="0"/>
            </a:camera>
            <a:lightRig rig="glow" dir="t">
              <a:rot lat="0" lon="0" rev="4800000"/>
            </a:lightRig>
          </a:scene3d>
        </p:grpSpPr>
        <p:sp>
          <p:nvSpPr>
            <p:cNvPr id="11" name="Freeform 11"/>
            <p:cNvSpPr/>
            <p:nvPr/>
          </p:nvSpPr>
          <p:spPr>
            <a:xfrm>
              <a:off x="0" y="0"/>
              <a:ext cx="2713394" cy="579678"/>
            </a:xfrm>
            <a:custGeom>
              <a:avLst/>
              <a:gdLst/>
              <a:ahLst/>
              <a:cxnLst/>
              <a:rect l="l" t="t" r="r" b="b"/>
              <a:pathLst>
                <a:path w="2713394" h="579678">
                  <a:moveTo>
                    <a:pt x="0" y="0"/>
                  </a:moveTo>
                  <a:lnTo>
                    <a:pt x="2713394" y="0"/>
                  </a:lnTo>
                  <a:lnTo>
                    <a:pt x="2713394"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12" name="Group 12"/>
          <p:cNvGrpSpPr/>
          <p:nvPr/>
        </p:nvGrpSpPr>
        <p:grpSpPr>
          <a:xfrm>
            <a:off x="1404404" y="4686300"/>
            <a:ext cx="10152508" cy="981041"/>
            <a:chOff x="0" y="-134339"/>
            <a:chExt cx="13536677" cy="1308055"/>
          </a:xfrm>
        </p:grpSpPr>
        <p:sp>
          <p:nvSpPr>
            <p:cNvPr id="13" name="TextBox 13"/>
            <p:cNvSpPr txBox="1"/>
            <p:nvPr/>
          </p:nvSpPr>
          <p:spPr>
            <a:xfrm>
              <a:off x="0" y="-134339"/>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Hệ thống hoàn thiện</a:t>
              </a:r>
            </a:p>
          </p:txBody>
        </p:sp>
        <p:sp>
          <p:nvSpPr>
            <p:cNvPr id="14" name="TextBox 14"/>
            <p:cNvSpPr txBox="1"/>
            <p:nvPr/>
          </p:nvSpPr>
          <p:spPr>
            <a:xfrm>
              <a:off x="0" y="709319"/>
              <a:ext cx="13536677" cy="464397"/>
            </a:xfrm>
            <a:prstGeom prst="rect">
              <a:avLst/>
            </a:prstGeom>
          </p:spPr>
          <p:txBody>
            <a:bodyPr lIns="0" tIns="0" rIns="0" bIns="0" rtlCol="0" anchor="t">
              <a:spAutoFit/>
            </a:bodyPr>
            <a:lstStyle/>
            <a:p>
              <a:pPr algn="l">
                <a:lnSpc>
                  <a:spcPts val="2859"/>
                </a:lnSpc>
              </a:pPr>
              <a:r>
                <a:rPr lang="en-US" sz="2199" dirty="0" err="1">
                  <a:solidFill>
                    <a:srgbClr val="000000"/>
                  </a:solidFill>
                  <a:latin typeface="Cabin"/>
                  <a:ea typeface="Cabin"/>
                  <a:cs typeface="Cabin"/>
                  <a:sym typeface="Cabin"/>
                </a:rPr>
                <a:t>Nền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tảng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quản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lý</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đồ</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án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tập</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trung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cho</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sinh</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viên</a:t>
              </a:r>
              <a:r>
                <a:rPr lang="en-US" sz="2199" dirty="0">
                  <a:solidFill>
                    <a:srgbClr val="000000"/>
                  </a:solidFill>
                  <a:latin typeface="Cabin"/>
                  <a:ea typeface="Cabin"/>
                  <a:cs typeface="Cabin"/>
                  <a:sym typeface="Cabin"/>
                </a:rPr>
                <a:t> TVU.</a:t>
              </a:r>
            </a:p>
          </p:txBody>
        </p:sp>
      </p:grpSp>
      <p:grpSp>
        <p:nvGrpSpPr>
          <p:cNvPr id="15" name="Group 15"/>
          <p:cNvGrpSpPr/>
          <p:nvPr/>
        </p:nvGrpSpPr>
        <p:grpSpPr>
          <a:xfrm>
            <a:off x="1404404" y="6515100"/>
            <a:ext cx="10152508" cy="981042"/>
            <a:chOff x="0" y="-150467"/>
            <a:chExt cx="13536677" cy="1308055"/>
          </a:xfrm>
        </p:grpSpPr>
        <p:sp>
          <p:nvSpPr>
            <p:cNvPr id="16" name="TextBox 16"/>
            <p:cNvSpPr txBox="1"/>
            <p:nvPr/>
          </p:nvSpPr>
          <p:spPr>
            <a:xfrm>
              <a:off x="0" y="-150467"/>
              <a:ext cx="13536677" cy="731307"/>
            </a:xfrm>
            <a:prstGeom prst="rect">
              <a:avLst/>
            </a:prstGeom>
          </p:spPr>
          <p:txBody>
            <a:bodyPr lIns="0" tIns="0" rIns="0" bIns="0" rtlCol="0" anchor="t">
              <a:spAutoFit/>
            </a:bodyPr>
            <a:lstStyle/>
            <a:p>
              <a:pPr algn="l">
                <a:lnSpc>
                  <a:spcPts val="4550"/>
                </a:lnSpc>
              </a:pPr>
              <a:r>
                <a:rPr lang="en-US" sz="3500" b="1" dirty="0" err="1">
                  <a:solidFill>
                    <a:srgbClr val="003EA8"/>
                  </a:solidFill>
                  <a:latin typeface="Muli Ultra-Bold"/>
                  <a:ea typeface="Muli Ultra-Bold"/>
                  <a:cs typeface="Muli Ultra-Bold"/>
                  <a:sym typeface="Muli Ultra-Bold"/>
                </a:rPr>
                <a:t>Tối</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ưu</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quy</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trình</a:t>
              </a:r>
              <a:endParaRPr lang="en-US" sz="3500" b="1" dirty="0">
                <a:solidFill>
                  <a:srgbClr val="003EA8"/>
                </a:solidFill>
                <a:latin typeface="Muli Ultra-Bold"/>
                <a:ea typeface="Muli Ultra-Bold"/>
                <a:cs typeface="Muli Ultra-Bold"/>
                <a:sym typeface="Muli Ultra-Bold"/>
              </a:endParaRPr>
            </a:p>
          </p:txBody>
        </p:sp>
        <p:sp>
          <p:nvSpPr>
            <p:cNvPr id="17" name="TextBox 17"/>
            <p:cNvSpPr txBox="1"/>
            <p:nvPr/>
          </p:nvSpPr>
          <p:spPr>
            <a:xfrm>
              <a:off x="0" y="693191"/>
              <a:ext cx="6860136" cy="464397"/>
            </a:xfrm>
            <a:prstGeom prst="rect">
              <a:avLst/>
            </a:prstGeom>
          </p:spPr>
          <p:txBody>
            <a:bodyPr lIns="0" tIns="0" rIns="0" bIns="0" rtlCol="0" anchor="t">
              <a:spAutoFit/>
            </a:bodyPr>
            <a:lstStyle/>
            <a:p>
              <a:pPr algn="l">
                <a:lnSpc>
                  <a:spcPts val="2859"/>
                </a:lnSpc>
              </a:pPr>
              <a:r>
                <a:rPr lang="en-US" sz="2199" dirty="0">
                  <a:solidFill>
                    <a:srgbClr val="000000"/>
                  </a:solidFill>
                  <a:latin typeface="Cabin"/>
                  <a:ea typeface="Cabin"/>
                  <a:cs typeface="Cabin"/>
                  <a:sym typeface="Cabin"/>
                </a:rPr>
                <a:t>Rút </a:t>
              </a:r>
              <a:r>
                <a:rPr lang="en-US" sz="2199" dirty="0" err="1">
                  <a:solidFill>
                    <a:srgbClr val="000000"/>
                  </a:solidFill>
                  <a:latin typeface="Cabin"/>
                  <a:ea typeface="Cabin"/>
                  <a:cs typeface="Cabin"/>
                  <a:sym typeface="Cabin"/>
                </a:rPr>
                <a:t>ngắn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thời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gian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từ</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đăng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ký</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đến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nộp</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bài</a:t>
              </a:r>
              <a:r>
                <a:rPr lang="en-US" sz="2199" dirty="0">
                  <a:solidFill>
                    <a:srgbClr val="000000"/>
                  </a:solidFill>
                  <a:latin typeface="Cabin"/>
                  <a:ea typeface="Cabin"/>
                  <a:cs typeface="Cabin"/>
                  <a:sym typeface="Cabin"/>
                </a:rPr>
                <a:t>.</a:t>
              </a:r>
            </a:p>
          </p:txBody>
        </p:sp>
      </p:grpSp>
      <p:grpSp>
        <p:nvGrpSpPr>
          <p:cNvPr id="18" name="Group 18"/>
          <p:cNvGrpSpPr/>
          <p:nvPr/>
        </p:nvGrpSpPr>
        <p:grpSpPr>
          <a:xfrm>
            <a:off x="1404404" y="8267700"/>
            <a:ext cx="10152508" cy="981041"/>
            <a:chOff x="0" y="-289001"/>
            <a:chExt cx="13536677" cy="1308054"/>
          </a:xfrm>
        </p:grpSpPr>
        <p:sp>
          <p:nvSpPr>
            <p:cNvPr id="19" name="TextBox 19"/>
            <p:cNvSpPr txBox="1"/>
            <p:nvPr/>
          </p:nvSpPr>
          <p:spPr>
            <a:xfrm>
              <a:off x="0" y="-289001"/>
              <a:ext cx="13536677" cy="731308"/>
            </a:xfrm>
            <a:prstGeom prst="rect">
              <a:avLst/>
            </a:prstGeom>
          </p:spPr>
          <p:txBody>
            <a:bodyPr lIns="0" tIns="0" rIns="0" bIns="0" rtlCol="0" anchor="t">
              <a:spAutoFit/>
            </a:bodyPr>
            <a:lstStyle/>
            <a:p>
              <a:pPr algn="l">
                <a:lnSpc>
                  <a:spcPts val="4550"/>
                </a:lnSpc>
              </a:pPr>
              <a:r>
                <a:rPr lang="en-US" sz="3500" b="1" dirty="0" err="1">
                  <a:solidFill>
                    <a:srgbClr val="003EA8"/>
                  </a:solidFill>
                  <a:latin typeface="Muli Ultra-Bold"/>
                  <a:ea typeface="Muli Ultra-Bold"/>
                  <a:cs typeface="Muli Ultra-Bold"/>
                  <a:sym typeface="Muli Ultra-Bold"/>
                </a:rPr>
                <a:t>Kiến</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trúc</a:t>
              </a:r>
              <a:r>
                <a:rPr lang="en-US" sz="3500" b="1" dirty="0">
                  <a:solidFill>
                    <a:srgbClr val="003EA8"/>
                  </a:solidFill>
                  <a:latin typeface="Muli Ultra-Bold"/>
                  <a:ea typeface="Muli Ultra-Bold"/>
                  <a:cs typeface="Muli Ultra-Bold"/>
                  <a:sym typeface="Muli Ultra-Bold"/>
                </a:rPr>
                <a:t> an </a:t>
              </a:r>
              <a:r>
                <a:rPr lang="en-US" sz="3500" b="1" dirty="0" err="1">
                  <a:solidFill>
                    <a:srgbClr val="003EA8"/>
                  </a:solidFill>
                  <a:latin typeface="Muli Ultra-Bold"/>
                  <a:ea typeface="Muli Ultra-Bold"/>
                  <a:cs typeface="Muli Ultra-Bold"/>
                  <a:sym typeface="Muli Ultra-Bold"/>
                </a:rPr>
                <a:t>toàn</a:t>
              </a:r>
              <a:endParaRPr lang="en-US" sz="3500" b="1" dirty="0">
                <a:solidFill>
                  <a:srgbClr val="003EA8"/>
                </a:solidFill>
                <a:latin typeface="Muli Ultra-Bold"/>
                <a:ea typeface="Muli Ultra-Bold"/>
                <a:cs typeface="Muli Ultra-Bold"/>
                <a:sym typeface="Muli Ultra-Bold"/>
              </a:endParaRPr>
            </a:p>
          </p:txBody>
        </p:sp>
        <p:sp>
          <p:nvSpPr>
            <p:cNvPr id="20" name="TextBox 20"/>
            <p:cNvSpPr txBox="1"/>
            <p:nvPr/>
          </p:nvSpPr>
          <p:spPr>
            <a:xfrm>
              <a:off x="0" y="554656"/>
              <a:ext cx="13536677" cy="464397"/>
            </a:xfrm>
            <a:prstGeom prst="rect">
              <a:avLst/>
            </a:prstGeom>
          </p:spPr>
          <p:txBody>
            <a:bodyPr lIns="0" tIns="0" rIns="0" bIns="0" rtlCol="0" anchor="t">
              <a:spAutoFit/>
            </a:bodyPr>
            <a:lstStyle/>
            <a:p>
              <a:pPr algn="l">
                <a:lnSpc>
                  <a:spcPts val="2859"/>
                </a:lnSpc>
              </a:pPr>
              <a:r>
                <a:rPr lang="en-US" sz="2199">
                  <a:solidFill>
                    <a:srgbClr val="000000"/>
                  </a:solidFill>
                  <a:latin typeface="Cabin"/>
                  <a:ea typeface="Cabin"/>
                  <a:cs typeface="Cabin"/>
                  <a:sym typeface="Cabin"/>
                </a:rPr>
                <a:t>RESTful API và JWT giúp hệ thống linh hoạt, bảo mật.</a:t>
              </a:r>
            </a:p>
          </p:txBody>
        </p:sp>
      </p:grpSp>
      <p:grpSp>
        <p:nvGrpSpPr>
          <p:cNvPr id="21" name="Group 21"/>
          <p:cNvGrpSpPr/>
          <p:nvPr/>
        </p:nvGrpSpPr>
        <p:grpSpPr>
          <a:xfrm>
            <a:off x="9973276" y="4468881"/>
            <a:ext cx="7437977" cy="1589019"/>
            <a:chOff x="0" y="0"/>
            <a:chExt cx="2713394" cy="579678"/>
          </a:xfrm>
          <a:scene3d>
            <a:camera prst="orthographicFront">
              <a:rot lat="0" lon="0" rev="0"/>
            </a:camera>
            <a:lightRig rig="glow" dir="t">
              <a:rot lat="0" lon="0" rev="4800000"/>
            </a:lightRig>
          </a:scene3d>
        </p:grpSpPr>
        <p:sp>
          <p:nvSpPr>
            <p:cNvPr id="22" name="Freeform 22"/>
            <p:cNvSpPr/>
            <p:nvPr/>
          </p:nvSpPr>
          <p:spPr>
            <a:xfrm>
              <a:off x="0" y="0"/>
              <a:ext cx="2713394" cy="579678"/>
            </a:xfrm>
            <a:custGeom>
              <a:avLst/>
              <a:gdLst/>
              <a:ahLst/>
              <a:cxnLst/>
              <a:rect l="l" t="t" r="r" b="b"/>
              <a:pathLst>
                <a:path w="2713394" h="579678">
                  <a:moveTo>
                    <a:pt x="0" y="0"/>
                  </a:moveTo>
                  <a:lnTo>
                    <a:pt x="2713394" y="0"/>
                  </a:lnTo>
                  <a:lnTo>
                    <a:pt x="2713394"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23" name="Group 23"/>
          <p:cNvGrpSpPr/>
          <p:nvPr/>
        </p:nvGrpSpPr>
        <p:grpSpPr>
          <a:xfrm>
            <a:off x="9973276" y="6264711"/>
            <a:ext cx="7437977" cy="1520075"/>
            <a:chOff x="0" y="0"/>
            <a:chExt cx="2713394" cy="597584"/>
          </a:xfrm>
          <a:scene3d>
            <a:camera prst="orthographicFront">
              <a:rot lat="0" lon="0" rev="0"/>
            </a:camera>
            <a:lightRig rig="glow" dir="t">
              <a:rot lat="0" lon="0" rev="4800000"/>
            </a:lightRig>
          </a:scene3d>
        </p:grpSpPr>
        <p:sp>
          <p:nvSpPr>
            <p:cNvPr id="24" name="Freeform 24"/>
            <p:cNvSpPr/>
            <p:nvPr/>
          </p:nvSpPr>
          <p:spPr>
            <a:xfrm>
              <a:off x="0" y="0"/>
              <a:ext cx="2713394" cy="597583"/>
            </a:xfrm>
            <a:custGeom>
              <a:avLst/>
              <a:gdLst/>
              <a:ahLst/>
              <a:cxnLst/>
              <a:rect l="l" t="t" r="r" b="b"/>
              <a:pathLst>
                <a:path w="2713394" h="597583">
                  <a:moveTo>
                    <a:pt x="0" y="0"/>
                  </a:moveTo>
                  <a:lnTo>
                    <a:pt x="2713394" y="0"/>
                  </a:lnTo>
                  <a:lnTo>
                    <a:pt x="2713394" y="597583"/>
                  </a:lnTo>
                  <a:lnTo>
                    <a:pt x="0" y="597583"/>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25" name="Group 25"/>
          <p:cNvGrpSpPr/>
          <p:nvPr/>
        </p:nvGrpSpPr>
        <p:grpSpPr>
          <a:xfrm>
            <a:off x="9973276" y="8000685"/>
            <a:ext cx="7437977" cy="1589019"/>
            <a:chOff x="0" y="0"/>
            <a:chExt cx="2713394" cy="579678"/>
          </a:xfrm>
          <a:scene3d>
            <a:camera prst="orthographicFront">
              <a:rot lat="0" lon="0" rev="0"/>
            </a:camera>
            <a:lightRig rig="glow" dir="t">
              <a:rot lat="0" lon="0" rev="4800000"/>
            </a:lightRig>
          </a:scene3d>
        </p:grpSpPr>
        <p:sp>
          <p:nvSpPr>
            <p:cNvPr id="26" name="Freeform 26"/>
            <p:cNvSpPr/>
            <p:nvPr/>
          </p:nvSpPr>
          <p:spPr>
            <a:xfrm>
              <a:off x="0" y="0"/>
              <a:ext cx="2713394" cy="579678"/>
            </a:xfrm>
            <a:custGeom>
              <a:avLst/>
              <a:gdLst/>
              <a:ahLst/>
              <a:cxnLst/>
              <a:rect l="l" t="t" r="r" b="b"/>
              <a:pathLst>
                <a:path w="2713394" h="579678">
                  <a:moveTo>
                    <a:pt x="0" y="0"/>
                  </a:moveTo>
                  <a:lnTo>
                    <a:pt x="2713394" y="0"/>
                  </a:lnTo>
                  <a:lnTo>
                    <a:pt x="2713394" y="579678"/>
                  </a:lnTo>
                  <a:lnTo>
                    <a:pt x="0" y="579678"/>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grpSp>
        <p:nvGrpSpPr>
          <p:cNvPr id="27" name="Group 27"/>
          <p:cNvGrpSpPr/>
          <p:nvPr/>
        </p:nvGrpSpPr>
        <p:grpSpPr>
          <a:xfrm>
            <a:off x="10348979" y="4762500"/>
            <a:ext cx="10152508" cy="981041"/>
            <a:chOff x="0" y="-76475"/>
            <a:chExt cx="13536677" cy="1308055"/>
          </a:xfrm>
        </p:grpSpPr>
        <p:sp>
          <p:nvSpPr>
            <p:cNvPr id="28" name="TextBox 28"/>
            <p:cNvSpPr txBox="1"/>
            <p:nvPr/>
          </p:nvSpPr>
          <p:spPr>
            <a:xfrm>
              <a:off x="0" y="-76475"/>
              <a:ext cx="13536677" cy="731308"/>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Tính năng mới</a:t>
              </a:r>
            </a:p>
          </p:txBody>
        </p:sp>
        <p:sp>
          <p:nvSpPr>
            <p:cNvPr id="29" name="TextBox 29"/>
            <p:cNvSpPr txBox="1"/>
            <p:nvPr/>
          </p:nvSpPr>
          <p:spPr>
            <a:xfrm>
              <a:off x="0" y="767183"/>
              <a:ext cx="13536677" cy="464397"/>
            </a:xfrm>
            <a:prstGeom prst="rect">
              <a:avLst/>
            </a:prstGeom>
          </p:spPr>
          <p:txBody>
            <a:bodyPr lIns="0" tIns="0" rIns="0" bIns="0" rtlCol="0" anchor="t">
              <a:spAutoFit/>
            </a:bodyPr>
            <a:lstStyle/>
            <a:p>
              <a:pPr algn="l">
                <a:lnSpc>
                  <a:spcPts val="2859"/>
                </a:lnSpc>
              </a:pPr>
              <a:r>
                <a:rPr lang="en-US" sz="2199" dirty="0">
                  <a:solidFill>
                    <a:srgbClr val="000000"/>
                  </a:solidFill>
                  <a:latin typeface="Cabin"/>
                  <a:ea typeface="Cabin"/>
                  <a:cs typeface="Cabin"/>
                  <a:sym typeface="Cabin"/>
                </a:rPr>
                <a:t>Chat, </a:t>
              </a:r>
              <a:r>
                <a:rPr lang="en-US" sz="2199" dirty="0" err="1">
                  <a:solidFill>
                    <a:srgbClr val="000000"/>
                  </a:solidFill>
                  <a:latin typeface="Cabin"/>
                  <a:ea typeface="Cabin"/>
                  <a:cs typeface="Cabin"/>
                  <a:sym typeface="Cabin"/>
                </a:rPr>
                <a:t>thông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báo</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realtime</a:t>
              </a:r>
              <a:r>
                <a:rPr lang="en-US" sz="2199" dirty="0">
                  <a:solidFill>
                    <a:srgbClr val="000000"/>
                  </a:solidFill>
                  <a:latin typeface="Cabin"/>
                  <a:ea typeface="Cabin"/>
                  <a:cs typeface="Cabin"/>
                  <a:sym typeface="Cabin"/>
                </a:rPr>
                <a:t>, chia </a:t>
              </a:r>
              <a:r>
                <a:rPr lang="en-US" sz="2199" dirty="0" err="1">
                  <a:solidFill>
                    <a:srgbClr val="000000"/>
                  </a:solidFill>
                  <a:latin typeface="Cabin"/>
                  <a:ea typeface="Cabin"/>
                  <a:cs typeface="Cabin"/>
                  <a:sym typeface="Cabin"/>
                </a:rPr>
                <a:t>sẻ</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tài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liệu</a:t>
              </a:r>
              <a:r>
                <a:rPr lang="en-US" sz="2199" dirty="0">
                  <a:solidFill>
                    <a:srgbClr val="000000"/>
                  </a:solidFill>
                  <a:latin typeface="Cabin"/>
                  <a:ea typeface="Cabin"/>
                  <a:cs typeface="Cabin"/>
                  <a:sym typeface="Cabin"/>
                </a:rPr>
                <a:t>.</a:t>
              </a:r>
            </a:p>
          </p:txBody>
        </p:sp>
      </p:grpSp>
      <p:grpSp>
        <p:nvGrpSpPr>
          <p:cNvPr id="30" name="Group 30"/>
          <p:cNvGrpSpPr/>
          <p:nvPr/>
        </p:nvGrpSpPr>
        <p:grpSpPr>
          <a:xfrm>
            <a:off x="10348979" y="6515100"/>
            <a:ext cx="10152508" cy="981042"/>
            <a:chOff x="0" y="-194203"/>
            <a:chExt cx="13536677" cy="1308055"/>
          </a:xfrm>
        </p:grpSpPr>
        <p:sp>
          <p:nvSpPr>
            <p:cNvPr id="31" name="TextBox 31"/>
            <p:cNvSpPr txBox="1"/>
            <p:nvPr/>
          </p:nvSpPr>
          <p:spPr>
            <a:xfrm>
              <a:off x="0" y="-194203"/>
              <a:ext cx="13536677" cy="731307"/>
            </a:xfrm>
            <a:prstGeom prst="rect">
              <a:avLst/>
            </a:prstGeom>
          </p:spPr>
          <p:txBody>
            <a:bodyPr lIns="0" tIns="0" rIns="0" bIns="0" rtlCol="0" anchor="t">
              <a:spAutoFit/>
            </a:bodyPr>
            <a:lstStyle/>
            <a:p>
              <a:pPr algn="l">
                <a:lnSpc>
                  <a:spcPts val="4550"/>
                </a:lnSpc>
              </a:pPr>
              <a:r>
                <a:rPr lang="en-US" sz="3500" b="1" dirty="0" err="1">
                  <a:solidFill>
                    <a:srgbClr val="003EA8"/>
                  </a:solidFill>
                  <a:latin typeface="Muli Ultra-Bold"/>
                  <a:ea typeface="Muli Ultra-Bold"/>
                  <a:cs typeface="Muli Ultra-Bold"/>
                  <a:sym typeface="Muli Ultra-Bold"/>
                </a:rPr>
                <a:t>Tích</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hợp</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hệ</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thống</a:t>
              </a:r>
              <a:endParaRPr lang="en-US" sz="3500" b="1" dirty="0">
                <a:solidFill>
                  <a:srgbClr val="003EA8"/>
                </a:solidFill>
                <a:latin typeface="Muli Ultra-Bold"/>
                <a:ea typeface="Muli Ultra-Bold"/>
                <a:cs typeface="Muli Ultra-Bold"/>
                <a:sym typeface="Muli Ultra-Bold"/>
              </a:endParaRPr>
            </a:p>
          </p:txBody>
        </p:sp>
        <p:sp>
          <p:nvSpPr>
            <p:cNvPr id="32" name="TextBox 32"/>
            <p:cNvSpPr txBox="1"/>
            <p:nvPr/>
          </p:nvSpPr>
          <p:spPr>
            <a:xfrm>
              <a:off x="0" y="649455"/>
              <a:ext cx="6860136" cy="464397"/>
            </a:xfrm>
            <a:prstGeom prst="rect">
              <a:avLst/>
            </a:prstGeom>
          </p:spPr>
          <p:txBody>
            <a:bodyPr lIns="0" tIns="0" rIns="0" bIns="0" rtlCol="0" anchor="t">
              <a:spAutoFit/>
            </a:bodyPr>
            <a:lstStyle/>
            <a:p>
              <a:pPr algn="l">
                <a:lnSpc>
                  <a:spcPts val="2859"/>
                </a:lnSpc>
              </a:pPr>
              <a:r>
                <a:rPr lang="en-US" sz="2199" dirty="0" err="1">
                  <a:solidFill>
                    <a:srgbClr val="000000"/>
                  </a:solidFill>
                  <a:latin typeface="Cabin"/>
                  <a:ea typeface="Cabin"/>
                  <a:cs typeface="Cabin"/>
                  <a:sym typeface="Cabin"/>
                </a:rPr>
                <a:t>Kết</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nối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với</a:t>
              </a:r>
              <a:r>
                <a:rPr lang="en-US" sz="2199" dirty="0">
                  <a:solidFill>
                    <a:srgbClr val="000000"/>
                  </a:solidFill>
                  <a:latin typeface="Cabin"/>
                  <a:ea typeface="Cabin"/>
                  <a:cs typeface="Cabin"/>
                  <a:sym typeface="Cabin"/>
                </a:rPr>
                <a:t> SIS </a:t>
              </a:r>
              <a:r>
                <a:rPr lang="en-US" sz="2199" dirty="0" err="1">
                  <a:solidFill>
                    <a:srgbClr val="000000"/>
                  </a:solidFill>
                  <a:latin typeface="Cabin"/>
                  <a:ea typeface="Cabin"/>
                  <a:cs typeface="Cabin"/>
                  <a:sym typeface="Cabin"/>
                </a:rPr>
                <a:t>và</a:t>
              </a:r>
              <a:r>
                <a:rPr lang="en-US" sz="2199" dirty="0">
                  <a:solidFill>
                    <a:srgbClr val="000000"/>
                  </a:solidFill>
                  <a:latin typeface="Cabin"/>
                  <a:ea typeface="Cabin"/>
                  <a:cs typeface="Cabin"/>
                  <a:sym typeface="Cabin"/>
                </a:rPr>
                <a:t> e-learning </a:t>
              </a:r>
              <a:r>
                <a:rPr lang="en-US" sz="2199" dirty="0" err="1">
                  <a:solidFill>
                    <a:srgbClr val="000000"/>
                  </a:solidFill>
                  <a:latin typeface="Cabin"/>
                  <a:ea typeface="Cabin"/>
                  <a:cs typeface="Cabin"/>
                  <a:sym typeface="Cabin"/>
                </a:rPr>
                <a:t>của</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trường</a:t>
              </a:r>
              <a:r>
                <a:rPr lang="en-US" sz="2199" dirty="0">
                  <a:solidFill>
                    <a:srgbClr val="000000"/>
                  </a:solidFill>
                  <a:latin typeface="Cabin"/>
                  <a:ea typeface="Cabin"/>
                  <a:cs typeface="Cabin"/>
                  <a:sym typeface="Cabin"/>
                </a:rPr>
                <a:t>.</a:t>
              </a:r>
            </a:p>
          </p:txBody>
        </p:sp>
      </p:grpSp>
      <p:grpSp>
        <p:nvGrpSpPr>
          <p:cNvPr id="33" name="Group 33"/>
          <p:cNvGrpSpPr/>
          <p:nvPr/>
        </p:nvGrpSpPr>
        <p:grpSpPr>
          <a:xfrm>
            <a:off x="10348979" y="8267700"/>
            <a:ext cx="10152508" cy="981041"/>
            <a:chOff x="0" y="-332738"/>
            <a:chExt cx="13536677" cy="1308055"/>
          </a:xfrm>
        </p:grpSpPr>
        <p:sp>
          <p:nvSpPr>
            <p:cNvPr id="34" name="TextBox 34"/>
            <p:cNvSpPr txBox="1"/>
            <p:nvPr/>
          </p:nvSpPr>
          <p:spPr>
            <a:xfrm>
              <a:off x="0" y="-332738"/>
              <a:ext cx="13536677" cy="731308"/>
            </a:xfrm>
            <a:prstGeom prst="rect">
              <a:avLst/>
            </a:prstGeom>
          </p:spPr>
          <p:txBody>
            <a:bodyPr lIns="0" tIns="0" rIns="0" bIns="0" rtlCol="0" anchor="t">
              <a:spAutoFit/>
            </a:bodyPr>
            <a:lstStyle/>
            <a:p>
              <a:pPr algn="l">
                <a:lnSpc>
                  <a:spcPts val="4550"/>
                </a:lnSpc>
              </a:pPr>
              <a:r>
                <a:rPr lang="en-US" sz="3500" b="1" dirty="0" err="1">
                  <a:solidFill>
                    <a:srgbClr val="003EA8"/>
                  </a:solidFill>
                  <a:latin typeface="Muli Ultra-Bold"/>
                  <a:ea typeface="Muli Ultra-Bold"/>
                  <a:cs typeface="Muli Ultra-Bold"/>
                  <a:sym typeface="Muli Ultra-Bold"/>
                </a:rPr>
                <a:t>Ứng</a:t>
              </a:r>
              <a:r>
                <a:rPr lang="en-US" sz="3500" b="1" dirty="0">
                  <a:solidFill>
                    <a:srgbClr val="003EA8"/>
                  </a:solidFill>
                  <a:latin typeface="Muli Ultra-Bold"/>
                  <a:ea typeface="Muli Ultra-Bold"/>
                  <a:cs typeface="Muli Ultra-Bold"/>
                  <a:sym typeface="Muli Ultra-Bold"/>
                </a:rPr>
                <a:t> </a:t>
              </a:r>
              <a:r>
                <a:rPr lang="en-US" sz="3500" b="1" dirty="0" err="1">
                  <a:solidFill>
                    <a:srgbClr val="003EA8"/>
                  </a:solidFill>
                  <a:latin typeface="Muli Ultra-Bold"/>
                  <a:ea typeface="Muli Ultra-Bold"/>
                  <a:cs typeface="Muli Ultra-Bold"/>
                  <a:sym typeface="Muli Ultra-Bold"/>
                </a:rPr>
                <a:t>dụng</a:t>
              </a:r>
              <a:r>
                <a:rPr lang="en-US" sz="3500" b="1" dirty="0">
                  <a:solidFill>
                    <a:srgbClr val="003EA8"/>
                  </a:solidFill>
                  <a:latin typeface="Muli Ultra-Bold"/>
                  <a:ea typeface="Muli Ultra-Bold"/>
                  <a:cs typeface="Muli Ultra-Bold"/>
                  <a:sym typeface="Muli Ultra-Bold"/>
                </a:rPr>
                <a:t> di </a:t>
              </a:r>
              <a:r>
                <a:rPr lang="en-US" sz="3500" b="1" dirty="0" err="1">
                  <a:solidFill>
                    <a:srgbClr val="003EA8"/>
                  </a:solidFill>
                  <a:latin typeface="Muli Ultra-Bold"/>
                  <a:ea typeface="Muli Ultra-Bold"/>
                  <a:cs typeface="Muli Ultra-Bold"/>
                  <a:sym typeface="Muli Ultra-Bold"/>
                </a:rPr>
                <a:t>động</a:t>
              </a:r>
              <a:endParaRPr lang="en-US" sz="3500" b="1" dirty="0">
                <a:solidFill>
                  <a:srgbClr val="003EA8"/>
                </a:solidFill>
                <a:latin typeface="Muli Ultra-Bold"/>
                <a:ea typeface="Muli Ultra-Bold"/>
                <a:cs typeface="Muli Ultra-Bold"/>
                <a:sym typeface="Muli Ultra-Bold"/>
              </a:endParaRPr>
            </a:p>
          </p:txBody>
        </p:sp>
        <p:sp>
          <p:nvSpPr>
            <p:cNvPr id="35" name="TextBox 35"/>
            <p:cNvSpPr txBox="1"/>
            <p:nvPr/>
          </p:nvSpPr>
          <p:spPr>
            <a:xfrm>
              <a:off x="0" y="510920"/>
              <a:ext cx="13536677" cy="464397"/>
            </a:xfrm>
            <a:prstGeom prst="rect">
              <a:avLst/>
            </a:prstGeom>
          </p:spPr>
          <p:txBody>
            <a:bodyPr lIns="0" tIns="0" rIns="0" bIns="0" rtlCol="0" anchor="t">
              <a:spAutoFit/>
            </a:bodyPr>
            <a:lstStyle/>
            <a:p>
              <a:pPr algn="l">
                <a:lnSpc>
                  <a:spcPts val="2859"/>
                </a:lnSpc>
              </a:pPr>
              <a:r>
                <a:rPr lang="en-US" sz="2199" dirty="0" err="1">
                  <a:solidFill>
                    <a:srgbClr val="000000"/>
                  </a:solidFill>
                  <a:latin typeface="Cabin"/>
                  <a:ea typeface="Cabin"/>
                  <a:cs typeface="Cabin"/>
                  <a:sym typeface="Cabin"/>
                </a:rPr>
                <a:t>Hỗ</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trợ</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sinh</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viên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và</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giảng</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viên</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mọi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lúc</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mọi</a:t>
              </a:r>
              <a:r>
                <a:rPr lang="en-US" sz="2199" dirty="0">
                  <a:solidFill>
                    <a:srgbClr val="000000"/>
                  </a:solidFill>
                  <a:latin typeface="Cabin"/>
                  <a:ea typeface="Cabin"/>
                  <a:cs typeface="Cabin"/>
                  <a:sym typeface="Cabin"/>
                </a:rPr>
                <a:t> </a:t>
              </a:r>
              <a:r>
                <a:rPr lang="en-US" sz="2199" dirty="0" err="1">
                  <a:solidFill>
                    <a:srgbClr val="000000"/>
                  </a:solidFill>
                  <a:latin typeface="Cabin"/>
                  <a:ea typeface="Cabin"/>
                  <a:cs typeface="Cabin"/>
                  <a:sym typeface="Cabin"/>
                </a:rPr>
                <a:t>nơi</a:t>
              </a:r>
              <a:r>
                <a:rPr lang="en-US" sz="2199" dirty="0">
                  <a:solidFill>
                    <a:srgbClr val="000000"/>
                  </a:solidFill>
                  <a:latin typeface="Cabin"/>
                  <a:ea typeface="Cabin"/>
                  <a:cs typeface="Cabin"/>
                  <a:sym typeface="Cabin"/>
                </a:rPr>
                <a:t>.</a:t>
              </a:r>
            </a:p>
          </p:txBody>
        </p:sp>
      </p:grpSp>
      <p:grpSp>
        <p:nvGrpSpPr>
          <p:cNvPr id="36" name="Group 36"/>
          <p:cNvGrpSpPr/>
          <p:nvPr/>
        </p:nvGrpSpPr>
        <p:grpSpPr>
          <a:xfrm>
            <a:off x="905495" y="199174"/>
            <a:ext cx="16425212" cy="2848785"/>
            <a:chOff x="0" y="0"/>
            <a:chExt cx="5991962" cy="1039244"/>
          </a:xfrm>
          <a:scene3d>
            <a:camera prst="orthographicFront">
              <a:rot lat="0" lon="0" rev="0"/>
            </a:camera>
            <a:lightRig rig="glow" dir="t">
              <a:rot lat="0" lon="0" rev="4800000"/>
            </a:lightRig>
          </a:scene3d>
        </p:grpSpPr>
        <p:sp>
          <p:nvSpPr>
            <p:cNvPr id="37" name="Freeform 37"/>
            <p:cNvSpPr/>
            <p:nvPr/>
          </p:nvSpPr>
          <p:spPr>
            <a:xfrm>
              <a:off x="0" y="0"/>
              <a:ext cx="5991962" cy="1039244"/>
            </a:xfrm>
            <a:custGeom>
              <a:avLst/>
              <a:gdLst/>
              <a:ahLst/>
              <a:cxnLst/>
              <a:rect l="l" t="t" r="r" b="b"/>
              <a:pathLst>
                <a:path w="5991962" h="1039244">
                  <a:moveTo>
                    <a:pt x="0" y="0"/>
                  </a:moveTo>
                  <a:lnTo>
                    <a:pt x="5991962" y="0"/>
                  </a:lnTo>
                  <a:lnTo>
                    <a:pt x="5991962" y="1039244"/>
                  </a:lnTo>
                  <a:lnTo>
                    <a:pt x="0" y="1039244"/>
                  </a:lnTo>
                  <a:close/>
                </a:path>
              </a:pathLst>
            </a:custGeom>
            <a:solidFill>
              <a:srgbClr val="FFFFFF"/>
            </a:solidFill>
            <a:ln>
              <a:noFill/>
            </a:ln>
            <a:effectLst>
              <a:outerShdw blurRad="190500" dist="228600" dir="2700000" algn="ctr">
                <a:srgbClr val="000000">
                  <a:alpha val="30000"/>
                </a:srgbClr>
              </a:outerShdw>
            </a:effectLst>
            <a:sp3d prstMaterial="matte">
              <a:bevelT w="127000" h="63500"/>
            </a:sp3d>
          </p:spPr>
        </p:sp>
      </p:grpSp>
      <p:sp>
        <p:nvSpPr>
          <p:cNvPr id="38" name="TextBox 38"/>
          <p:cNvSpPr txBox="1"/>
          <p:nvPr/>
        </p:nvSpPr>
        <p:spPr>
          <a:xfrm>
            <a:off x="-285794" y="655128"/>
            <a:ext cx="18838047" cy="2295525"/>
          </a:xfrm>
          <a:prstGeom prst="rect">
            <a:avLst/>
          </a:prstGeom>
        </p:spPr>
        <p:txBody>
          <a:bodyPr lIns="0" tIns="0" rIns="0" bIns="0" rtlCol="0" anchor="t">
            <a:spAutoFit/>
          </a:bodyPr>
          <a:lstStyle/>
          <a:p>
            <a:pPr algn="ctr">
              <a:lnSpc>
                <a:spcPts val="9000"/>
              </a:lnSpc>
            </a:pPr>
            <a:r>
              <a:rPr lang="en-US" sz="7500" b="1">
                <a:solidFill>
                  <a:srgbClr val="003EA8"/>
                </a:solidFill>
                <a:latin typeface="Muli Bold"/>
                <a:ea typeface="Muli Bold"/>
                <a:cs typeface="Muli Bold"/>
                <a:sym typeface="Muli Bold"/>
              </a:rPr>
              <a:t>Kết Luận &amp; Hướng Phát Triển</a:t>
            </a:r>
          </a:p>
          <a:p>
            <a:pPr algn="ctr">
              <a:lnSpc>
                <a:spcPts val="9000"/>
              </a:lnSpc>
            </a:pPr>
            <a:r>
              <a:rPr lang="en-US" sz="7500" b="1">
                <a:solidFill>
                  <a:srgbClr val="003EA8"/>
                </a:solidFill>
                <a:latin typeface="Muli Bold"/>
                <a:ea typeface="Muli Bold"/>
                <a:cs typeface="Muli Bold"/>
                <a:sym typeface="Muli Bold"/>
              </a:rPr>
              <a:t>Thành Quả và Tương Lai</a:t>
            </a:r>
          </a:p>
        </p:txBody>
      </p:sp>
      <p:sp>
        <p:nvSpPr>
          <p:cNvPr id="39" name="TextBox 39"/>
          <p:cNvSpPr txBox="1"/>
          <p:nvPr/>
        </p:nvSpPr>
        <p:spPr>
          <a:xfrm>
            <a:off x="2118095" y="3805599"/>
            <a:ext cx="10152508" cy="555625"/>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Thành Quả Đạt Được</a:t>
            </a:r>
          </a:p>
        </p:txBody>
      </p:sp>
      <p:sp>
        <p:nvSpPr>
          <p:cNvPr id="40" name="TextBox 40"/>
          <p:cNvSpPr txBox="1"/>
          <p:nvPr/>
        </p:nvSpPr>
        <p:spPr>
          <a:xfrm>
            <a:off x="11623587" y="3805599"/>
            <a:ext cx="10152508" cy="555625"/>
          </a:xfrm>
          <a:prstGeom prst="rect">
            <a:avLst/>
          </a:prstGeom>
        </p:spPr>
        <p:txBody>
          <a:bodyPr lIns="0" tIns="0" rIns="0" bIns="0" rtlCol="0" anchor="t">
            <a:spAutoFit/>
          </a:bodyPr>
          <a:lstStyle/>
          <a:p>
            <a:pPr algn="l">
              <a:lnSpc>
                <a:spcPts val="4550"/>
              </a:lnSpc>
            </a:pPr>
            <a:r>
              <a:rPr lang="en-US" sz="3500" b="1">
                <a:solidFill>
                  <a:srgbClr val="003EA8"/>
                </a:solidFill>
                <a:latin typeface="Muli Ultra-Bold"/>
                <a:ea typeface="Muli Ultra-Bold"/>
                <a:cs typeface="Muli Ultra-Bold"/>
                <a:sym typeface="Muli Ultra-Bold"/>
              </a:rPr>
              <a:t>Hướng Phát Triển</a:t>
            </a:r>
          </a:p>
        </p:txBody>
      </p:sp>
      <p:sp>
        <p:nvSpPr>
          <p:cNvPr id="41" name="TextBox 41"/>
          <p:cNvSpPr txBox="1"/>
          <p:nvPr/>
        </p:nvSpPr>
        <p:spPr>
          <a:xfrm>
            <a:off x="905495" y="3376339"/>
            <a:ext cx="16425212" cy="353060"/>
          </a:xfrm>
          <a:prstGeom prst="rect">
            <a:avLst/>
          </a:prstGeom>
        </p:spPr>
        <p:txBody>
          <a:bodyPr lIns="0" tIns="0" rIns="0" bIns="0" rtlCol="0" anchor="t">
            <a:spAutoFit/>
          </a:bodyPr>
          <a:lstStyle/>
          <a:p>
            <a:pPr algn="ctr">
              <a:lnSpc>
                <a:spcPts val="2859"/>
              </a:lnSpc>
            </a:pPr>
            <a:r>
              <a:rPr lang="en-US" sz="2199">
                <a:solidFill>
                  <a:srgbClr val="000000"/>
                </a:solidFill>
                <a:latin typeface="Cabin"/>
                <a:ea typeface="Cabin"/>
                <a:cs typeface="Cabin"/>
                <a:sym typeface="Cabin"/>
              </a:rPr>
              <a:t>Dự án đã hoàn thành các mục tiêu chính và mở ra hướng phát triển tiếp theo.</a:t>
            </a:r>
          </a:p>
        </p:txBody>
      </p:sp>
      <p:sp>
        <p:nvSpPr>
          <p:cNvPr id="42" name="TextBox 42"/>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a:solidFill>
                  <a:srgbClr val="003EA8"/>
                </a:solidFill>
                <a:latin typeface="Muli Ultra-Bold"/>
                <a:ea typeface="Muli Ultra-Bold"/>
                <a:cs typeface="Muli Ultra-Bold"/>
                <a:sym typeface="Muli Ultra-Bold"/>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06A823F-FA7F-789F-DE25-B5443263C1D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4354" r="-1468" b="-56033"/>
            </a:stretch>
          </a:blipFill>
        </p:spPr>
      </p:sp>
      <p:sp>
        <p:nvSpPr>
          <p:cNvPr id="3" name="Freeform 3">
            <a:extLst>
              <a:ext uri="{FF2B5EF4-FFF2-40B4-BE49-F238E27FC236}">
                <a16:creationId xmlns:a16="http://schemas.microsoft.com/office/drawing/2014/main" id="{658ABD24-E555-D1A5-A348-C65B5CBE7E9F}"/>
              </a:ext>
            </a:extLst>
          </p:cNvPr>
          <p:cNvSpPr/>
          <p:nvPr/>
        </p:nvSpPr>
        <p:spPr>
          <a:xfrm>
            <a:off x="-1276562" y="-156776"/>
            <a:ext cx="6732164" cy="1627960"/>
          </a:xfrm>
          <a:custGeom>
            <a:avLst/>
            <a:gdLst/>
            <a:ahLst/>
            <a:cxnLst/>
            <a:rect l="l" t="t" r="r" b="b"/>
            <a:pathLst>
              <a:path w="6732164" h="1627960">
                <a:moveTo>
                  <a:pt x="0" y="0"/>
                </a:moveTo>
                <a:lnTo>
                  <a:pt x="6732164" y="0"/>
                </a:lnTo>
                <a:lnTo>
                  <a:pt x="6732164" y="1627960"/>
                </a:lnTo>
                <a:lnTo>
                  <a:pt x="0" y="162796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a:extLst>
              <a:ext uri="{FF2B5EF4-FFF2-40B4-BE49-F238E27FC236}">
                <a16:creationId xmlns:a16="http://schemas.microsoft.com/office/drawing/2014/main" id="{C59E6B6F-E87C-8B91-C23F-D6531C8B70CA}"/>
              </a:ext>
            </a:extLst>
          </p:cNvPr>
          <p:cNvSpPr/>
          <p:nvPr/>
        </p:nvSpPr>
        <p:spPr>
          <a:xfrm>
            <a:off x="463879" y="-156776"/>
            <a:ext cx="441616" cy="633141"/>
          </a:xfrm>
          <a:custGeom>
            <a:avLst/>
            <a:gdLst/>
            <a:ahLst/>
            <a:cxnLst/>
            <a:rect l="l" t="t" r="r" b="b"/>
            <a:pathLst>
              <a:path w="441616" h="633141">
                <a:moveTo>
                  <a:pt x="0" y="0"/>
                </a:moveTo>
                <a:lnTo>
                  <a:pt x="441616" y="0"/>
                </a:lnTo>
                <a:lnTo>
                  <a:pt x="441616" y="633141"/>
                </a:lnTo>
                <a:lnTo>
                  <a:pt x="0" y="633141"/>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36" name="Group 36">
            <a:extLst>
              <a:ext uri="{FF2B5EF4-FFF2-40B4-BE49-F238E27FC236}">
                <a16:creationId xmlns:a16="http://schemas.microsoft.com/office/drawing/2014/main" id="{D14B9224-704C-7B6A-8A63-66880116339E}"/>
              </a:ext>
            </a:extLst>
          </p:cNvPr>
          <p:cNvGrpSpPr/>
          <p:nvPr/>
        </p:nvGrpSpPr>
        <p:grpSpPr>
          <a:xfrm>
            <a:off x="931394" y="2933700"/>
            <a:ext cx="16425212" cy="3962400"/>
            <a:chOff x="9448" y="1439287"/>
            <a:chExt cx="5991962" cy="1039244"/>
          </a:xfrm>
          <a:scene3d>
            <a:camera prst="orthographicFront">
              <a:rot lat="0" lon="0" rev="0"/>
            </a:camera>
            <a:lightRig rig="soft" dir="t">
              <a:rot lat="0" lon="0" rev="0"/>
            </a:lightRig>
          </a:scene3d>
        </p:grpSpPr>
        <p:sp>
          <p:nvSpPr>
            <p:cNvPr id="37" name="Freeform 37">
              <a:extLst>
                <a:ext uri="{FF2B5EF4-FFF2-40B4-BE49-F238E27FC236}">
                  <a16:creationId xmlns:a16="http://schemas.microsoft.com/office/drawing/2014/main" id="{216D2AE0-750B-FE83-FDF7-544D70BD9DAF}"/>
                </a:ext>
              </a:extLst>
            </p:cNvPr>
            <p:cNvSpPr/>
            <p:nvPr/>
          </p:nvSpPr>
          <p:spPr>
            <a:xfrm>
              <a:off x="9448" y="1439287"/>
              <a:ext cx="5991962" cy="1039244"/>
            </a:xfrm>
            <a:custGeom>
              <a:avLst/>
              <a:gdLst/>
              <a:ahLst/>
              <a:cxnLst/>
              <a:rect l="l" t="t" r="r" b="b"/>
              <a:pathLst>
                <a:path w="5991962" h="1039244">
                  <a:moveTo>
                    <a:pt x="0" y="0"/>
                  </a:moveTo>
                  <a:lnTo>
                    <a:pt x="5991962" y="0"/>
                  </a:lnTo>
                  <a:lnTo>
                    <a:pt x="5991962" y="1039244"/>
                  </a:lnTo>
                  <a:lnTo>
                    <a:pt x="0" y="1039244"/>
                  </a:lnTo>
                  <a:close/>
                </a:path>
              </a:pathLst>
            </a:custGeom>
            <a:solidFill>
              <a:srgbClr val="FFFFFF"/>
            </a:solidFill>
            <a:ln>
              <a:noFill/>
            </a:ln>
            <a:effectLst>
              <a:outerShdw blurRad="107950" dist="12700" dir="5400000" algn="ctr">
                <a:srgbClr val="000000"/>
              </a:outerShdw>
            </a:effectLst>
            <a:sp3d contourW="44450" prstMaterial="matte">
              <a:bevelT w="63500" h="63500" prst="artDeco"/>
              <a:contourClr>
                <a:srgbClr val="FFFFFF"/>
              </a:contourClr>
            </a:sp3d>
          </p:spPr>
        </p:sp>
      </p:grpSp>
      <p:sp>
        <p:nvSpPr>
          <p:cNvPr id="38" name="TextBox 38">
            <a:extLst>
              <a:ext uri="{FF2B5EF4-FFF2-40B4-BE49-F238E27FC236}">
                <a16:creationId xmlns:a16="http://schemas.microsoft.com/office/drawing/2014/main" id="{7712E1BC-B666-63F2-F1B8-4D77554A0BF2}"/>
              </a:ext>
            </a:extLst>
          </p:cNvPr>
          <p:cNvSpPr txBox="1"/>
          <p:nvPr/>
        </p:nvSpPr>
        <p:spPr>
          <a:xfrm>
            <a:off x="-530997" y="3210329"/>
            <a:ext cx="18838047" cy="3462486"/>
          </a:xfrm>
          <a:prstGeom prst="rect">
            <a:avLst/>
          </a:prstGeom>
        </p:spPr>
        <p:txBody>
          <a:bodyPr lIns="0" tIns="0" rIns="0" bIns="0" rtlCol="0" anchor="t">
            <a:spAutoFit/>
          </a:bodyPr>
          <a:lstStyle/>
          <a:p>
            <a:pPr algn="ctr">
              <a:lnSpc>
                <a:spcPts val="9000"/>
              </a:lnSpc>
            </a:pPr>
            <a:r>
              <a:rPr lang="en-US" sz="7500" b="1" dirty="0" err="1">
                <a:solidFill>
                  <a:srgbClr val="003EA8"/>
                </a:solidFill>
                <a:latin typeface="Muli Bold"/>
                <a:ea typeface="Muli Bold"/>
                <a:cs typeface="Muli Bold"/>
                <a:sym typeface="Muli Bold"/>
              </a:rPr>
              <a:t>Cảm</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ơn</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Thầy</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Cô</a:t>
            </a:r>
            <a:r>
              <a:rPr lang="en-US" sz="7500" b="1" dirty="0">
                <a:solidFill>
                  <a:srgbClr val="003EA8"/>
                </a:solidFill>
                <a:latin typeface="Muli Bold"/>
                <a:ea typeface="Muli Bold"/>
                <a:cs typeface="Muli Bold"/>
                <a:sym typeface="Muli Bold"/>
              </a:rPr>
              <a:t> </a:t>
            </a:r>
          </a:p>
          <a:p>
            <a:pPr algn="ctr">
              <a:lnSpc>
                <a:spcPts val="9000"/>
              </a:lnSpc>
            </a:pPr>
            <a:r>
              <a:rPr lang="en-US" sz="7500" b="1" dirty="0" err="1">
                <a:solidFill>
                  <a:srgbClr val="003EA8"/>
                </a:solidFill>
                <a:latin typeface="Muli Bold"/>
                <a:ea typeface="Muli Bold"/>
                <a:cs typeface="Muli Bold"/>
                <a:sym typeface="Muli Bold"/>
              </a:rPr>
              <a:t>và</a:t>
            </a:r>
            <a:r>
              <a:rPr lang="en-US" sz="7500" b="1" dirty="0">
                <a:solidFill>
                  <a:srgbClr val="003EA8"/>
                </a:solidFill>
                <a:latin typeface="Muli Bold"/>
                <a:ea typeface="Muli Bold"/>
                <a:cs typeface="Muli Bold"/>
                <a:sym typeface="Muli Bold"/>
              </a:rPr>
              <a:t> </a:t>
            </a:r>
          </a:p>
          <a:p>
            <a:pPr algn="ctr">
              <a:lnSpc>
                <a:spcPts val="9000"/>
              </a:lnSpc>
            </a:pPr>
            <a:r>
              <a:rPr lang="en-US" sz="7500" b="1" dirty="0" err="1">
                <a:solidFill>
                  <a:srgbClr val="003EA8"/>
                </a:solidFill>
                <a:latin typeface="Muli Bold"/>
                <a:ea typeface="Muli Bold"/>
                <a:cs typeface="Muli Bold"/>
                <a:sym typeface="Muli Bold"/>
              </a:rPr>
              <a:t>các</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bạn</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đã</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lắng</a:t>
            </a:r>
            <a:r>
              <a:rPr lang="en-US" sz="7500" b="1" dirty="0">
                <a:solidFill>
                  <a:srgbClr val="003EA8"/>
                </a:solidFill>
                <a:latin typeface="Muli Bold"/>
                <a:ea typeface="Muli Bold"/>
                <a:cs typeface="Muli Bold"/>
                <a:sym typeface="Muli Bold"/>
              </a:rPr>
              <a:t> </a:t>
            </a:r>
            <a:r>
              <a:rPr lang="en-US" sz="7500" b="1" dirty="0" err="1">
                <a:solidFill>
                  <a:srgbClr val="003EA8"/>
                </a:solidFill>
                <a:latin typeface="Muli Bold"/>
                <a:ea typeface="Muli Bold"/>
                <a:cs typeface="Muli Bold"/>
                <a:sym typeface="Muli Bold"/>
              </a:rPr>
              <a:t>nghe</a:t>
            </a:r>
            <a:r>
              <a:rPr lang="en-US" sz="7500" b="1" dirty="0">
                <a:solidFill>
                  <a:srgbClr val="003EA8"/>
                </a:solidFill>
                <a:latin typeface="Muli Bold"/>
                <a:ea typeface="Muli Bold"/>
                <a:cs typeface="Muli Bold"/>
                <a:sym typeface="Muli Bold"/>
              </a:rPr>
              <a:t>.</a:t>
            </a:r>
          </a:p>
        </p:txBody>
      </p:sp>
      <p:sp>
        <p:nvSpPr>
          <p:cNvPr id="42" name="TextBox 42">
            <a:extLst>
              <a:ext uri="{FF2B5EF4-FFF2-40B4-BE49-F238E27FC236}">
                <a16:creationId xmlns:a16="http://schemas.microsoft.com/office/drawing/2014/main" id="{077EFA29-7C87-5D82-24ED-22397FB56823}"/>
              </a:ext>
            </a:extLst>
          </p:cNvPr>
          <p:cNvSpPr txBox="1"/>
          <p:nvPr/>
        </p:nvSpPr>
        <p:spPr>
          <a:xfrm>
            <a:off x="15513338" y="9769799"/>
            <a:ext cx="4404073" cy="353060"/>
          </a:xfrm>
          <a:prstGeom prst="rect">
            <a:avLst/>
          </a:prstGeom>
        </p:spPr>
        <p:txBody>
          <a:bodyPr lIns="0" tIns="0" rIns="0" bIns="0" rtlCol="0" anchor="t">
            <a:spAutoFit/>
          </a:bodyPr>
          <a:lstStyle/>
          <a:p>
            <a:pPr algn="ctr">
              <a:lnSpc>
                <a:spcPts val="2860"/>
              </a:lnSpc>
            </a:pPr>
            <a:r>
              <a:rPr lang="en-US" sz="2200" b="1" dirty="0">
                <a:solidFill>
                  <a:srgbClr val="003EA8"/>
                </a:solidFill>
                <a:latin typeface="Muli Ultra-Bold"/>
                <a:ea typeface="Muli Ultra-Bold"/>
                <a:cs typeface="Muli Ultra-Bold"/>
                <a:sym typeface="Muli Ultra-Bold"/>
              </a:rPr>
              <a:t>16</a:t>
            </a:r>
          </a:p>
        </p:txBody>
      </p:sp>
    </p:spTree>
    <p:extLst>
      <p:ext uri="{BB962C8B-B14F-4D97-AF65-F5344CB8AC3E}">
        <p14:creationId xmlns:p14="http://schemas.microsoft.com/office/powerpoint/2010/main" val="553093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3192</Words>
  <Application>Microsoft Office PowerPoint</Application>
  <PresentationFormat>Tùy chỉnh</PresentationFormat>
  <Paragraphs>331</Paragraphs>
  <Slides>16</Slides>
  <Notes>16</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16</vt:i4>
      </vt:variant>
    </vt:vector>
  </HeadingPairs>
  <TitlesOfParts>
    <vt:vector size="23" baseType="lpstr">
      <vt:lpstr>Cabin Bold</vt:lpstr>
      <vt:lpstr>Muli Ultra-Bold</vt:lpstr>
      <vt:lpstr>Cabin</vt:lpstr>
      <vt:lpstr>Muli Bold</vt: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hải quân Trắng Đen Vẽ nguệch ngoạc Kế hoạch Kinh doanh Bản thuyết trình Kinh doanh</dc:title>
  <dc:creator>TRAM</dc:creator>
  <cp:lastModifiedBy>Trung Nghia</cp:lastModifiedBy>
  <cp:revision>21</cp:revision>
  <dcterms:created xsi:type="dcterms:W3CDTF">2006-08-16T00:00:00Z</dcterms:created>
  <dcterms:modified xsi:type="dcterms:W3CDTF">2026-08-24T15:46:25Z</dcterms:modified>
  <dc:identifier>DAHTM2pSVwg</dc:identifier>
</cp:coreProperties>
</file>